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1"/>
  </p:notesMasterIdLst>
  <p:sldIdLst>
    <p:sldId id="256" r:id="rId2"/>
    <p:sldId id="258" r:id="rId3"/>
    <p:sldId id="2147470382" r:id="rId4"/>
    <p:sldId id="2147470378" r:id="rId5"/>
    <p:sldId id="2147470379" r:id="rId6"/>
    <p:sldId id="2147470376" r:id="rId7"/>
    <p:sldId id="2147470380" r:id="rId8"/>
    <p:sldId id="2147470383" r:id="rId9"/>
    <p:sldId id="2147470381"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881E90-4B00-41AA-89F1-43DF0152DFCD}" type="datetimeFigureOut">
              <a:rPr lang="en-US" smtClean="0"/>
              <a:t>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93B4BE-60E5-4E8D-BDC1-E10717E2858F}" type="slidenum">
              <a:rPr lang="en-US" smtClean="0"/>
              <a:t>‹#›</a:t>
            </a:fld>
            <a:endParaRPr lang="en-US"/>
          </a:p>
        </p:txBody>
      </p:sp>
    </p:spTree>
    <p:extLst>
      <p:ext uri="{BB962C8B-B14F-4D97-AF65-F5344CB8AC3E}">
        <p14:creationId xmlns:p14="http://schemas.microsoft.com/office/powerpoint/2010/main" val="467218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3"/>
        <p:cNvGrpSpPr/>
        <p:nvPr/>
      </p:nvGrpSpPr>
      <p:grpSpPr>
        <a:xfrm>
          <a:off x="0" y="0"/>
          <a:ext cx="0" cy="0"/>
          <a:chOff x="0" y="0"/>
          <a:chExt cx="0" cy="0"/>
        </a:xfrm>
      </p:grpSpPr>
      <p:sp>
        <p:nvSpPr>
          <p:cNvPr id="2074" name="Shape 2074"/>
          <p:cNvSpPr txBox="1">
            <a:spLocks noGrp="1"/>
          </p:cNvSpPr>
          <p:nvPr>
            <p:ph type="body" idx="1"/>
          </p:nvPr>
        </p:nvSpPr>
        <p:spPr>
          <a:xfrm>
            <a:off x="701039" y="4415789"/>
            <a:ext cx="5608319" cy="4183379"/>
          </a:xfrm>
          <a:prstGeom prst="rect">
            <a:avLst/>
          </a:prstGeom>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u="sng" dirty="0"/>
              <a:t>Notes:</a:t>
            </a:r>
            <a:r>
              <a:rPr lang="en-US" dirty="0"/>
              <a:t> Using Terraform (Infrastructure as Code) </a:t>
            </a:r>
            <a:r>
              <a:rPr lang="en-US" b="0" i="0" dirty="0">
                <a:solidFill>
                  <a:srgbClr val="000000"/>
                </a:solidFill>
                <a:effectLst/>
                <a:latin typeface="OpenSans"/>
              </a:rPr>
              <a:t>It is the process of managing and provisioning the complete IT infrastructure (comprises both physical and virtual machines) using machine-readable definition files. It helps in automating the complete data center by using programming scripts and can be embedded to Dev-Ops </a:t>
            </a:r>
            <a:r>
              <a:rPr lang="en-US" dirty="0"/>
              <a:t> We always recommend to use automation to Infrastructure as code using (Terraform as an example).</a:t>
            </a:r>
          </a:p>
        </p:txBody>
      </p:sp>
      <p:sp>
        <p:nvSpPr>
          <p:cNvPr id="2075" name="Shape 2075"/>
          <p:cNvSpPr>
            <a:spLocks noGrp="1" noRot="1" noChangeAspect="1"/>
          </p:cNvSpPr>
          <p:nvPr>
            <p:ph type="sldImg" idx="2"/>
          </p:nvPr>
        </p:nvSpPr>
        <p:spPr>
          <a:xfrm>
            <a:off x="406400" y="696913"/>
            <a:ext cx="6196013"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3820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3"/>
        <p:cNvGrpSpPr/>
        <p:nvPr/>
      </p:nvGrpSpPr>
      <p:grpSpPr>
        <a:xfrm>
          <a:off x="0" y="0"/>
          <a:ext cx="0" cy="0"/>
          <a:chOff x="0" y="0"/>
          <a:chExt cx="0" cy="0"/>
        </a:xfrm>
      </p:grpSpPr>
      <p:sp>
        <p:nvSpPr>
          <p:cNvPr id="2074" name="Shape 2074"/>
          <p:cNvSpPr txBox="1">
            <a:spLocks noGrp="1"/>
          </p:cNvSpPr>
          <p:nvPr>
            <p:ph type="body" idx="1"/>
          </p:nvPr>
        </p:nvSpPr>
        <p:spPr>
          <a:xfrm>
            <a:off x="701039" y="4415789"/>
            <a:ext cx="5608319" cy="4183379"/>
          </a:xfrm>
          <a:prstGeom prst="rect">
            <a:avLst/>
          </a:prstGeom>
        </p:spPr>
        <p:txBody>
          <a:bodyPr lIns="91425" tIns="91425" rIns="91425" bIns="91425" anchor="ctr" anchorCtr="0">
            <a:noAutofit/>
          </a:bodyPr>
          <a:lstStyle/>
          <a:p>
            <a:pPr lvl="0">
              <a:spcBef>
                <a:spcPts val="0"/>
              </a:spcBef>
              <a:buNone/>
            </a:pPr>
            <a:endParaRPr/>
          </a:p>
        </p:txBody>
      </p:sp>
      <p:sp>
        <p:nvSpPr>
          <p:cNvPr id="2075" name="Shape 2075"/>
          <p:cNvSpPr>
            <a:spLocks noGrp="1" noRot="1" noChangeAspect="1"/>
          </p:cNvSpPr>
          <p:nvPr>
            <p:ph type="sldImg" idx="2"/>
          </p:nvPr>
        </p:nvSpPr>
        <p:spPr>
          <a:xfrm>
            <a:off x="406400" y="696913"/>
            <a:ext cx="6196013"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79036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3"/>
        <p:cNvGrpSpPr/>
        <p:nvPr/>
      </p:nvGrpSpPr>
      <p:grpSpPr>
        <a:xfrm>
          <a:off x="0" y="0"/>
          <a:ext cx="0" cy="0"/>
          <a:chOff x="0" y="0"/>
          <a:chExt cx="0" cy="0"/>
        </a:xfrm>
      </p:grpSpPr>
      <p:sp>
        <p:nvSpPr>
          <p:cNvPr id="2074" name="Shape 2074"/>
          <p:cNvSpPr txBox="1">
            <a:spLocks noGrp="1"/>
          </p:cNvSpPr>
          <p:nvPr>
            <p:ph type="body" idx="1"/>
          </p:nvPr>
        </p:nvSpPr>
        <p:spPr>
          <a:xfrm>
            <a:off x="701039" y="4415789"/>
            <a:ext cx="5608319" cy="4183379"/>
          </a:xfrm>
          <a:prstGeom prst="rect">
            <a:avLst/>
          </a:prstGeom>
        </p:spPr>
        <p:txBody>
          <a:bodyPr lIns="91425" tIns="91425" rIns="91425" bIns="91425" anchor="ctr" anchorCtr="0">
            <a:noAutofit/>
          </a:bodyPr>
          <a:lstStyle/>
          <a:p>
            <a:pPr lvl="0">
              <a:spcBef>
                <a:spcPts val="0"/>
              </a:spcBef>
              <a:buNone/>
            </a:pPr>
            <a:endParaRPr/>
          </a:p>
        </p:txBody>
      </p:sp>
      <p:sp>
        <p:nvSpPr>
          <p:cNvPr id="2075" name="Shape 2075"/>
          <p:cNvSpPr>
            <a:spLocks noGrp="1" noRot="1" noChangeAspect="1"/>
          </p:cNvSpPr>
          <p:nvPr>
            <p:ph type="sldImg" idx="2"/>
          </p:nvPr>
        </p:nvSpPr>
        <p:spPr>
          <a:xfrm>
            <a:off x="406400" y="696913"/>
            <a:ext cx="6196013"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2348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3"/>
        <p:cNvGrpSpPr/>
        <p:nvPr/>
      </p:nvGrpSpPr>
      <p:grpSpPr>
        <a:xfrm>
          <a:off x="0" y="0"/>
          <a:ext cx="0" cy="0"/>
          <a:chOff x="0" y="0"/>
          <a:chExt cx="0" cy="0"/>
        </a:xfrm>
      </p:grpSpPr>
      <p:sp>
        <p:nvSpPr>
          <p:cNvPr id="2074" name="Shape 2074"/>
          <p:cNvSpPr txBox="1">
            <a:spLocks noGrp="1"/>
          </p:cNvSpPr>
          <p:nvPr>
            <p:ph type="body" idx="1"/>
          </p:nvPr>
        </p:nvSpPr>
        <p:spPr>
          <a:xfrm>
            <a:off x="701039" y="4415789"/>
            <a:ext cx="5608319" cy="4183379"/>
          </a:xfrm>
          <a:prstGeom prst="rect">
            <a:avLst/>
          </a:prstGeom>
        </p:spPr>
        <p:txBody>
          <a:bodyPr lIns="91425" tIns="91425" rIns="91425" bIns="91425" anchor="ctr" anchorCtr="0">
            <a:noAutofit/>
          </a:bodyPr>
          <a:lstStyle/>
          <a:p>
            <a:pPr lvl="0">
              <a:spcBef>
                <a:spcPts val="0"/>
              </a:spcBef>
              <a:buNone/>
            </a:pPr>
            <a:endParaRPr/>
          </a:p>
        </p:txBody>
      </p:sp>
      <p:sp>
        <p:nvSpPr>
          <p:cNvPr id="2075" name="Shape 2075"/>
          <p:cNvSpPr>
            <a:spLocks noGrp="1" noRot="1" noChangeAspect="1"/>
          </p:cNvSpPr>
          <p:nvPr>
            <p:ph type="sldImg" idx="2"/>
          </p:nvPr>
        </p:nvSpPr>
        <p:spPr>
          <a:xfrm>
            <a:off x="406400" y="696913"/>
            <a:ext cx="6196013"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19620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3"/>
        <p:cNvGrpSpPr/>
        <p:nvPr/>
      </p:nvGrpSpPr>
      <p:grpSpPr>
        <a:xfrm>
          <a:off x="0" y="0"/>
          <a:ext cx="0" cy="0"/>
          <a:chOff x="0" y="0"/>
          <a:chExt cx="0" cy="0"/>
        </a:xfrm>
      </p:grpSpPr>
      <p:sp>
        <p:nvSpPr>
          <p:cNvPr id="2074" name="Shape 2074"/>
          <p:cNvSpPr txBox="1">
            <a:spLocks noGrp="1"/>
          </p:cNvSpPr>
          <p:nvPr>
            <p:ph type="body" idx="1"/>
          </p:nvPr>
        </p:nvSpPr>
        <p:spPr>
          <a:xfrm>
            <a:off x="701039" y="4415789"/>
            <a:ext cx="5608319" cy="4183379"/>
          </a:xfrm>
          <a:prstGeom prst="rect">
            <a:avLst/>
          </a:prstGeom>
        </p:spPr>
        <p:txBody>
          <a:bodyPr lIns="91425" tIns="91425" rIns="91425" bIns="91425" anchor="ctr" anchorCtr="0">
            <a:noAutofit/>
          </a:bodyPr>
          <a:lstStyle/>
          <a:p>
            <a:pPr lvl="0">
              <a:spcBef>
                <a:spcPts val="0"/>
              </a:spcBef>
              <a:buNone/>
            </a:pPr>
            <a:endParaRPr/>
          </a:p>
        </p:txBody>
      </p:sp>
      <p:sp>
        <p:nvSpPr>
          <p:cNvPr id="2075" name="Shape 2075"/>
          <p:cNvSpPr>
            <a:spLocks noGrp="1" noRot="1" noChangeAspect="1"/>
          </p:cNvSpPr>
          <p:nvPr>
            <p:ph type="sldImg" idx="2"/>
          </p:nvPr>
        </p:nvSpPr>
        <p:spPr>
          <a:xfrm>
            <a:off x="406400" y="696913"/>
            <a:ext cx="6196013"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9882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3"/>
        <p:cNvGrpSpPr/>
        <p:nvPr/>
      </p:nvGrpSpPr>
      <p:grpSpPr>
        <a:xfrm>
          <a:off x="0" y="0"/>
          <a:ext cx="0" cy="0"/>
          <a:chOff x="0" y="0"/>
          <a:chExt cx="0" cy="0"/>
        </a:xfrm>
      </p:grpSpPr>
      <p:sp>
        <p:nvSpPr>
          <p:cNvPr id="2074" name="Shape 2074"/>
          <p:cNvSpPr txBox="1">
            <a:spLocks noGrp="1"/>
          </p:cNvSpPr>
          <p:nvPr>
            <p:ph type="body" idx="1"/>
          </p:nvPr>
        </p:nvSpPr>
        <p:spPr>
          <a:xfrm>
            <a:off x="701039" y="4415789"/>
            <a:ext cx="5608319" cy="4183379"/>
          </a:xfrm>
          <a:prstGeom prst="rect">
            <a:avLst/>
          </a:prstGeom>
        </p:spPr>
        <p:txBody>
          <a:bodyPr lIns="91425" tIns="91425" rIns="91425" bIns="91425" anchor="ctr" anchorCtr="0">
            <a:noAutofit/>
          </a:bodyPr>
          <a:lstStyle/>
          <a:p>
            <a:pPr lvl="0">
              <a:spcBef>
                <a:spcPts val="0"/>
              </a:spcBef>
              <a:buNone/>
            </a:pPr>
            <a:endParaRPr/>
          </a:p>
        </p:txBody>
      </p:sp>
      <p:sp>
        <p:nvSpPr>
          <p:cNvPr id="2075" name="Shape 2075"/>
          <p:cNvSpPr>
            <a:spLocks noGrp="1" noRot="1" noChangeAspect="1"/>
          </p:cNvSpPr>
          <p:nvPr>
            <p:ph type="sldImg" idx="2"/>
          </p:nvPr>
        </p:nvSpPr>
        <p:spPr>
          <a:xfrm>
            <a:off x="406400" y="696913"/>
            <a:ext cx="6196013"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7559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Notes:</a:t>
            </a:r>
            <a:r>
              <a:rPr lang="en-US" dirty="0"/>
              <a:t> Using Terraform (Infrastructure as Code) </a:t>
            </a:r>
            <a:r>
              <a:rPr lang="en-US" b="0" i="0" dirty="0">
                <a:solidFill>
                  <a:srgbClr val="000000"/>
                </a:solidFill>
                <a:effectLst/>
                <a:latin typeface="OpenSans"/>
              </a:rPr>
              <a:t>It is the process of managing and provisioning the complete IT infrastructure (comprises both physical and virtual machines) using machine-readable definition files. It helps in automating the complete data center by using programming scripts and can be embedded to Dev-Ops </a:t>
            </a:r>
            <a:r>
              <a:rPr lang="en-US" dirty="0"/>
              <a:t> We always recommend to use automation to Infrastructure as code using (Terraform as an example).</a:t>
            </a:r>
          </a:p>
        </p:txBody>
      </p:sp>
      <p:sp>
        <p:nvSpPr>
          <p:cNvPr id="4" name="Slide Number Placeholder 3"/>
          <p:cNvSpPr>
            <a:spLocks noGrp="1"/>
          </p:cNvSpPr>
          <p:nvPr>
            <p:ph type="sldNum" sz="quarter" idx="5"/>
          </p:nvPr>
        </p:nvSpPr>
        <p:spPr/>
        <p:txBody>
          <a:bodyPr/>
          <a:lstStyle/>
          <a:p>
            <a:fld id="{B7A6118A-167D-4FCE-B482-C4513F5EAE67}" type="slidenum">
              <a:rPr lang="en-US" smtClean="0"/>
              <a:t>9</a:t>
            </a:fld>
            <a:endParaRPr lang="en-US"/>
          </a:p>
        </p:txBody>
      </p:sp>
    </p:spTree>
    <p:extLst>
      <p:ext uri="{BB962C8B-B14F-4D97-AF65-F5344CB8AC3E}">
        <p14:creationId xmlns:p14="http://schemas.microsoft.com/office/powerpoint/2010/main" val="493674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D368BF-BE52-42FD-AC30-8CF67A264AEF}" type="datetimeFigureOut">
              <a:rPr lang="en-US" smtClean="0"/>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B9FA6D-27BF-4224-A1FB-90A02598A42A}" type="slidenum">
              <a:rPr lang="en-US" smtClean="0"/>
              <a:t>‹#›</a:t>
            </a:fld>
            <a:endParaRPr lang="en-US"/>
          </a:p>
        </p:txBody>
      </p:sp>
    </p:spTree>
    <p:extLst>
      <p:ext uri="{BB962C8B-B14F-4D97-AF65-F5344CB8AC3E}">
        <p14:creationId xmlns:p14="http://schemas.microsoft.com/office/powerpoint/2010/main" val="1283549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D368BF-BE52-42FD-AC30-8CF67A264AEF}" type="datetimeFigureOut">
              <a:rPr lang="en-US" smtClean="0"/>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B9FA6D-27BF-4224-A1FB-90A02598A42A}" type="slidenum">
              <a:rPr lang="en-US" smtClean="0"/>
              <a:t>‹#›</a:t>
            </a:fld>
            <a:endParaRPr lang="en-US"/>
          </a:p>
        </p:txBody>
      </p:sp>
    </p:spTree>
    <p:extLst>
      <p:ext uri="{BB962C8B-B14F-4D97-AF65-F5344CB8AC3E}">
        <p14:creationId xmlns:p14="http://schemas.microsoft.com/office/powerpoint/2010/main" val="3707113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D368BF-BE52-42FD-AC30-8CF67A264AEF}" type="datetimeFigureOut">
              <a:rPr lang="en-US" smtClean="0"/>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B9FA6D-27BF-4224-A1FB-90A02598A42A}" type="slidenum">
              <a:rPr lang="en-US" smtClean="0"/>
              <a:t>‹#›</a:t>
            </a:fld>
            <a:endParaRPr lang="en-US"/>
          </a:p>
        </p:txBody>
      </p:sp>
    </p:spTree>
    <p:extLst>
      <p:ext uri="{BB962C8B-B14F-4D97-AF65-F5344CB8AC3E}">
        <p14:creationId xmlns:p14="http://schemas.microsoft.com/office/powerpoint/2010/main" val="1016708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D368BF-BE52-42FD-AC30-8CF67A264AEF}" type="datetimeFigureOut">
              <a:rPr lang="en-US" smtClean="0"/>
              <a:t>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B9FA6D-27BF-4224-A1FB-90A02598A42A}" type="slidenum">
              <a:rPr lang="en-US" smtClean="0"/>
              <a:t>‹#›</a:t>
            </a:fld>
            <a:endParaRPr lang="en-US"/>
          </a:p>
        </p:txBody>
      </p:sp>
    </p:spTree>
    <p:extLst>
      <p:ext uri="{BB962C8B-B14F-4D97-AF65-F5344CB8AC3E}">
        <p14:creationId xmlns:p14="http://schemas.microsoft.com/office/powerpoint/2010/main" val="631948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D368BF-BE52-42FD-AC30-8CF67A264AEF}" type="datetimeFigureOut">
              <a:rPr lang="en-US" smtClean="0"/>
              <a:t>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B9FA6D-27BF-4224-A1FB-90A02598A42A}" type="slidenum">
              <a:rPr lang="en-US" smtClean="0"/>
              <a:t>‹#›</a:t>
            </a:fld>
            <a:endParaRPr lang="en-US"/>
          </a:p>
        </p:txBody>
      </p:sp>
    </p:spTree>
    <p:extLst>
      <p:ext uri="{BB962C8B-B14F-4D97-AF65-F5344CB8AC3E}">
        <p14:creationId xmlns:p14="http://schemas.microsoft.com/office/powerpoint/2010/main" val="3344787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DD368BF-BE52-42FD-AC30-8CF67A264AEF}" type="datetimeFigureOut">
              <a:rPr lang="en-US" smtClean="0"/>
              <a:t>2/6/2024</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E0B9FA6D-27BF-4224-A1FB-90A02598A42A}" type="slidenum">
              <a:rPr lang="en-US" smtClean="0"/>
              <a:t>‹#›</a:t>
            </a:fld>
            <a:endParaRPr lang="en-US"/>
          </a:p>
        </p:txBody>
      </p:sp>
    </p:spTree>
    <p:extLst>
      <p:ext uri="{BB962C8B-B14F-4D97-AF65-F5344CB8AC3E}">
        <p14:creationId xmlns:p14="http://schemas.microsoft.com/office/powerpoint/2010/main" val="2829579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DD368BF-BE52-42FD-AC30-8CF67A264AEF}" type="datetimeFigureOut">
              <a:rPr lang="en-US" smtClean="0"/>
              <a:t>2/6/2024</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E0B9FA6D-27BF-4224-A1FB-90A02598A42A}" type="slidenum">
              <a:rPr lang="en-US" smtClean="0"/>
              <a:t>‹#›</a:t>
            </a:fld>
            <a:endParaRPr lang="en-US"/>
          </a:p>
        </p:txBody>
      </p:sp>
    </p:spTree>
    <p:extLst>
      <p:ext uri="{BB962C8B-B14F-4D97-AF65-F5344CB8AC3E}">
        <p14:creationId xmlns:p14="http://schemas.microsoft.com/office/powerpoint/2010/main" val="2645281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DD368BF-BE52-42FD-AC30-8CF67A264AEF}" type="datetimeFigureOut">
              <a:rPr lang="en-US" smtClean="0"/>
              <a:t>2/6/2024</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E0B9FA6D-27BF-4224-A1FB-90A02598A42A}" type="slidenum">
              <a:rPr lang="en-US" smtClean="0"/>
              <a:t>‹#›</a:t>
            </a:fld>
            <a:endParaRPr lang="en-US"/>
          </a:p>
        </p:txBody>
      </p:sp>
    </p:spTree>
    <p:extLst>
      <p:ext uri="{BB962C8B-B14F-4D97-AF65-F5344CB8AC3E}">
        <p14:creationId xmlns:p14="http://schemas.microsoft.com/office/powerpoint/2010/main" val="3228610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D368BF-BE52-42FD-AC30-8CF67A264AEF}" type="datetimeFigureOut">
              <a:rPr lang="en-US" smtClean="0"/>
              <a:t>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B9FA6D-27BF-4224-A1FB-90A02598A42A}" type="slidenum">
              <a:rPr lang="en-US" smtClean="0"/>
              <a:t>‹#›</a:t>
            </a:fld>
            <a:endParaRPr lang="en-US"/>
          </a:p>
        </p:txBody>
      </p:sp>
    </p:spTree>
    <p:extLst>
      <p:ext uri="{BB962C8B-B14F-4D97-AF65-F5344CB8AC3E}">
        <p14:creationId xmlns:p14="http://schemas.microsoft.com/office/powerpoint/2010/main" val="48907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D368BF-BE52-42FD-AC30-8CF67A264AEF}" type="datetimeFigureOut">
              <a:rPr lang="en-US" smtClean="0"/>
              <a:t>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B9FA6D-27BF-4224-A1FB-90A02598A42A}" type="slidenum">
              <a:rPr lang="en-US" smtClean="0"/>
              <a:t>‹#›</a:t>
            </a:fld>
            <a:endParaRPr lang="en-US"/>
          </a:p>
        </p:txBody>
      </p:sp>
    </p:spTree>
    <p:extLst>
      <p:ext uri="{BB962C8B-B14F-4D97-AF65-F5344CB8AC3E}">
        <p14:creationId xmlns:p14="http://schemas.microsoft.com/office/powerpoint/2010/main" val="659260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DD368BF-BE52-42FD-AC30-8CF67A264AEF}" type="datetimeFigureOut">
              <a:rPr lang="en-US" smtClean="0"/>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B9FA6D-27BF-4224-A1FB-90A02598A42A}" type="slidenum">
              <a:rPr lang="en-US" smtClean="0"/>
              <a:t>‹#›</a:t>
            </a:fld>
            <a:endParaRPr lang="en-US"/>
          </a:p>
        </p:txBody>
      </p:sp>
    </p:spTree>
    <p:extLst>
      <p:ext uri="{BB962C8B-B14F-4D97-AF65-F5344CB8AC3E}">
        <p14:creationId xmlns:p14="http://schemas.microsoft.com/office/powerpoint/2010/main" val="20364750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DD368BF-BE52-42FD-AC30-8CF67A264AEF}" type="datetimeFigureOut">
              <a:rPr lang="en-US" smtClean="0"/>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B9FA6D-27BF-4224-A1FB-90A02598A42A}"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37387673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D368BF-BE52-42FD-AC30-8CF67A264AEF}" type="datetimeFigureOut">
              <a:rPr lang="en-US" smtClean="0"/>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B9FA6D-27BF-4224-A1FB-90A02598A42A}" type="slidenum">
              <a:rPr lang="en-US" smtClean="0"/>
              <a:t>‹#›</a:t>
            </a:fld>
            <a:endParaRPr lang="en-US"/>
          </a:p>
        </p:txBody>
      </p:sp>
    </p:spTree>
    <p:extLst>
      <p:ext uri="{BB962C8B-B14F-4D97-AF65-F5344CB8AC3E}">
        <p14:creationId xmlns:p14="http://schemas.microsoft.com/office/powerpoint/2010/main" val="6966151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DD368BF-BE52-42FD-AC30-8CF67A264AEF}" type="datetimeFigureOut">
              <a:rPr lang="en-US" smtClean="0"/>
              <a:t>2/6/2024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B9FA6D-27BF-4224-A1FB-90A02598A42A}" type="slidenum">
              <a:rPr lang="en-US" smtClean="0"/>
              <a:t>‹#›</a:t>
            </a:fld>
            <a:endParaRPr lang="en-US"/>
          </a:p>
        </p:txBody>
      </p:sp>
    </p:spTree>
    <p:extLst>
      <p:ext uri="{BB962C8B-B14F-4D97-AF65-F5344CB8AC3E}">
        <p14:creationId xmlns:p14="http://schemas.microsoft.com/office/powerpoint/2010/main" val="3632544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DD368BF-BE52-42FD-AC30-8CF67A264AEF}" type="datetimeFigureOut">
              <a:rPr lang="en-US" smtClean="0"/>
              <a:t>2/6/2024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B9FA6D-27BF-4224-A1FB-90A02598A42A}" type="slidenum">
              <a:rPr lang="en-US" smtClean="0"/>
              <a:t>‹#›</a:t>
            </a:fld>
            <a:endParaRPr lang="en-US"/>
          </a:p>
        </p:txBody>
      </p:sp>
    </p:spTree>
    <p:extLst>
      <p:ext uri="{BB962C8B-B14F-4D97-AF65-F5344CB8AC3E}">
        <p14:creationId xmlns:p14="http://schemas.microsoft.com/office/powerpoint/2010/main" val="2826205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D368BF-BE52-42FD-AC30-8CF67A264AEF}" type="datetimeFigureOut">
              <a:rPr lang="en-US" smtClean="0"/>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B9FA6D-27BF-4224-A1FB-90A02598A42A}" type="slidenum">
              <a:rPr lang="en-US" smtClean="0"/>
              <a:t>‹#›</a:t>
            </a:fld>
            <a:endParaRPr lang="en-US"/>
          </a:p>
        </p:txBody>
      </p:sp>
    </p:spTree>
    <p:extLst>
      <p:ext uri="{BB962C8B-B14F-4D97-AF65-F5344CB8AC3E}">
        <p14:creationId xmlns:p14="http://schemas.microsoft.com/office/powerpoint/2010/main" val="39974218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D368BF-BE52-42FD-AC30-8CF67A264AEF}" type="datetimeFigureOut">
              <a:rPr lang="en-US" smtClean="0"/>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B9FA6D-27BF-4224-A1FB-90A02598A42A}" type="slidenum">
              <a:rPr lang="en-US" smtClean="0"/>
              <a:t>‹#›</a:t>
            </a:fld>
            <a:endParaRPr lang="en-US"/>
          </a:p>
        </p:txBody>
      </p:sp>
    </p:spTree>
    <p:extLst>
      <p:ext uri="{BB962C8B-B14F-4D97-AF65-F5344CB8AC3E}">
        <p14:creationId xmlns:p14="http://schemas.microsoft.com/office/powerpoint/2010/main" val="29558598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Content Option 3 - Titles Only No Footer">
    <p:spTree>
      <p:nvGrpSpPr>
        <p:cNvPr id="1" name="Shape 273"/>
        <p:cNvGrpSpPr/>
        <p:nvPr/>
      </p:nvGrpSpPr>
      <p:grpSpPr>
        <a:xfrm>
          <a:off x="0" y="0"/>
          <a:ext cx="0" cy="0"/>
          <a:chOff x="0" y="0"/>
          <a:chExt cx="0" cy="0"/>
        </a:xfrm>
      </p:grpSpPr>
    </p:spTree>
    <p:extLst>
      <p:ext uri="{BB962C8B-B14F-4D97-AF65-F5344CB8AC3E}">
        <p14:creationId xmlns:p14="http://schemas.microsoft.com/office/powerpoint/2010/main" val="24877072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ubhead &amp; Content">
  <p:cSld name="Title, Subhead &amp; Content">
    <p:spTree>
      <p:nvGrpSpPr>
        <p:cNvPr id="1" name="Shape 24"/>
        <p:cNvGrpSpPr/>
        <p:nvPr/>
      </p:nvGrpSpPr>
      <p:grpSpPr>
        <a:xfrm>
          <a:off x="0" y="0"/>
          <a:ext cx="0" cy="0"/>
          <a:chOff x="0" y="0"/>
          <a:chExt cx="0" cy="0"/>
        </a:xfrm>
      </p:grpSpPr>
      <p:sp>
        <p:nvSpPr>
          <p:cNvPr id="25" name="Google Shape;25;p3"/>
          <p:cNvSpPr/>
          <p:nvPr/>
        </p:nvSpPr>
        <p:spPr>
          <a:xfrm>
            <a:off x="0" y="1"/>
            <a:ext cx="12192000" cy="5999239"/>
          </a:xfrm>
          <a:prstGeom prst="rect">
            <a:avLst/>
          </a:prstGeom>
          <a:solidFill>
            <a:schemeClr val="lt1"/>
          </a:solidFill>
          <a:ln>
            <a:noFill/>
          </a:ln>
        </p:spPr>
        <p:txBody>
          <a:bodyPr spcFirstLastPara="1" wrap="square" lIns="121900" tIns="60933" rIns="121900" bIns="60933"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cxnSp>
        <p:nvCxnSpPr>
          <p:cNvPr id="26" name="Google Shape;26;p3"/>
          <p:cNvCxnSpPr/>
          <p:nvPr/>
        </p:nvCxnSpPr>
        <p:spPr>
          <a:xfrm>
            <a:off x="609600" y="849251"/>
            <a:ext cx="10972800" cy="0"/>
          </a:xfrm>
          <a:prstGeom prst="straightConnector1">
            <a:avLst/>
          </a:prstGeom>
          <a:noFill/>
          <a:ln w="12700" cap="flat" cmpd="sng">
            <a:solidFill>
              <a:srgbClr val="7F7F7F"/>
            </a:solidFill>
            <a:prstDash val="solid"/>
            <a:round/>
            <a:headEnd type="none" w="sm" len="sm"/>
            <a:tailEnd type="none" w="sm" len="sm"/>
          </a:ln>
        </p:spPr>
      </p:cxnSp>
      <p:sp>
        <p:nvSpPr>
          <p:cNvPr id="27" name="Google Shape;27;p3"/>
          <p:cNvSpPr txBox="1">
            <a:spLocks noGrp="1"/>
          </p:cNvSpPr>
          <p:nvPr>
            <p:ph type="title"/>
          </p:nvPr>
        </p:nvSpPr>
        <p:spPr>
          <a:xfrm>
            <a:off x="609600" y="163840"/>
            <a:ext cx="10972800" cy="472014"/>
          </a:xfrm>
          <a:prstGeom prst="rect">
            <a:avLst/>
          </a:prstGeom>
          <a:noFill/>
          <a:ln>
            <a:noFill/>
          </a:ln>
        </p:spPr>
        <p:txBody>
          <a:bodyPr spcFirstLastPara="1" wrap="square" lIns="0" tIns="45700" rIns="91425" bIns="45700" anchor="b" anchorCtr="0">
            <a:no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8" name="Google Shape;28;p3"/>
          <p:cNvSpPr txBox="1">
            <a:spLocks noGrp="1"/>
          </p:cNvSpPr>
          <p:nvPr>
            <p:ph type="body" idx="1"/>
          </p:nvPr>
        </p:nvSpPr>
        <p:spPr>
          <a:xfrm>
            <a:off x="609600" y="1584476"/>
            <a:ext cx="10972800" cy="4541688"/>
          </a:xfrm>
          <a:prstGeom prst="rect">
            <a:avLst/>
          </a:prstGeom>
          <a:noFill/>
          <a:ln>
            <a:noFill/>
          </a:ln>
        </p:spPr>
        <p:txBody>
          <a:bodyPr spcFirstLastPara="1" wrap="square" lIns="0" tIns="45700" rIns="91425" bIns="45700" anchor="t" anchorCtr="0">
            <a:noAutofit/>
          </a:bodyPr>
          <a:lstStyle>
            <a:lvl1pPr marL="609585" lvl="0" indent="-457189" algn="l">
              <a:spcBef>
                <a:spcPts val="1600"/>
              </a:spcBef>
              <a:spcAft>
                <a:spcPts val="0"/>
              </a:spcAft>
              <a:buClr>
                <a:schemeClr val="dk1"/>
              </a:buClr>
              <a:buSzPts val="1800"/>
              <a:buChar char="•"/>
              <a:defRPr/>
            </a:lvl1pPr>
            <a:lvl2pPr marL="1219170" lvl="1" indent="-457189" algn="l">
              <a:spcBef>
                <a:spcPts val="480"/>
              </a:spcBef>
              <a:spcAft>
                <a:spcPts val="0"/>
              </a:spcAft>
              <a:buClr>
                <a:schemeClr val="dk1"/>
              </a:buClr>
              <a:buSzPts val="1800"/>
              <a:buChar char="–"/>
              <a:defRPr/>
            </a:lvl2pPr>
            <a:lvl3pPr marL="1828754" lvl="2" indent="-457189" algn="l">
              <a:spcBef>
                <a:spcPts val="480"/>
              </a:spcBef>
              <a:spcAft>
                <a:spcPts val="0"/>
              </a:spcAft>
              <a:buClr>
                <a:schemeClr val="dk1"/>
              </a:buClr>
              <a:buSzPts val="1800"/>
              <a:buChar char="•"/>
              <a:defRPr/>
            </a:lvl3pPr>
            <a:lvl4pPr marL="2438339" lvl="3" indent="-457189" algn="l">
              <a:spcBef>
                <a:spcPts val="480"/>
              </a:spcBef>
              <a:spcAft>
                <a:spcPts val="0"/>
              </a:spcAft>
              <a:buClr>
                <a:schemeClr val="dk1"/>
              </a:buClr>
              <a:buSzPts val="1800"/>
              <a:buChar char="–"/>
              <a:defRPr/>
            </a:lvl4pPr>
            <a:lvl5pPr marL="3047924" lvl="4" indent="-457189" algn="l">
              <a:spcBef>
                <a:spcPts val="480"/>
              </a:spcBef>
              <a:spcAft>
                <a:spcPts val="0"/>
              </a:spcAft>
              <a:buClr>
                <a:schemeClr val="dk1"/>
              </a:buClr>
              <a:buSzPts val="1800"/>
              <a:buChar char="»"/>
              <a:defRPr/>
            </a:lvl5pPr>
            <a:lvl6pPr marL="3657509" lvl="5" indent="-457189" algn="l">
              <a:spcBef>
                <a:spcPts val="480"/>
              </a:spcBef>
              <a:spcAft>
                <a:spcPts val="0"/>
              </a:spcAft>
              <a:buClr>
                <a:schemeClr val="dk1"/>
              </a:buClr>
              <a:buSzPts val="1800"/>
              <a:buChar char="•"/>
              <a:defRPr/>
            </a:lvl6pPr>
            <a:lvl7pPr marL="4267093" lvl="6" indent="-457189" algn="l">
              <a:spcBef>
                <a:spcPts val="480"/>
              </a:spcBef>
              <a:spcAft>
                <a:spcPts val="0"/>
              </a:spcAft>
              <a:buClr>
                <a:schemeClr val="dk1"/>
              </a:buClr>
              <a:buSzPts val="1800"/>
              <a:buChar char="•"/>
              <a:defRPr/>
            </a:lvl7pPr>
            <a:lvl8pPr marL="4876678" lvl="7" indent="-457189" algn="l">
              <a:spcBef>
                <a:spcPts val="480"/>
              </a:spcBef>
              <a:spcAft>
                <a:spcPts val="0"/>
              </a:spcAft>
              <a:buClr>
                <a:schemeClr val="dk1"/>
              </a:buClr>
              <a:buSzPts val="1800"/>
              <a:buChar char="•"/>
              <a:defRPr/>
            </a:lvl8pPr>
            <a:lvl9pPr marL="5486263" lvl="8" indent="-457189" algn="l">
              <a:spcBef>
                <a:spcPts val="48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570220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5.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1">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2">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3">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4">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DD368BF-BE52-42FD-AC30-8CF67A264AEF}" type="datetimeFigureOut">
              <a:rPr lang="en-US" smtClean="0"/>
              <a:t>2/6/2024</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E0B9FA6D-27BF-4224-A1FB-90A02598A42A}" type="slidenum">
              <a:rPr lang="en-US" smtClean="0"/>
              <a:t>‹#›</a:t>
            </a:fld>
            <a:endParaRPr lang="en-US"/>
          </a:p>
        </p:txBody>
      </p:sp>
    </p:spTree>
    <p:extLst>
      <p:ext uri="{BB962C8B-B14F-4D97-AF65-F5344CB8AC3E}">
        <p14:creationId xmlns:p14="http://schemas.microsoft.com/office/powerpoint/2010/main" val="3910772301"/>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18.png"/><Relationship Id="rId5" Type="http://schemas.openxmlformats.org/officeDocument/2006/relationships/image" Target="../media/image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3F115-3C06-A5F0-F14C-2629A0BAE2CD}"/>
              </a:ext>
            </a:extLst>
          </p:cNvPr>
          <p:cNvSpPr>
            <a:spLocks noGrp="1"/>
          </p:cNvSpPr>
          <p:nvPr>
            <p:ph type="ctrTitle"/>
          </p:nvPr>
        </p:nvSpPr>
        <p:spPr>
          <a:xfrm>
            <a:off x="1267970" y="2352783"/>
            <a:ext cx="8825658" cy="1273893"/>
          </a:xfrm>
        </p:spPr>
        <p:txBody>
          <a:bodyPr/>
          <a:lstStyle/>
          <a:p>
            <a:r>
              <a:rPr lang="en-US" sz="6000" dirty="0"/>
              <a:t>Apigee Platform setup</a:t>
            </a:r>
          </a:p>
        </p:txBody>
      </p:sp>
    </p:spTree>
    <p:extLst>
      <p:ext uri="{BB962C8B-B14F-4D97-AF65-F5344CB8AC3E}">
        <p14:creationId xmlns:p14="http://schemas.microsoft.com/office/powerpoint/2010/main" val="2550232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37CA2E-7C7E-38E1-8B85-35DE91C70B8E}"/>
              </a:ext>
            </a:extLst>
          </p:cNvPr>
          <p:cNvSpPr>
            <a:spLocks noGrp="1"/>
          </p:cNvSpPr>
          <p:nvPr>
            <p:ph idx="1"/>
          </p:nvPr>
        </p:nvSpPr>
        <p:spPr>
          <a:xfrm>
            <a:off x="71920" y="154112"/>
            <a:ext cx="7389584" cy="6482994"/>
          </a:xfrm>
        </p:spPr>
        <p:txBody>
          <a:bodyPr>
            <a:normAutofit/>
          </a:bodyPr>
          <a:lstStyle/>
          <a:p>
            <a:pPr marL="0" indent="0">
              <a:lnSpc>
                <a:spcPct val="90000"/>
              </a:lnSpc>
              <a:buNone/>
            </a:pPr>
            <a:r>
              <a:rPr lang="en-US" b="1" dirty="0"/>
              <a:t>Introduction:</a:t>
            </a:r>
          </a:p>
          <a:p>
            <a:pPr algn="just">
              <a:lnSpc>
                <a:spcPct val="90000"/>
              </a:lnSpc>
              <a:buFont typeface="Wingdings" panose="05000000000000000000" pitchFamily="2" charset="2"/>
              <a:buChar char="§"/>
            </a:pPr>
            <a:r>
              <a:rPr lang="en-US" sz="1400" dirty="0"/>
              <a:t>Apigee is a platform for developing and managing APIs. By fronting services with a proxy layer, Apigee provides an abstraction or facade for your backend service APIs and provides security, rate limiting, quotas, analytics, and more.</a:t>
            </a:r>
          </a:p>
          <a:p>
            <a:pPr algn="just">
              <a:lnSpc>
                <a:spcPct val="90000"/>
              </a:lnSpc>
              <a:buFont typeface="Wingdings" panose="05000000000000000000" pitchFamily="2" charset="2"/>
              <a:buChar char="§"/>
            </a:pPr>
            <a:r>
              <a:rPr lang="en-US" sz="1400" dirty="0"/>
              <a:t>Apigee enables you to provide secure access to your services with a well-defined API that is consistent across all of your services, regardless of service implementation.</a:t>
            </a:r>
          </a:p>
          <a:p>
            <a:pPr algn="just">
              <a:lnSpc>
                <a:spcPct val="90000"/>
              </a:lnSpc>
              <a:buFont typeface="Wingdings" panose="05000000000000000000" pitchFamily="2" charset="2"/>
              <a:buChar char="§"/>
            </a:pPr>
            <a:r>
              <a:rPr lang="en-US" sz="1400" dirty="0"/>
              <a:t>A consistent API –</a:t>
            </a:r>
          </a:p>
          <a:p>
            <a:pPr lvl="1" algn="just">
              <a:lnSpc>
                <a:spcPct val="90000"/>
              </a:lnSpc>
              <a:buFont typeface="Wingdings" panose="05000000000000000000" pitchFamily="2" charset="2"/>
              <a:buChar char="§"/>
            </a:pPr>
            <a:r>
              <a:rPr lang="en-US" sz="1400" dirty="0"/>
              <a:t>Makes it easy for app developers to consume your services.</a:t>
            </a:r>
          </a:p>
          <a:p>
            <a:pPr lvl="1" algn="just">
              <a:lnSpc>
                <a:spcPct val="90000"/>
              </a:lnSpc>
              <a:buFont typeface="Wingdings" panose="05000000000000000000" pitchFamily="2" charset="2"/>
              <a:buChar char="§"/>
            </a:pPr>
            <a:r>
              <a:rPr lang="en-US" sz="1400" dirty="0"/>
              <a:t>Enables you to change the backend service implementation without affecting the public API.</a:t>
            </a:r>
          </a:p>
          <a:p>
            <a:pPr lvl="1" algn="just">
              <a:lnSpc>
                <a:spcPct val="90000"/>
              </a:lnSpc>
              <a:buFont typeface="Wingdings" panose="05000000000000000000" pitchFamily="2" charset="2"/>
              <a:buChar char="§"/>
            </a:pPr>
            <a:r>
              <a:rPr lang="en-US" sz="1400" dirty="0"/>
              <a:t>Enables you to take advantage of the analytics, developer portal, and other features built into Apigee.</a:t>
            </a:r>
          </a:p>
          <a:p>
            <a:pPr algn="just">
              <a:lnSpc>
                <a:spcPct val="90000"/>
              </a:lnSpc>
              <a:buFont typeface="Wingdings" panose="05000000000000000000" pitchFamily="2" charset="2"/>
              <a:buChar char="§"/>
            </a:pPr>
            <a:r>
              <a:rPr lang="en-US" sz="1400" dirty="0"/>
              <a:t>Rather than having app developers consume your services directly, they access an API proxy created on Apigee. The API proxy functions as a mapping of a publicly available HTTP endpoint to your backend service. By creating an API proxy you let Apigee handle the security and authorization tasks required to protect your services, as well as to analyze and monitor those services.</a:t>
            </a:r>
          </a:p>
          <a:p>
            <a:pPr algn="just">
              <a:lnSpc>
                <a:spcPct val="90000"/>
              </a:lnSpc>
              <a:buFont typeface="Wingdings" panose="05000000000000000000" pitchFamily="2" charset="2"/>
              <a:buChar char="§"/>
            </a:pPr>
            <a:r>
              <a:rPr lang="en-US" sz="1400" dirty="0"/>
              <a:t>Apigee X is the latest variant released by Google. Like Apigee Edge, in Apigee X, both the management plane and the runtime are managed by GCP (Google Cloud Platform). The Apigee runtime resides in your VPC Network, and a GCP HTTP(s) Load Balancer serves as the entry point into Apigee.</a:t>
            </a:r>
          </a:p>
          <a:p>
            <a:pPr lvl="1">
              <a:lnSpc>
                <a:spcPct val="90000"/>
              </a:lnSpc>
              <a:buFont typeface="Wingdings" panose="05000000000000000000" pitchFamily="2" charset="2"/>
              <a:buChar char="§"/>
            </a:pPr>
            <a:endParaRPr lang="en-US" sz="700" dirty="0"/>
          </a:p>
          <a:p>
            <a:pPr marL="457200" lvl="1" indent="0">
              <a:lnSpc>
                <a:spcPct val="90000"/>
              </a:lnSpc>
              <a:buNone/>
            </a:pPr>
            <a:endParaRPr lang="en-US" sz="700" dirty="0"/>
          </a:p>
          <a:p>
            <a:pPr lvl="1">
              <a:lnSpc>
                <a:spcPct val="90000"/>
              </a:lnSpc>
              <a:buFont typeface="Wingdings" panose="05000000000000000000" pitchFamily="2" charset="2"/>
              <a:buChar char="§"/>
            </a:pPr>
            <a:endParaRPr lang="en-US" sz="700" dirty="0"/>
          </a:p>
          <a:p>
            <a:pPr marL="0" indent="0">
              <a:lnSpc>
                <a:spcPct val="90000"/>
              </a:lnSpc>
              <a:buNone/>
            </a:pPr>
            <a:endParaRPr lang="en-US" sz="700" dirty="0"/>
          </a:p>
        </p:txBody>
      </p:sp>
      <p:sp>
        <p:nvSpPr>
          <p:cNvPr id="15" name="Rectangle 8">
            <a:extLst>
              <a:ext uri="{FF2B5EF4-FFF2-40B4-BE49-F238E27FC236}">
                <a16:creationId xmlns:a16="http://schemas.microsoft.com/office/drawing/2014/main" id="{4A5B1038-CF06-486A-B15D-56E5CBDCAB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410" y="0"/>
            <a:ext cx="46360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9">
            <a:extLst>
              <a:ext uri="{FF2B5EF4-FFF2-40B4-BE49-F238E27FC236}">
                <a16:creationId xmlns:a16="http://schemas.microsoft.com/office/drawing/2014/main" id="{4EA551C4-4D10-420F-A8BC-2B2C352B4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1042" y="484632"/>
            <a:ext cx="3666744" cy="5739187"/>
          </a:xfrm>
          <a:prstGeom prst="roundRect">
            <a:avLst>
              <a:gd name="adj" fmla="val 0"/>
            </a:avLst>
          </a:prstGeom>
          <a:solidFill>
            <a:schemeClr val="tx1"/>
          </a:solidFill>
          <a:ln w="12700">
            <a:solidFill>
              <a:schemeClr val="tx2">
                <a:lumMod val="75000"/>
              </a:schemeClr>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FA45273-3EAE-C3ED-D90F-F0D41DC5C10F}"/>
              </a:ext>
            </a:extLst>
          </p:cNvPr>
          <p:cNvPicPr>
            <a:picLocks noChangeAspect="1"/>
          </p:cNvPicPr>
          <p:nvPr/>
        </p:nvPicPr>
        <p:blipFill>
          <a:blip r:embed="rId3"/>
          <a:stretch>
            <a:fillRect/>
          </a:stretch>
        </p:blipFill>
        <p:spPr>
          <a:xfrm>
            <a:off x="8525675" y="2263284"/>
            <a:ext cx="2697479" cy="2178213"/>
          </a:xfrm>
          <a:prstGeom prst="rect">
            <a:avLst/>
          </a:prstGeom>
          <a:effectLst/>
        </p:spPr>
      </p:pic>
      <p:sp>
        <p:nvSpPr>
          <p:cNvPr id="17" name="Rectangle 12">
            <a:extLst>
              <a:ext uri="{FF2B5EF4-FFF2-40B4-BE49-F238E27FC236}">
                <a16:creationId xmlns:a16="http://schemas.microsoft.com/office/drawing/2014/main" id="{CDEEC77E-10AE-4A10-B283-689229F49E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781373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76"/>
        <p:cNvGrpSpPr/>
        <p:nvPr/>
      </p:nvGrpSpPr>
      <p:grpSpPr>
        <a:xfrm>
          <a:off x="0" y="0"/>
          <a:ext cx="0" cy="0"/>
          <a:chOff x="0" y="0"/>
          <a:chExt cx="0" cy="0"/>
        </a:xfrm>
      </p:grpSpPr>
      <p:sp>
        <p:nvSpPr>
          <p:cNvPr id="2078" name="Shape 2078"/>
          <p:cNvSpPr txBox="1">
            <a:spLocks noGrp="1"/>
          </p:cNvSpPr>
          <p:nvPr>
            <p:ph type="subTitle" idx="4294967295"/>
          </p:nvPr>
        </p:nvSpPr>
        <p:spPr>
          <a:xfrm>
            <a:off x="178501" y="-51371"/>
            <a:ext cx="11759599" cy="708400"/>
          </a:xfrm>
          <a:prstGeom prst="rect">
            <a:avLst/>
          </a:prstGeom>
          <a:noFill/>
          <a:ln>
            <a:noFill/>
          </a:ln>
        </p:spPr>
        <p:txBody>
          <a:bodyPr vert="horz" lIns="121900" tIns="121900" rIns="121900" bIns="121900" rtlCol="0" anchor="b" anchorCtr="0">
            <a:noAutofit/>
          </a:bodyPr>
          <a:lstStyle/>
          <a:p>
            <a:pPr marL="0" indent="0">
              <a:lnSpc>
                <a:spcPct val="115000"/>
              </a:lnSpc>
              <a:spcBef>
                <a:spcPts val="0"/>
              </a:spcBef>
              <a:buClr>
                <a:srgbClr val="75787A"/>
              </a:buClr>
              <a:buSzPct val="25000"/>
              <a:buNone/>
            </a:pPr>
            <a:r>
              <a:rPr lang="en-US" sz="1733" dirty="0"/>
              <a:t>Apigee X: Network Deployment Topology</a:t>
            </a:r>
          </a:p>
        </p:txBody>
      </p:sp>
      <p:sp>
        <p:nvSpPr>
          <p:cNvPr id="2063" name="TextBox 2062">
            <a:extLst>
              <a:ext uri="{FF2B5EF4-FFF2-40B4-BE49-F238E27FC236}">
                <a16:creationId xmlns:a16="http://schemas.microsoft.com/office/drawing/2014/main" id="{EE9E1042-38EF-9CDB-56FD-13CAC68DF325}"/>
              </a:ext>
            </a:extLst>
          </p:cNvPr>
          <p:cNvSpPr txBox="1"/>
          <p:nvPr/>
        </p:nvSpPr>
        <p:spPr>
          <a:xfrm>
            <a:off x="808397" y="5315007"/>
            <a:ext cx="9224759" cy="1015663"/>
          </a:xfrm>
          <a:prstGeom prst="rect">
            <a:avLst/>
          </a:prstGeom>
          <a:noFill/>
        </p:spPr>
        <p:txBody>
          <a:bodyPr wrap="square" rtlCol="0">
            <a:spAutoFit/>
          </a:bodyPr>
          <a:lstStyle/>
          <a:p>
            <a:pPr marL="228600" indent="-228600">
              <a:buFont typeface="+mj-lt"/>
              <a:buAutoNum type="arabicPeriod"/>
            </a:pPr>
            <a:r>
              <a:rPr lang="en-US" sz="1200" dirty="0">
                <a:latin typeface="Helvetica" panose="020B0604020202020204" pitchFamily="34" charset="0"/>
                <a:cs typeface="Helvetica" panose="020B0604020202020204" pitchFamily="34" charset="0"/>
              </a:rPr>
              <a:t>Client VPC needs to allow ingress traffic from internet to access APIs hosted by BCBST’s Apigee X instance</a:t>
            </a:r>
          </a:p>
          <a:p>
            <a:pPr marL="228600" indent="-228600">
              <a:buFont typeface="+mj-lt"/>
              <a:buAutoNum type="arabicPeriod"/>
            </a:pPr>
            <a:endParaRPr lang="en-US" sz="1200" dirty="0">
              <a:latin typeface="Helvetica" panose="020B0604020202020204" pitchFamily="34" charset="0"/>
              <a:cs typeface="Helvetica" panose="020B0604020202020204" pitchFamily="34" charset="0"/>
            </a:endParaRPr>
          </a:p>
          <a:p>
            <a:pPr marL="228600" indent="-228600">
              <a:buFont typeface="+mj-lt"/>
              <a:buAutoNum type="arabicPeriod"/>
            </a:pPr>
            <a:r>
              <a:rPr lang="en-US" sz="1200" dirty="0">
                <a:latin typeface="Helvetica" panose="020B0604020202020204" pitchFamily="34" charset="0"/>
                <a:cs typeface="Helvetica" panose="020B0604020202020204" pitchFamily="34" charset="0"/>
              </a:rPr>
              <a:t>Client VPC needs to have connectivity  to on-prem network to allow Apigee X to access Backend Services that it is proxies</a:t>
            </a:r>
          </a:p>
          <a:p>
            <a:pPr marL="228600" indent="-228600">
              <a:buFont typeface="+mj-lt"/>
              <a:buAutoNum type="arabicPeriod"/>
            </a:pPr>
            <a:endParaRPr lang="en-US" sz="1200" dirty="0">
              <a:latin typeface="Helvetica" panose="020B0604020202020204" pitchFamily="34" charset="0"/>
              <a:cs typeface="Helvetica" panose="020B0604020202020204" pitchFamily="34" charset="0"/>
            </a:endParaRPr>
          </a:p>
          <a:p>
            <a:pPr marL="228600" indent="-228600">
              <a:buFont typeface="+mj-lt"/>
              <a:buAutoNum type="arabicPeriod"/>
            </a:pPr>
            <a:r>
              <a:rPr lang="en-US" sz="1200" dirty="0">
                <a:latin typeface="Helvetica" panose="020B0604020202020204" pitchFamily="34" charset="0"/>
                <a:cs typeface="Helvetica" panose="020B0604020202020204" pitchFamily="34" charset="0"/>
              </a:rPr>
              <a:t>Client VPC needs to implement network security measures in alignment with Enterprise Security Standards </a:t>
            </a:r>
          </a:p>
        </p:txBody>
      </p:sp>
      <p:sp>
        <p:nvSpPr>
          <p:cNvPr id="30" name="Shape 2082">
            <a:extLst>
              <a:ext uri="{FF2B5EF4-FFF2-40B4-BE49-F238E27FC236}">
                <a16:creationId xmlns:a16="http://schemas.microsoft.com/office/drawing/2014/main" id="{D2624401-F865-8BCD-E132-D5803F294BE7}"/>
              </a:ext>
            </a:extLst>
          </p:cNvPr>
          <p:cNvSpPr/>
          <p:nvPr/>
        </p:nvSpPr>
        <p:spPr>
          <a:xfrm>
            <a:off x="3180149" y="1129369"/>
            <a:ext cx="3757462" cy="3223042"/>
          </a:xfrm>
          <a:prstGeom prst="roundRect">
            <a:avLst>
              <a:gd name="adj" fmla="val 399"/>
            </a:avLst>
          </a:prstGeom>
          <a:solidFill>
            <a:srgbClr val="F6F6F6"/>
          </a:solidFill>
          <a:ln>
            <a:noFill/>
          </a:ln>
        </p:spPr>
        <p:txBody>
          <a:bodyPr lIns="121900" tIns="121900" rIns="121900" bIns="121900" anchor="ctr" anchorCtr="0">
            <a:noAutofit/>
          </a:bodyPr>
          <a:lstStyle/>
          <a:p>
            <a:pPr>
              <a:buClr>
                <a:srgbClr val="000000"/>
              </a:buClr>
            </a:pPr>
            <a:endParaRPr sz="1867">
              <a:solidFill>
                <a:srgbClr val="000000"/>
              </a:solidFill>
              <a:latin typeface="Arial"/>
              <a:ea typeface="Arial"/>
              <a:cs typeface="Arial"/>
              <a:sym typeface="Arial"/>
            </a:endParaRPr>
          </a:p>
        </p:txBody>
      </p:sp>
      <p:grpSp>
        <p:nvGrpSpPr>
          <p:cNvPr id="31" name="Shape 4352">
            <a:extLst>
              <a:ext uri="{FF2B5EF4-FFF2-40B4-BE49-F238E27FC236}">
                <a16:creationId xmlns:a16="http://schemas.microsoft.com/office/drawing/2014/main" id="{3C75CD47-D841-2EC2-D15E-4F9D728921FD}"/>
              </a:ext>
            </a:extLst>
          </p:cNvPr>
          <p:cNvGrpSpPr/>
          <p:nvPr/>
        </p:nvGrpSpPr>
        <p:grpSpPr>
          <a:xfrm>
            <a:off x="864932" y="2542010"/>
            <a:ext cx="1620485" cy="1810401"/>
            <a:chOff x="2178035" y="1054763"/>
            <a:chExt cx="719633" cy="902930"/>
          </a:xfrm>
        </p:grpSpPr>
        <p:sp>
          <p:nvSpPr>
            <p:cNvPr id="34" name="Shape 4353">
              <a:extLst>
                <a:ext uri="{FF2B5EF4-FFF2-40B4-BE49-F238E27FC236}">
                  <a16:creationId xmlns:a16="http://schemas.microsoft.com/office/drawing/2014/main" id="{F6D3C897-542D-34FC-3FB0-94894ECEE49A}"/>
                </a:ext>
              </a:extLst>
            </p:cNvPr>
            <p:cNvSpPr/>
            <p:nvPr/>
          </p:nvSpPr>
          <p:spPr>
            <a:xfrm>
              <a:off x="2178035" y="1054763"/>
              <a:ext cx="719633" cy="902930"/>
            </a:xfrm>
            <a:prstGeom prst="roundRect">
              <a:avLst>
                <a:gd name="adj" fmla="val 827"/>
              </a:avLst>
            </a:prstGeom>
            <a:solidFill>
              <a:srgbClr val="EFEBE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44" name="Shape 4354">
              <a:extLst>
                <a:ext uri="{FF2B5EF4-FFF2-40B4-BE49-F238E27FC236}">
                  <a16:creationId xmlns:a16="http://schemas.microsoft.com/office/drawing/2014/main" id="{3E5C3D34-1617-5308-8F24-9B9D61DB7553}"/>
                </a:ext>
              </a:extLst>
            </p:cNvPr>
            <p:cNvSpPr txBox="1"/>
            <p:nvPr/>
          </p:nvSpPr>
          <p:spPr>
            <a:xfrm>
              <a:off x="2178036" y="1054763"/>
              <a:ext cx="673265" cy="116576"/>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On Premises</a:t>
              </a:r>
            </a:p>
          </p:txBody>
        </p:sp>
      </p:grpSp>
      <p:sp>
        <p:nvSpPr>
          <p:cNvPr id="45" name="Shape 1780">
            <a:extLst>
              <a:ext uri="{FF2B5EF4-FFF2-40B4-BE49-F238E27FC236}">
                <a16:creationId xmlns:a16="http://schemas.microsoft.com/office/drawing/2014/main" id="{1BB40BFA-FB5E-059A-381D-F9241FB70751}"/>
              </a:ext>
            </a:extLst>
          </p:cNvPr>
          <p:cNvSpPr/>
          <p:nvPr/>
        </p:nvSpPr>
        <p:spPr>
          <a:xfrm>
            <a:off x="2330014" y="2939008"/>
            <a:ext cx="999600" cy="1280015"/>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Cloud VPN/ Interconnect</a:t>
            </a:r>
          </a:p>
        </p:txBody>
      </p:sp>
      <p:sp>
        <p:nvSpPr>
          <p:cNvPr id="48" name="Shape 637">
            <a:extLst>
              <a:ext uri="{FF2B5EF4-FFF2-40B4-BE49-F238E27FC236}">
                <a16:creationId xmlns:a16="http://schemas.microsoft.com/office/drawing/2014/main" id="{F5ED4146-0FBF-2059-472E-7CA9D1108EF5}"/>
              </a:ext>
            </a:extLst>
          </p:cNvPr>
          <p:cNvSpPr/>
          <p:nvPr/>
        </p:nvSpPr>
        <p:spPr>
          <a:xfrm>
            <a:off x="864933" y="1137195"/>
            <a:ext cx="1620486" cy="1296059"/>
          </a:xfrm>
          <a:prstGeom prst="roundRect">
            <a:avLst>
              <a:gd name="adj" fmla="val 827"/>
            </a:avLst>
          </a:prstGeom>
          <a:solidFill>
            <a:srgbClr val="F1F8E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52" name="Shape 2079">
            <a:extLst>
              <a:ext uri="{FF2B5EF4-FFF2-40B4-BE49-F238E27FC236}">
                <a16:creationId xmlns:a16="http://schemas.microsoft.com/office/drawing/2014/main" id="{41D401F5-8B64-8948-CD53-4B111242FBDD}"/>
              </a:ext>
            </a:extLst>
          </p:cNvPr>
          <p:cNvSpPr/>
          <p:nvPr/>
        </p:nvSpPr>
        <p:spPr>
          <a:xfrm>
            <a:off x="779412" y="4919338"/>
            <a:ext cx="9364532" cy="182800"/>
          </a:xfrm>
          <a:prstGeom prst="rect">
            <a:avLst/>
          </a:prstGeom>
          <a:solidFill>
            <a:srgbClr val="E0E0E0"/>
          </a:solidFill>
          <a:ln>
            <a:noFill/>
          </a:ln>
        </p:spPr>
        <p:txBody>
          <a:bodyPr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grpSp>
        <p:nvGrpSpPr>
          <p:cNvPr id="53" name="Shape 4399">
            <a:extLst>
              <a:ext uri="{FF2B5EF4-FFF2-40B4-BE49-F238E27FC236}">
                <a16:creationId xmlns:a16="http://schemas.microsoft.com/office/drawing/2014/main" id="{FEB44452-CA8F-90AB-8943-2C2360CE5185}"/>
              </a:ext>
            </a:extLst>
          </p:cNvPr>
          <p:cNvGrpSpPr/>
          <p:nvPr/>
        </p:nvGrpSpPr>
        <p:grpSpPr>
          <a:xfrm>
            <a:off x="1280493" y="1755171"/>
            <a:ext cx="620315" cy="457106"/>
            <a:chOff x="415115" y="2332213"/>
            <a:chExt cx="502920" cy="502920"/>
          </a:xfrm>
        </p:grpSpPr>
        <p:sp>
          <p:nvSpPr>
            <p:cNvPr id="55" name="Shape 4400">
              <a:extLst>
                <a:ext uri="{FF2B5EF4-FFF2-40B4-BE49-F238E27FC236}">
                  <a16:creationId xmlns:a16="http://schemas.microsoft.com/office/drawing/2014/main" id="{2536AF04-763F-C796-8309-195814A55CC0}"/>
                </a:ext>
              </a:extLst>
            </p:cNvPr>
            <p:cNvSpPr/>
            <p:nvPr/>
          </p:nvSpPr>
          <p:spPr>
            <a:xfrm>
              <a:off x="415115" y="2332213"/>
              <a:ext cx="502920" cy="502920"/>
            </a:xfrm>
            <a:prstGeom prst="roundRect">
              <a:avLst>
                <a:gd name="adj" fmla="val 1674"/>
              </a:avLst>
            </a:prstGeom>
            <a:solidFill>
              <a:schemeClr val="lt1"/>
            </a:solidFill>
            <a:ln>
              <a:noFill/>
            </a:ln>
            <a:effectLst>
              <a:outerShdw blurRad="19050" dist="6350" dir="5400000" algn="ctr" rotWithShape="0">
                <a:schemeClr val="dk1">
                  <a:alpha val="44705"/>
                </a:schemeClr>
              </a:outerShdw>
            </a:effectLst>
          </p:spPr>
          <p:txBody>
            <a:bodyPr lIns="0" tIns="0" rIns="0" bIns="0" anchor="ctr" anchorCtr="0">
              <a:noAutofit/>
            </a:bodyPr>
            <a:lstStyle/>
            <a:p>
              <a:pPr>
                <a:lnSpc>
                  <a:spcPct val="121428"/>
                </a:lnSpc>
                <a:buClr>
                  <a:srgbClr val="000000"/>
                </a:buClr>
              </a:pPr>
              <a:endParaRPr sz="933">
                <a:solidFill>
                  <a:schemeClr val="dk1"/>
                </a:solidFill>
                <a:latin typeface="Roboto"/>
                <a:ea typeface="Roboto"/>
                <a:cs typeface="Roboto"/>
                <a:sym typeface="Roboto"/>
              </a:endParaRPr>
            </a:p>
          </p:txBody>
        </p:sp>
        <p:pic>
          <p:nvPicPr>
            <p:cNvPr id="56" name="Shape 4401">
              <a:extLst>
                <a:ext uri="{FF2B5EF4-FFF2-40B4-BE49-F238E27FC236}">
                  <a16:creationId xmlns:a16="http://schemas.microsoft.com/office/drawing/2014/main" id="{D1EF09EF-CA0D-56D8-7118-796ACAA7159B}"/>
                </a:ext>
              </a:extLst>
            </p:cNvPr>
            <p:cNvPicPr preferRelativeResize="0"/>
            <p:nvPr/>
          </p:nvPicPr>
          <p:blipFill rotWithShape="1">
            <a:blip r:embed="rId3">
              <a:alphaModFix/>
            </a:blip>
            <a:srcRect/>
            <a:stretch/>
          </p:blipFill>
          <p:spPr>
            <a:xfrm>
              <a:off x="470089" y="2391008"/>
              <a:ext cx="429767" cy="429767"/>
            </a:xfrm>
            <a:prstGeom prst="rect">
              <a:avLst/>
            </a:prstGeom>
            <a:noFill/>
            <a:ln>
              <a:noFill/>
            </a:ln>
          </p:spPr>
        </p:pic>
      </p:grpSp>
      <p:cxnSp>
        <p:nvCxnSpPr>
          <p:cNvPr id="60" name="Shape 4409">
            <a:extLst>
              <a:ext uri="{FF2B5EF4-FFF2-40B4-BE49-F238E27FC236}">
                <a16:creationId xmlns:a16="http://schemas.microsoft.com/office/drawing/2014/main" id="{92BC477D-E1F8-14AD-570C-EA2F7FED4665}"/>
              </a:ext>
            </a:extLst>
          </p:cNvPr>
          <p:cNvCxnSpPr>
            <a:cxnSpLocks/>
            <a:stCxn id="55" idx="3"/>
            <a:endCxn id="2051" idx="1"/>
          </p:cNvCxnSpPr>
          <p:nvPr/>
        </p:nvCxnSpPr>
        <p:spPr>
          <a:xfrm>
            <a:off x="1900808" y="1983724"/>
            <a:ext cx="1664767" cy="528"/>
          </a:xfrm>
          <a:prstGeom prst="straightConnector1">
            <a:avLst/>
          </a:prstGeom>
          <a:noFill/>
          <a:ln w="9525" cap="flat" cmpd="sng">
            <a:solidFill>
              <a:srgbClr val="3A7DF0"/>
            </a:solidFill>
            <a:prstDash val="solid"/>
            <a:round/>
            <a:headEnd type="none" w="med" len="med"/>
            <a:tailEnd type="triangle" w="med" len="med"/>
          </a:ln>
        </p:spPr>
      </p:cxnSp>
      <p:grpSp>
        <p:nvGrpSpPr>
          <p:cNvPr id="2049" name="Shape 4412">
            <a:extLst>
              <a:ext uri="{FF2B5EF4-FFF2-40B4-BE49-F238E27FC236}">
                <a16:creationId xmlns:a16="http://schemas.microsoft.com/office/drawing/2014/main" id="{6D069D44-B732-A32C-7CCA-605E5F2BDC37}"/>
              </a:ext>
            </a:extLst>
          </p:cNvPr>
          <p:cNvGrpSpPr/>
          <p:nvPr/>
        </p:nvGrpSpPr>
        <p:grpSpPr>
          <a:xfrm>
            <a:off x="3565575" y="1793152"/>
            <a:ext cx="1262125" cy="382200"/>
            <a:chOff x="1790611" y="2719167"/>
            <a:chExt cx="933900" cy="382200"/>
          </a:xfrm>
        </p:grpSpPr>
        <p:sp>
          <p:nvSpPr>
            <p:cNvPr id="2051" name="Shape 4410">
              <a:extLst>
                <a:ext uri="{FF2B5EF4-FFF2-40B4-BE49-F238E27FC236}">
                  <a16:creationId xmlns:a16="http://schemas.microsoft.com/office/drawing/2014/main" id="{A9693AEE-1445-3D4A-79A2-9284CD896266}"/>
                </a:ext>
              </a:extLst>
            </p:cNvPr>
            <p:cNvSpPr/>
            <p:nvPr/>
          </p:nvSpPr>
          <p:spPr>
            <a:xfrm>
              <a:off x="1790611" y="2719167"/>
              <a:ext cx="9339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573000" tIns="97533" rIns="60933" bIns="97533" anchor="ctr" anchorCtr="0">
              <a:noAutofit/>
            </a:bodyPr>
            <a:lstStyle/>
            <a:p>
              <a:pPr>
                <a:lnSpc>
                  <a:spcPct val="121428"/>
                </a:lnSpc>
                <a:spcBef>
                  <a:spcPts val="267"/>
                </a:spcBef>
                <a:buClr>
                  <a:srgbClr val="757575"/>
                </a:buClr>
                <a:buSzPct val="25000"/>
              </a:pPr>
              <a:r>
                <a:rPr lang="en-US" sz="700" dirty="0">
                  <a:solidFill>
                    <a:srgbClr val="757575"/>
                  </a:solidFill>
                  <a:latin typeface="Roboto"/>
                  <a:ea typeface="Roboto"/>
                  <a:cs typeface="Roboto"/>
                  <a:sym typeface="Roboto"/>
                </a:rPr>
                <a:t>Load Balancer</a:t>
              </a:r>
            </a:p>
          </p:txBody>
        </p:sp>
        <p:pic>
          <p:nvPicPr>
            <p:cNvPr id="2053" name="Shape 4413" descr="Cloud-Load-Balancing.png">
              <a:extLst>
                <a:ext uri="{FF2B5EF4-FFF2-40B4-BE49-F238E27FC236}">
                  <a16:creationId xmlns:a16="http://schemas.microsoft.com/office/drawing/2014/main" id="{A3C69D44-0BFF-2236-0AAC-A45514A0472C}"/>
                </a:ext>
              </a:extLst>
            </p:cNvPr>
            <p:cNvPicPr preferRelativeResize="0"/>
            <p:nvPr/>
          </p:nvPicPr>
          <p:blipFill rotWithShape="1">
            <a:blip r:embed="rId4">
              <a:alphaModFix/>
            </a:blip>
            <a:srcRect t="5036" b="5027"/>
            <a:stretch/>
          </p:blipFill>
          <p:spPr>
            <a:xfrm>
              <a:off x="1835316" y="2787521"/>
              <a:ext cx="218992" cy="246600"/>
            </a:xfrm>
            <a:prstGeom prst="rect">
              <a:avLst/>
            </a:prstGeom>
            <a:noFill/>
            <a:ln>
              <a:noFill/>
            </a:ln>
          </p:spPr>
        </p:pic>
      </p:grpSp>
      <p:sp>
        <p:nvSpPr>
          <p:cNvPr id="2055" name="Shape 646">
            <a:extLst>
              <a:ext uri="{FF2B5EF4-FFF2-40B4-BE49-F238E27FC236}">
                <a16:creationId xmlns:a16="http://schemas.microsoft.com/office/drawing/2014/main" id="{C0043801-2E74-D6BB-A354-36EF0FDF0616}"/>
              </a:ext>
            </a:extLst>
          </p:cNvPr>
          <p:cNvSpPr/>
          <p:nvPr/>
        </p:nvSpPr>
        <p:spPr>
          <a:xfrm>
            <a:off x="7218157" y="1092173"/>
            <a:ext cx="2871534" cy="3168881"/>
          </a:xfrm>
          <a:prstGeom prst="roundRect">
            <a:avLst>
              <a:gd name="adj" fmla="val 827"/>
            </a:avLst>
          </a:prstGeom>
          <a:solidFill>
            <a:srgbClr val="FFEBEE"/>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2059" name="Shape 647">
            <a:extLst>
              <a:ext uri="{FF2B5EF4-FFF2-40B4-BE49-F238E27FC236}">
                <a16:creationId xmlns:a16="http://schemas.microsoft.com/office/drawing/2014/main" id="{B9CEF863-2D59-7B4A-ED45-1FD560826FE4}"/>
              </a:ext>
            </a:extLst>
          </p:cNvPr>
          <p:cNvSpPr txBox="1"/>
          <p:nvPr/>
        </p:nvSpPr>
        <p:spPr>
          <a:xfrm>
            <a:off x="7272410" y="1090797"/>
            <a:ext cx="2871534"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Apigee X Google Project</a:t>
            </a:r>
          </a:p>
        </p:txBody>
      </p:sp>
      <p:sp>
        <p:nvSpPr>
          <p:cNvPr id="2061" name="Shape 2082">
            <a:extLst>
              <a:ext uri="{FF2B5EF4-FFF2-40B4-BE49-F238E27FC236}">
                <a16:creationId xmlns:a16="http://schemas.microsoft.com/office/drawing/2014/main" id="{CB95AFBD-6F2F-0FEE-7306-6E82BDBED90C}"/>
              </a:ext>
            </a:extLst>
          </p:cNvPr>
          <p:cNvSpPr/>
          <p:nvPr/>
        </p:nvSpPr>
        <p:spPr>
          <a:xfrm>
            <a:off x="3171180" y="4475736"/>
            <a:ext cx="3757462" cy="365601"/>
          </a:xfrm>
          <a:prstGeom prst="roundRect">
            <a:avLst>
              <a:gd name="adj" fmla="val 399"/>
            </a:avLst>
          </a:prstGeom>
          <a:solidFill>
            <a:srgbClr val="F6F6F6"/>
          </a:solidFill>
          <a:ln>
            <a:noFill/>
          </a:ln>
        </p:spPr>
        <p:txBody>
          <a:bodyPr lIns="121900" tIns="121900" rIns="121900" bIns="121900" anchor="ctr" anchorCtr="0">
            <a:noAutofit/>
          </a:bodyPr>
          <a:lstStyle/>
          <a:p>
            <a:pPr>
              <a:buClr>
                <a:srgbClr val="000000"/>
              </a:buClr>
            </a:pPr>
            <a:endParaRPr sz="1867">
              <a:solidFill>
                <a:srgbClr val="000000"/>
              </a:solidFill>
              <a:latin typeface="Arial"/>
              <a:ea typeface="Arial"/>
              <a:cs typeface="Arial"/>
              <a:sym typeface="Arial"/>
            </a:endParaRPr>
          </a:p>
        </p:txBody>
      </p:sp>
      <p:sp>
        <p:nvSpPr>
          <p:cNvPr id="2064" name="Shape 646">
            <a:extLst>
              <a:ext uri="{FF2B5EF4-FFF2-40B4-BE49-F238E27FC236}">
                <a16:creationId xmlns:a16="http://schemas.microsoft.com/office/drawing/2014/main" id="{52061F37-4A7B-C6DB-91CE-266AA77A07BA}"/>
              </a:ext>
            </a:extLst>
          </p:cNvPr>
          <p:cNvSpPr/>
          <p:nvPr/>
        </p:nvSpPr>
        <p:spPr>
          <a:xfrm>
            <a:off x="7220409" y="4475736"/>
            <a:ext cx="2871534" cy="365602"/>
          </a:xfrm>
          <a:prstGeom prst="roundRect">
            <a:avLst>
              <a:gd name="adj" fmla="val 827"/>
            </a:avLst>
          </a:prstGeom>
          <a:solidFill>
            <a:srgbClr val="FFEBEE"/>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2067" name="Shape 647">
            <a:extLst>
              <a:ext uri="{FF2B5EF4-FFF2-40B4-BE49-F238E27FC236}">
                <a16:creationId xmlns:a16="http://schemas.microsoft.com/office/drawing/2014/main" id="{1D91971E-C7A9-FF7B-BEB4-A887D339EB3F}"/>
              </a:ext>
            </a:extLst>
          </p:cNvPr>
          <p:cNvSpPr txBox="1"/>
          <p:nvPr/>
        </p:nvSpPr>
        <p:spPr>
          <a:xfrm>
            <a:off x="7272410" y="4508218"/>
            <a:ext cx="2871534" cy="232028"/>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750" b="0" i="0" u="none" strike="noStrike" cap="none" dirty="0">
                <a:solidFill>
                  <a:srgbClr val="9E9E9E"/>
                </a:solidFill>
                <a:latin typeface="Roboto"/>
                <a:ea typeface="Roboto"/>
                <a:cs typeface="Roboto"/>
                <a:sym typeface="Roboto"/>
              </a:rPr>
              <a:t>Google VPC</a:t>
            </a:r>
            <a:endParaRPr lang="en-US" sz="600" b="0" i="0" u="none" strike="noStrike" cap="none" dirty="0">
              <a:solidFill>
                <a:srgbClr val="9E9E9E"/>
              </a:solidFill>
              <a:latin typeface="Roboto"/>
              <a:ea typeface="Roboto"/>
              <a:cs typeface="Roboto"/>
              <a:sym typeface="Roboto"/>
            </a:endParaRPr>
          </a:p>
        </p:txBody>
      </p:sp>
      <p:sp>
        <p:nvSpPr>
          <p:cNvPr id="2068" name="Shape 647">
            <a:extLst>
              <a:ext uri="{FF2B5EF4-FFF2-40B4-BE49-F238E27FC236}">
                <a16:creationId xmlns:a16="http://schemas.microsoft.com/office/drawing/2014/main" id="{1528CFE7-7742-94B8-B2AA-353CA673F44E}"/>
              </a:ext>
            </a:extLst>
          </p:cNvPr>
          <p:cNvSpPr txBox="1"/>
          <p:nvPr/>
        </p:nvSpPr>
        <p:spPr>
          <a:xfrm>
            <a:off x="3232734" y="4546597"/>
            <a:ext cx="2871534" cy="209987"/>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750" b="0" i="0" u="none" strike="noStrike" cap="none" dirty="0">
                <a:solidFill>
                  <a:srgbClr val="9E9E9E"/>
                </a:solidFill>
                <a:latin typeface="Roboto"/>
                <a:ea typeface="Roboto"/>
                <a:cs typeface="Roboto"/>
                <a:sym typeface="Roboto"/>
              </a:rPr>
              <a:t>BCBST VPC</a:t>
            </a:r>
            <a:endParaRPr lang="en-US" sz="600" b="0" i="0" u="none" strike="noStrike" cap="none" dirty="0">
              <a:solidFill>
                <a:srgbClr val="9E9E9E"/>
              </a:solidFill>
              <a:latin typeface="Roboto"/>
              <a:ea typeface="Roboto"/>
              <a:cs typeface="Roboto"/>
              <a:sym typeface="Roboto"/>
            </a:endParaRPr>
          </a:p>
        </p:txBody>
      </p:sp>
      <p:sp>
        <p:nvSpPr>
          <p:cNvPr id="2069" name="Shape 647">
            <a:extLst>
              <a:ext uri="{FF2B5EF4-FFF2-40B4-BE49-F238E27FC236}">
                <a16:creationId xmlns:a16="http://schemas.microsoft.com/office/drawing/2014/main" id="{24EECDCE-EDF4-8DAC-AD7A-E6B4172558B1}"/>
              </a:ext>
            </a:extLst>
          </p:cNvPr>
          <p:cNvSpPr txBox="1"/>
          <p:nvPr/>
        </p:nvSpPr>
        <p:spPr>
          <a:xfrm>
            <a:off x="3275766" y="1078916"/>
            <a:ext cx="2871534"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Client Google Project</a:t>
            </a:r>
          </a:p>
        </p:txBody>
      </p:sp>
      <p:grpSp>
        <p:nvGrpSpPr>
          <p:cNvPr id="2070" name="Group 2069">
            <a:extLst>
              <a:ext uri="{FF2B5EF4-FFF2-40B4-BE49-F238E27FC236}">
                <a16:creationId xmlns:a16="http://schemas.microsoft.com/office/drawing/2014/main" id="{D9FE3099-5376-B0AE-FBF6-2061986DE431}"/>
              </a:ext>
            </a:extLst>
          </p:cNvPr>
          <p:cNvGrpSpPr/>
          <p:nvPr/>
        </p:nvGrpSpPr>
        <p:grpSpPr>
          <a:xfrm>
            <a:off x="7463874" y="3755802"/>
            <a:ext cx="930600" cy="382200"/>
            <a:chOff x="4978278" y="3667491"/>
            <a:chExt cx="930600" cy="382200"/>
          </a:xfrm>
        </p:grpSpPr>
        <p:sp>
          <p:nvSpPr>
            <p:cNvPr id="2071" name="Shape 1786">
              <a:extLst>
                <a:ext uri="{FF2B5EF4-FFF2-40B4-BE49-F238E27FC236}">
                  <a16:creationId xmlns:a16="http://schemas.microsoft.com/office/drawing/2014/main" id="{79F017E1-961C-3AFC-BE18-876E41520120}"/>
                </a:ext>
              </a:extLst>
            </p:cNvPr>
            <p:cNvSpPr/>
            <p:nvPr/>
          </p:nvSpPr>
          <p:spPr>
            <a:xfrm>
              <a:off x="4978278" y="3667491"/>
              <a:ext cx="9306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13333"/>
                </a:lnSpc>
                <a:spcBef>
                  <a:spcPts val="0"/>
                </a:spcBef>
                <a:spcAft>
                  <a:spcPts val="0"/>
                </a:spcAft>
                <a:buClr>
                  <a:srgbClr val="212121"/>
                </a:buClr>
                <a:buSzPct val="25000"/>
                <a:buFont typeface="Roboto"/>
                <a:buNone/>
              </a:pPr>
              <a:r>
                <a:rPr lang="en-US" sz="750" b="0" i="0" u="none" strike="noStrike" cap="none" dirty="0">
                  <a:solidFill>
                    <a:srgbClr val="212121"/>
                  </a:solidFill>
                  <a:latin typeface="Roboto"/>
                  <a:ea typeface="Roboto"/>
                  <a:cs typeface="Roboto"/>
                  <a:sym typeface="Roboto"/>
                </a:rPr>
                <a:t>PSC-NEG</a:t>
              </a:r>
              <a:endParaRPr lang="en-US" sz="700" dirty="0">
                <a:solidFill>
                  <a:srgbClr val="757575"/>
                </a:solidFill>
                <a:latin typeface="Roboto"/>
                <a:ea typeface="Roboto"/>
                <a:cs typeface="Roboto"/>
                <a:sym typeface="Roboto"/>
              </a:endParaRPr>
            </a:p>
          </p:txBody>
        </p:sp>
        <p:pic>
          <p:nvPicPr>
            <p:cNvPr id="2072" name="Shape 1787" descr="Generic-GCP.png">
              <a:extLst>
                <a:ext uri="{FF2B5EF4-FFF2-40B4-BE49-F238E27FC236}">
                  <a16:creationId xmlns:a16="http://schemas.microsoft.com/office/drawing/2014/main" id="{61F90BA1-59BA-330C-0F1E-D36BFC402F73}"/>
                </a:ext>
              </a:extLst>
            </p:cNvPr>
            <p:cNvPicPr preferRelativeResize="0"/>
            <p:nvPr/>
          </p:nvPicPr>
          <p:blipFill rotWithShape="1">
            <a:blip r:embed="rId5">
              <a:alphaModFix/>
            </a:blip>
            <a:srcRect t="5076" b="5076"/>
            <a:stretch/>
          </p:blipFill>
          <p:spPr>
            <a:xfrm>
              <a:off x="5113590" y="3745856"/>
              <a:ext cx="274200" cy="246600"/>
            </a:xfrm>
            <a:prstGeom prst="rect">
              <a:avLst/>
            </a:prstGeom>
            <a:noFill/>
            <a:ln>
              <a:noFill/>
            </a:ln>
          </p:spPr>
        </p:pic>
      </p:grpSp>
      <p:sp>
        <p:nvSpPr>
          <p:cNvPr id="2073" name="Shape 638">
            <a:extLst>
              <a:ext uri="{FF2B5EF4-FFF2-40B4-BE49-F238E27FC236}">
                <a16:creationId xmlns:a16="http://schemas.microsoft.com/office/drawing/2014/main" id="{CECDECC7-E46F-86D7-C2EA-895496EFE143}"/>
              </a:ext>
            </a:extLst>
          </p:cNvPr>
          <p:cNvSpPr txBox="1"/>
          <p:nvPr/>
        </p:nvSpPr>
        <p:spPr>
          <a:xfrm>
            <a:off x="864933" y="1137195"/>
            <a:ext cx="1296823" cy="457106"/>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 Consumer</a:t>
            </a:r>
          </a:p>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(Internet)</a:t>
            </a:r>
          </a:p>
        </p:txBody>
      </p:sp>
      <p:grpSp>
        <p:nvGrpSpPr>
          <p:cNvPr id="2074" name="Shape 1779">
            <a:extLst>
              <a:ext uri="{FF2B5EF4-FFF2-40B4-BE49-F238E27FC236}">
                <a16:creationId xmlns:a16="http://schemas.microsoft.com/office/drawing/2014/main" id="{D5DDE9F7-1D48-878E-F494-F201A6CD4B9D}"/>
              </a:ext>
            </a:extLst>
          </p:cNvPr>
          <p:cNvGrpSpPr/>
          <p:nvPr/>
        </p:nvGrpSpPr>
        <p:grpSpPr>
          <a:xfrm>
            <a:off x="5546309" y="3745054"/>
            <a:ext cx="950213" cy="395544"/>
            <a:chOff x="469795" y="2972893"/>
            <a:chExt cx="880800" cy="382200"/>
          </a:xfrm>
        </p:grpSpPr>
        <p:sp>
          <p:nvSpPr>
            <p:cNvPr id="2075" name="Shape 1780">
              <a:extLst>
                <a:ext uri="{FF2B5EF4-FFF2-40B4-BE49-F238E27FC236}">
                  <a16:creationId xmlns:a16="http://schemas.microsoft.com/office/drawing/2014/main" id="{5DF7C567-4E54-10EB-CC47-B5E0515022F0}"/>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Service Attachment</a:t>
              </a:r>
            </a:p>
          </p:txBody>
        </p:sp>
        <p:pic>
          <p:nvPicPr>
            <p:cNvPr id="2076" name="Shape 1781" descr="Cloud-Endpoints.png">
              <a:extLst>
                <a:ext uri="{FF2B5EF4-FFF2-40B4-BE49-F238E27FC236}">
                  <a16:creationId xmlns:a16="http://schemas.microsoft.com/office/drawing/2014/main" id="{4DADBDDC-EE65-4FF5-3BDB-92130949E8FB}"/>
                </a:ext>
              </a:extLst>
            </p:cNvPr>
            <p:cNvPicPr preferRelativeResize="0"/>
            <p:nvPr/>
          </p:nvPicPr>
          <p:blipFill rotWithShape="1">
            <a:blip r:embed="rId6">
              <a:alphaModFix/>
            </a:blip>
            <a:srcRect t="5076" b="5076"/>
            <a:stretch/>
          </p:blipFill>
          <p:spPr>
            <a:xfrm>
              <a:off x="515552" y="3040183"/>
              <a:ext cx="274200" cy="246600"/>
            </a:xfrm>
            <a:prstGeom prst="rect">
              <a:avLst/>
            </a:prstGeom>
            <a:noFill/>
            <a:ln>
              <a:noFill/>
            </a:ln>
          </p:spPr>
        </p:pic>
      </p:grpSp>
      <p:sp>
        <p:nvSpPr>
          <p:cNvPr id="2077" name="Shape 637">
            <a:extLst>
              <a:ext uri="{FF2B5EF4-FFF2-40B4-BE49-F238E27FC236}">
                <a16:creationId xmlns:a16="http://schemas.microsoft.com/office/drawing/2014/main" id="{6753BAAE-19C8-7E5A-39F1-32AEE4813192}"/>
              </a:ext>
            </a:extLst>
          </p:cNvPr>
          <p:cNvSpPr/>
          <p:nvPr/>
        </p:nvSpPr>
        <p:spPr>
          <a:xfrm>
            <a:off x="888278" y="4475736"/>
            <a:ext cx="1588208" cy="365601"/>
          </a:xfrm>
          <a:prstGeom prst="roundRect">
            <a:avLst>
              <a:gd name="adj" fmla="val 827"/>
            </a:avLst>
          </a:prstGeom>
          <a:solidFill>
            <a:srgbClr val="F1F8E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2080" name="Shape 638">
            <a:extLst>
              <a:ext uri="{FF2B5EF4-FFF2-40B4-BE49-F238E27FC236}">
                <a16:creationId xmlns:a16="http://schemas.microsoft.com/office/drawing/2014/main" id="{78F2E366-06F5-1AC3-DDA2-FA103991B93B}"/>
              </a:ext>
            </a:extLst>
          </p:cNvPr>
          <p:cNvSpPr txBox="1"/>
          <p:nvPr/>
        </p:nvSpPr>
        <p:spPr>
          <a:xfrm>
            <a:off x="855999" y="4539416"/>
            <a:ext cx="1270992" cy="203904"/>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750" b="0" i="0" u="none" strike="noStrike" cap="none" dirty="0">
                <a:solidFill>
                  <a:srgbClr val="9E9E9E"/>
                </a:solidFill>
                <a:latin typeface="Roboto"/>
                <a:ea typeface="Roboto"/>
                <a:cs typeface="Roboto"/>
                <a:sym typeface="Roboto"/>
              </a:rPr>
              <a:t>API Consumer (Internet)</a:t>
            </a:r>
            <a:endParaRPr lang="en-US" sz="600" b="0" i="0" u="none" strike="noStrike" cap="none" dirty="0">
              <a:solidFill>
                <a:srgbClr val="9E9E9E"/>
              </a:solidFill>
              <a:latin typeface="Roboto"/>
              <a:ea typeface="Roboto"/>
              <a:cs typeface="Roboto"/>
              <a:sym typeface="Roboto"/>
            </a:endParaRPr>
          </a:p>
        </p:txBody>
      </p:sp>
      <p:sp>
        <p:nvSpPr>
          <p:cNvPr id="2081" name="Shape 438">
            <a:extLst>
              <a:ext uri="{FF2B5EF4-FFF2-40B4-BE49-F238E27FC236}">
                <a16:creationId xmlns:a16="http://schemas.microsoft.com/office/drawing/2014/main" id="{DB3A7E0E-ACEF-BF8D-2604-E69763F02990}"/>
              </a:ext>
            </a:extLst>
          </p:cNvPr>
          <p:cNvSpPr txBox="1"/>
          <p:nvPr/>
        </p:nvSpPr>
        <p:spPr>
          <a:xfrm>
            <a:off x="4283305" y="1376193"/>
            <a:ext cx="599100" cy="250200"/>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700" b="1" dirty="0">
                <a:solidFill>
                  <a:srgbClr val="808080"/>
                </a:solidFill>
                <a:latin typeface="Open Sans"/>
                <a:ea typeface="Open Sans"/>
                <a:cs typeface="Open Sans"/>
                <a:sym typeface="Open Sans"/>
              </a:rPr>
              <a:t>Cloud Armor</a:t>
            </a:r>
            <a:endParaRPr lang="en-US" sz="700" b="1" i="0" u="none" strike="noStrike" cap="none" dirty="0">
              <a:solidFill>
                <a:srgbClr val="808080"/>
              </a:solidFill>
              <a:latin typeface="Open Sans"/>
              <a:ea typeface="Open Sans"/>
              <a:cs typeface="Open Sans"/>
              <a:sym typeface="Open Sans"/>
            </a:endParaRPr>
          </a:p>
        </p:txBody>
      </p:sp>
      <p:pic>
        <p:nvPicPr>
          <p:cNvPr id="2083" name="Shape 441">
            <a:extLst>
              <a:ext uri="{FF2B5EF4-FFF2-40B4-BE49-F238E27FC236}">
                <a16:creationId xmlns:a16="http://schemas.microsoft.com/office/drawing/2014/main" id="{3B519772-C530-92CF-8E90-DAA681945A35}"/>
              </a:ext>
            </a:extLst>
          </p:cNvPr>
          <p:cNvPicPr preferRelativeResize="0"/>
          <p:nvPr/>
        </p:nvPicPr>
        <p:blipFill rotWithShape="1">
          <a:blip r:embed="rId7"/>
          <a:srcRect t="8238" b="8238"/>
          <a:stretch/>
        </p:blipFill>
        <p:spPr>
          <a:xfrm>
            <a:off x="3976655" y="1301329"/>
            <a:ext cx="430635" cy="322478"/>
          </a:xfrm>
          <a:prstGeom prst="rect">
            <a:avLst/>
          </a:prstGeom>
          <a:noFill/>
          <a:ln>
            <a:noFill/>
          </a:ln>
        </p:spPr>
      </p:pic>
      <p:sp>
        <p:nvSpPr>
          <p:cNvPr id="2084" name="Shape 1786">
            <a:extLst>
              <a:ext uri="{FF2B5EF4-FFF2-40B4-BE49-F238E27FC236}">
                <a16:creationId xmlns:a16="http://schemas.microsoft.com/office/drawing/2014/main" id="{0BCE60A6-1DFA-2C70-9A5F-4D9C85D279DE}"/>
              </a:ext>
            </a:extLst>
          </p:cNvPr>
          <p:cNvSpPr/>
          <p:nvPr/>
        </p:nvSpPr>
        <p:spPr>
          <a:xfrm>
            <a:off x="5521990" y="1793152"/>
            <a:ext cx="9306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13333"/>
              </a:lnSpc>
              <a:spcBef>
                <a:spcPts val="0"/>
              </a:spcBef>
              <a:spcAft>
                <a:spcPts val="0"/>
              </a:spcAft>
              <a:buClr>
                <a:srgbClr val="212121"/>
              </a:buClr>
              <a:buSzPct val="25000"/>
              <a:buFont typeface="Roboto"/>
              <a:buNone/>
            </a:pPr>
            <a:r>
              <a:rPr lang="en-US" sz="750" b="0" i="0" u="none" strike="noStrike" cap="none" dirty="0">
                <a:solidFill>
                  <a:srgbClr val="212121"/>
                </a:solidFill>
                <a:latin typeface="Roboto"/>
                <a:ea typeface="Roboto"/>
                <a:cs typeface="Roboto"/>
                <a:sym typeface="Roboto"/>
              </a:rPr>
              <a:t>PSC-NEG</a:t>
            </a:r>
            <a:endParaRPr lang="en-US" sz="700" dirty="0">
              <a:solidFill>
                <a:srgbClr val="757575"/>
              </a:solidFill>
              <a:latin typeface="Roboto"/>
              <a:ea typeface="Roboto"/>
              <a:cs typeface="Roboto"/>
              <a:sym typeface="Roboto"/>
            </a:endParaRPr>
          </a:p>
        </p:txBody>
      </p:sp>
      <p:pic>
        <p:nvPicPr>
          <p:cNvPr id="2085" name="Shape 1787" descr="Generic-GCP.png">
            <a:extLst>
              <a:ext uri="{FF2B5EF4-FFF2-40B4-BE49-F238E27FC236}">
                <a16:creationId xmlns:a16="http://schemas.microsoft.com/office/drawing/2014/main" id="{D5E7BD36-BD59-DBAD-8862-46A9E5345E15}"/>
              </a:ext>
            </a:extLst>
          </p:cNvPr>
          <p:cNvPicPr preferRelativeResize="0"/>
          <p:nvPr/>
        </p:nvPicPr>
        <p:blipFill rotWithShape="1">
          <a:blip r:embed="rId5">
            <a:alphaModFix/>
          </a:blip>
          <a:srcRect t="5076" b="5076"/>
          <a:stretch/>
        </p:blipFill>
        <p:spPr>
          <a:xfrm>
            <a:off x="5592116" y="1862242"/>
            <a:ext cx="274200" cy="246600"/>
          </a:xfrm>
          <a:prstGeom prst="rect">
            <a:avLst/>
          </a:prstGeom>
          <a:noFill/>
          <a:ln>
            <a:noFill/>
          </a:ln>
        </p:spPr>
      </p:pic>
      <p:grpSp>
        <p:nvGrpSpPr>
          <p:cNvPr id="2086" name="Shape 1779">
            <a:extLst>
              <a:ext uri="{FF2B5EF4-FFF2-40B4-BE49-F238E27FC236}">
                <a16:creationId xmlns:a16="http://schemas.microsoft.com/office/drawing/2014/main" id="{EC0937E8-5422-9D7F-6F19-C77879422BB7}"/>
              </a:ext>
            </a:extLst>
          </p:cNvPr>
          <p:cNvGrpSpPr/>
          <p:nvPr/>
        </p:nvGrpSpPr>
        <p:grpSpPr>
          <a:xfrm>
            <a:off x="7437918" y="1786480"/>
            <a:ext cx="950213" cy="395544"/>
            <a:chOff x="469795" y="2972893"/>
            <a:chExt cx="880800" cy="382200"/>
          </a:xfrm>
        </p:grpSpPr>
        <p:sp>
          <p:nvSpPr>
            <p:cNvPr id="2087" name="Shape 1780">
              <a:extLst>
                <a:ext uri="{FF2B5EF4-FFF2-40B4-BE49-F238E27FC236}">
                  <a16:creationId xmlns:a16="http://schemas.microsoft.com/office/drawing/2014/main" id="{F2DE7952-4CA8-7EE3-0E31-0713A3A3CC01}"/>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Service Attachment</a:t>
              </a:r>
            </a:p>
          </p:txBody>
        </p:sp>
        <p:pic>
          <p:nvPicPr>
            <p:cNvPr id="2088" name="Shape 1781" descr="Cloud-Endpoints.png">
              <a:extLst>
                <a:ext uri="{FF2B5EF4-FFF2-40B4-BE49-F238E27FC236}">
                  <a16:creationId xmlns:a16="http://schemas.microsoft.com/office/drawing/2014/main" id="{7338DB9A-9953-9BB4-9703-F870448B1025}"/>
                </a:ext>
              </a:extLst>
            </p:cNvPr>
            <p:cNvPicPr preferRelativeResize="0"/>
            <p:nvPr/>
          </p:nvPicPr>
          <p:blipFill rotWithShape="1">
            <a:blip r:embed="rId6">
              <a:alphaModFix/>
            </a:blip>
            <a:srcRect t="5076" b="5076"/>
            <a:stretch/>
          </p:blipFill>
          <p:spPr>
            <a:xfrm>
              <a:off x="515552" y="3040183"/>
              <a:ext cx="274200" cy="246600"/>
            </a:xfrm>
            <a:prstGeom prst="rect">
              <a:avLst/>
            </a:prstGeom>
            <a:noFill/>
            <a:ln>
              <a:noFill/>
            </a:ln>
          </p:spPr>
        </p:pic>
      </p:grpSp>
      <p:grpSp>
        <p:nvGrpSpPr>
          <p:cNvPr id="2089" name="Shape 1779">
            <a:extLst>
              <a:ext uri="{FF2B5EF4-FFF2-40B4-BE49-F238E27FC236}">
                <a16:creationId xmlns:a16="http://schemas.microsoft.com/office/drawing/2014/main" id="{53306DF6-6016-3CBA-5600-C155F6DB463F}"/>
              </a:ext>
            </a:extLst>
          </p:cNvPr>
          <p:cNvGrpSpPr/>
          <p:nvPr/>
        </p:nvGrpSpPr>
        <p:grpSpPr>
          <a:xfrm>
            <a:off x="8838554" y="1798220"/>
            <a:ext cx="950213" cy="393192"/>
            <a:chOff x="469795" y="2972893"/>
            <a:chExt cx="880800" cy="382200"/>
          </a:xfrm>
        </p:grpSpPr>
        <p:sp>
          <p:nvSpPr>
            <p:cNvPr id="2090" name="Shape 1780">
              <a:extLst>
                <a:ext uri="{FF2B5EF4-FFF2-40B4-BE49-F238E27FC236}">
                  <a16:creationId xmlns:a16="http://schemas.microsoft.com/office/drawing/2014/main" id="{ADDB6C76-5455-8AA8-44E0-F5125BE93605}"/>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Apigee Runtime</a:t>
              </a:r>
            </a:p>
          </p:txBody>
        </p:sp>
        <p:pic>
          <p:nvPicPr>
            <p:cNvPr id="2091" name="Shape 1781">
              <a:extLst>
                <a:ext uri="{FF2B5EF4-FFF2-40B4-BE49-F238E27FC236}">
                  <a16:creationId xmlns:a16="http://schemas.microsoft.com/office/drawing/2014/main" id="{F89B5516-932E-B87F-5714-EF43D00CF3CB}"/>
                </a:ext>
              </a:extLst>
            </p:cNvPr>
            <p:cNvPicPr preferRelativeResize="0"/>
            <p:nvPr/>
          </p:nvPicPr>
          <p:blipFill rotWithShape="1">
            <a:blip r:embed="rId8"/>
            <a:srcRect t="6862" b="6862"/>
            <a:stretch/>
          </p:blipFill>
          <p:spPr>
            <a:xfrm>
              <a:off x="515553" y="3040183"/>
              <a:ext cx="235069" cy="247089"/>
            </a:xfrm>
            <a:prstGeom prst="rect">
              <a:avLst/>
            </a:prstGeom>
            <a:noFill/>
            <a:ln>
              <a:noFill/>
            </a:ln>
          </p:spPr>
        </p:pic>
      </p:grpSp>
      <p:cxnSp>
        <p:nvCxnSpPr>
          <p:cNvPr id="2092" name="Shape 4409">
            <a:extLst>
              <a:ext uri="{FF2B5EF4-FFF2-40B4-BE49-F238E27FC236}">
                <a16:creationId xmlns:a16="http://schemas.microsoft.com/office/drawing/2014/main" id="{B66C550F-BD5C-485B-39E1-6975DE7FF8DC}"/>
              </a:ext>
            </a:extLst>
          </p:cNvPr>
          <p:cNvCxnSpPr>
            <a:cxnSpLocks/>
            <a:stCxn id="2051" idx="3"/>
            <a:endCxn id="2084" idx="1"/>
          </p:cNvCxnSpPr>
          <p:nvPr/>
        </p:nvCxnSpPr>
        <p:spPr>
          <a:xfrm>
            <a:off x="4827700" y="1984252"/>
            <a:ext cx="694290" cy="0"/>
          </a:xfrm>
          <a:prstGeom prst="straightConnector1">
            <a:avLst/>
          </a:prstGeom>
          <a:noFill/>
          <a:ln w="9525" cap="flat" cmpd="sng">
            <a:solidFill>
              <a:srgbClr val="3A7DF0"/>
            </a:solidFill>
            <a:prstDash val="solid"/>
            <a:round/>
            <a:headEnd type="none" w="med" len="med"/>
            <a:tailEnd type="triangle" w="med" len="med"/>
          </a:ln>
        </p:spPr>
      </p:cxnSp>
      <p:cxnSp>
        <p:nvCxnSpPr>
          <p:cNvPr id="2093" name="Shape 4409">
            <a:extLst>
              <a:ext uri="{FF2B5EF4-FFF2-40B4-BE49-F238E27FC236}">
                <a16:creationId xmlns:a16="http://schemas.microsoft.com/office/drawing/2014/main" id="{324877DE-4216-4A0A-5ECB-A61A25F3C037}"/>
              </a:ext>
            </a:extLst>
          </p:cNvPr>
          <p:cNvCxnSpPr>
            <a:cxnSpLocks/>
            <a:stCxn id="2084" idx="3"/>
            <a:endCxn id="2087" idx="1"/>
          </p:cNvCxnSpPr>
          <p:nvPr/>
        </p:nvCxnSpPr>
        <p:spPr>
          <a:xfrm>
            <a:off x="6452590" y="1984252"/>
            <a:ext cx="985328" cy="0"/>
          </a:xfrm>
          <a:prstGeom prst="straightConnector1">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2094" name="Shape 4409">
            <a:extLst>
              <a:ext uri="{FF2B5EF4-FFF2-40B4-BE49-F238E27FC236}">
                <a16:creationId xmlns:a16="http://schemas.microsoft.com/office/drawing/2014/main" id="{2DD22DB7-5187-FBCF-BF5E-05BC14BCF341}"/>
              </a:ext>
            </a:extLst>
          </p:cNvPr>
          <p:cNvCxnSpPr>
            <a:cxnSpLocks/>
            <a:stCxn id="2087" idx="3"/>
            <a:endCxn id="2090" idx="1"/>
          </p:cNvCxnSpPr>
          <p:nvPr/>
        </p:nvCxnSpPr>
        <p:spPr>
          <a:xfrm>
            <a:off x="8388131" y="1984252"/>
            <a:ext cx="450423" cy="10564"/>
          </a:xfrm>
          <a:prstGeom prst="straightConnector1">
            <a:avLst/>
          </a:prstGeom>
          <a:noFill/>
          <a:ln w="9525" cap="flat" cmpd="sng">
            <a:solidFill>
              <a:srgbClr val="3A7DF0"/>
            </a:solidFill>
            <a:prstDash val="solid"/>
            <a:round/>
            <a:headEnd type="none" w="med" len="med"/>
            <a:tailEnd type="triangle" w="med" len="med"/>
          </a:ln>
        </p:spPr>
      </p:cxnSp>
      <p:sp>
        <p:nvSpPr>
          <p:cNvPr id="2095" name="Shape 647">
            <a:extLst>
              <a:ext uri="{FF2B5EF4-FFF2-40B4-BE49-F238E27FC236}">
                <a16:creationId xmlns:a16="http://schemas.microsoft.com/office/drawing/2014/main" id="{8D75A3A4-233C-338F-7651-41073A121973}"/>
              </a:ext>
            </a:extLst>
          </p:cNvPr>
          <p:cNvSpPr txBox="1"/>
          <p:nvPr/>
        </p:nvSpPr>
        <p:spPr>
          <a:xfrm>
            <a:off x="8750469" y="1472456"/>
            <a:ext cx="1535177"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Apigee X Runtime</a:t>
            </a:r>
          </a:p>
          <a:p>
            <a:pPr marL="0" marR="0" lvl="0" indent="0" algn="l" rtl="0">
              <a:lnSpc>
                <a:spcPts val="1000"/>
              </a:lnSpc>
              <a:spcBef>
                <a:spcPts val="0"/>
              </a:spcBef>
              <a:spcAft>
                <a:spcPts val="0"/>
              </a:spcAft>
              <a:buClr>
                <a:srgbClr val="9E9E9E"/>
              </a:buClr>
              <a:buSzPct val="25000"/>
              <a:buFont typeface="Roboto"/>
              <a:buNone/>
            </a:pPr>
            <a:r>
              <a:rPr lang="en-US" sz="900" b="1" dirty="0">
                <a:solidFill>
                  <a:srgbClr val="9E9E9E"/>
                </a:solidFill>
                <a:latin typeface="Roboto"/>
                <a:ea typeface="Roboto"/>
                <a:cs typeface="Roboto"/>
                <a:sym typeface="Roboto"/>
              </a:rPr>
              <a:t>Instance</a:t>
            </a:r>
            <a:endParaRPr lang="en-US" sz="900" b="1" i="0" u="none" strike="noStrike" cap="none" dirty="0">
              <a:solidFill>
                <a:srgbClr val="9E9E9E"/>
              </a:solidFill>
              <a:latin typeface="Roboto"/>
              <a:ea typeface="Roboto"/>
              <a:cs typeface="Roboto"/>
              <a:sym typeface="Roboto"/>
            </a:endParaRPr>
          </a:p>
        </p:txBody>
      </p:sp>
      <p:sp>
        <p:nvSpPr>
          <p:cNvPr id="2096" name="Shape 438">
            <a:extLst>
              <a:ext uri="{FF2B5EF4-FFF2-40B4-BE49-F238E27FC236}">
                <a16:creationId xmlns:a16="http://schemas.microsoft.com/office/drawing/2014/main" id="{B6F8E290-E301-4B62-F5C3-9BA42030AB32}"/>
              </a:ext>
            </a:extLst>
          </p:cNvPr>
          <p:cNvSpPr txBox="1"/>
          <p:nvPr/>
        </p:nvSpPr>
        <p:spPr>
          <a:xfrm>
            <a:off x="6655092" y="1751199"/>
            <a:ext cx="760994" cy="167038"/>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700" b="1" dirty="0">
                <a:solidFill>
                  <a:srgbClr val="00B050"/>
                </a:solidFill>
                <a:latin typeface="Open Sans"/>
                <a:ea typeface="Open Sans"/>
                <a:cs typeface="Open Sans"/>
                <a:sym typeface="Open Sans"/>
              </a:rPr>
              <a:t>PSC (Northbound)</a:t>
            </a:r>
            <a:endParaRPr lang="en-US" sz="700" b="1" i="0" u="none" strike="noStrike" cap="none" dirty="0">
              <a:solidFill>
                <a:srgbClr val="00B050"/>
              </a:solidFill>
              <a:latin typeface="Open Sans"/>
              <a:ea typeface="Open Sans"/>
              <a:cs typeface="Open Sans"/>
              <a:sym typeface="Open Sans"/>
            </a:endParaRPr>
          </a:p>
        </p:txBody>
      </p:sp>
      <p:sp>
        <p:nvSpPr>
          <p:cNvPr id="2097" name="Shape 438">
            <a:extLst>
              <a:ext uri="{FF2B5EF4-FFF2-40B4-BE49-F238E27FC236}">
                <a16:creationId xmlns:a16="http://schemas.microsoft.com/office/drawing/2014/main" id="{A313D970-DBFE-91E2-346F-72DACDFA2858}"/>
              </a:ext>
            </a:extLst>
          </p:cNvPr>
          <p:cNvSpPr txBox="1"/>
          <p:nvPr/>
        </p:nvSpPr>
        <p:spPr>
          <a:xfrm>
            <a:off x="6648627" y="3686242"/>
            <a:ext cx="760994" cy="167038"/>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700" b="1" dirty="0">
                <a:solidFill>
                  <a:srgbClr val="00B050"/>
                </a:solidFill>
                <a:latin typeface="Open Sans"/>
                <a:ea typeface="Open Sans"/>
                <a:cs typeface="Open Sans"/>
                <a:sym typeface="Open Sans"/>
              </a:rPr>
              <a:t>PSC (Southbound)</a:t>
            </a:r>
            <a:endParaRPr lang="en-US" sz="700" b="1" i="0" u="none" strike="noStrike" cap="none" dirty="0">
              <a:solidFill>
                <a:srgbClr val="00B050"/>
              </a:solidFill>
              <a:latin typeface="Open Sans"/>
              <a:ea typeface="Open Sans"/>
              <a:cs typeface="Open Sans"/>
              <a:sym typeface="Open Sans"/>
            </a:endParaRPr>
          </a:p>
        </p:txBody>
      </p:sp>
      <p:sp>
        <p:nvSpPr>
          <p:cNvPr id="2098" name="Shape 438">
            <a:extLst>
              <a:ext uri="{FF2B5EF4-FFF2-40B4-BE49-F238E27FC236}">
                <a16:creationId xmlns:a16="http://schemas.microsoft.com/office/drawing/2014/main" id="{8DE5123E-83DE-3973-9E4A-A5997804120A}"/>
              </a:ext>
            </a:extLst>
          </p:cNvPr>
          <p:cNvSpPr txBox="1"/>
          <p:nvPr/>
        </p:nvSpPr>
        <p:spPr>
          <a:xfrm>
            <a:off x="2340153" y="1889036"/>
            <a:ext cx="990345" cy="187430"/>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700" b="1" dirty="0">
                <a:latin typeface="Open Sans"/>
                <a:ea typeface="Open Sans"/>
                <a:cs typeface="Open Sans"/>
                <a:sym typeface="Open Sans"/>
              </a:rPr>
              <a:t>HTTPS + Oauth</a:t>
            </a:r>
          </a:p>
          <a:p>
            <a:pPr marL="0" marR="0" lvl="0" indent="0" algn="ctr" rtl="0">
              <a:lnSpc>
                <a:spcPct val="100000"/>
              </a:lnSpc>
              <a:spcBef>
                <a:spcPts val="0"/>
              </a:spcBef>
              <a:spcAft>
                <a:spcPts val="0"/>
              </a:spcAft>
              <a:buClr>
                <a:srgbClr val="808080"/>
              </a:buClr>
              <a:buSzPct val="25000"/>
              <a:buFont typeface="Open Sans"/>
              <a:buNone/>
            </a:pPr>
            <a:endParaRPr lang="en-US" sz="700" b="1" i="0" u="none" strike="noStrike" cap="none" dirty="0">
              <a:latin typeface="Open Sans"/>
              <a:ea typeface="Open Sans"/>
              <a:cs typeface="Open Sans"/>
              <a:sym typeface="Open Sans"/>
            </a:endParaRPr>
          </a:p>
          <a:p>
            <a:pPr marL="0" marR="0" lvl="0" indent="0" algn="ctr" rtl="0">
              <a:lnSpc>
                <a:spcPct val="100000"/>
              </a:lnSpc>
              <a:spcBef>
                <a:spcPts val="0"/>
              </a:spcBef>
              <a:spcAft>
                <a:spcPts val="0"/>
              </a:spcAft>
              <a:buClr>
                <a:srgbClr val="808080"/>
              </a:buClr>
              <a:buSzPct val="25000"/>
              <a:buFont typeface="Open Sans"/>
              <a:buNone/>
            </a:pPr>
            <a:r>
              <a:rPr lang="en-US" sz="700" b="1" dirty="0">
                <a:latin typeface="Open Sans"/>
                <a:ea typeface="Open Sans"/>
                <a:cs typeface="Open Sans"/>
                <a:sym typeface="Open Sans"/>
              </a:rPr>
              <a:t>Internet</a:t>
            </a:r>
            <a:endParaRPr lang="en-US" sz="700" b="1" i="0" u="none" strike="noStrike" cap="none" dirty="0">
              <a:latin typeface="Open Sans"/>
              <a:ea typeface="Open Sans"/>
              <a:cs typeface="Open Sans"/>
              <a:sym typeface="Open Sans"/>
            </a:endParaRPr>
          </a:p>
        </p:txBody>
      </p:sp>
      <p:sp>
        <p:nvSpPr>
          <p:cNvPr id="2099" name="Shape 4356">
            <a:extLst>
              <a:ext uri="{FF2B5EF4-FFF2-40B4-BE49-F238E27FC236}">
                <a16:creationId xmlns:a16="http://schemas.microsoft.com/office/drawing/2014/main" id="{DC89EAD1-5419-56BF-B49B-D242FA36F0AF}"/>
              </a:ext>
            </a:extLst>
          </p:cNvPr>
          <p:cNvSpPr/>
          <p:nvPr/>
        </p:nvSpPr>
        <p:spPr>
          <a:xfrm>
            <a:off x="1296667" y="3678675"/>
            <a:ext cx="692416" cy="542905"/>
          </a:xfrm>
          <a:prstGeom prst="roundRect">
            <a:avLst>
              <a:gd name="adj" fmla="val 1674"/>
            </a:avLst>
          </a:prstGeom>
          <a:solidFill>
            <a:schemeClr val="lt1"/>
          </a:solidFill>
          <a:ln>
            <a:noFill/>
          </a:ln>
          <a:effectLst>
            <a:outerShdw blurRad="19050" dist="6350" dir="5400000" algn="ctr" rotWithShape="0">
              <a:schemeClr val="dk1">
                <a:alpha val="44705"/>
              </a:schemeClr>
            </a:outerShdw>
          </a:effectLst>
        </p:spPr>
        <p:txBody>
          <a:bodyPr lIns="0" tIns="484625" rIns="0" bIns="45700" anchor="ctr" anchorCtr="0">
            <a:noAutofit/>
          </a:bodyPr>
          <a:lstStyle/>
          <a:p>
            <a:pPr marL="0" marR="0" lvl="0" indent="0" algn="ctr" rtl="0">
              <a:lnSpc>
                <a:spcPct val="100000"/>
              </a:lnSpc>
              <a:spcBef>
                <a:spcPts val="0"/>
              </a:spcBef>
              <a:spcAft>
                <a:spcPts val="0"/>
              </a:spcAft>
              <a:buClr>
                <a:srgbClr val="212121"/>
              </a:buClr>
              <a:buSzPct val="25000"/>
              <a:buFont typeface="Roboto"/>
              <a:buNone/>
            </a:pPr>
            <a:r>
              <a:rPr lang="en-US" sz="650" b="0" i="0" u="none" strike="noStrike" cap="none" dirty="0">
                <a:solidFill>
                  <a:srgbClr val="212121"/>
                </a:solidFill>
                <a:latin typeface="Roboto"/>
                <a:ea typeface="Roboto"/>
                <a:cs typeface="Roboto"/>
                <a:sym typeface="Roboto"/>
              </a:rPr>
              <a:t>Backend Service</a:t>
            </a:r>
          </a:p>
        </p:txBody>
      </p:sp>
      <p:pic>
        <p:nvPicPr>
          <p:cNvPr id="2100" name="Shape 4357">
            <a:extLst>
              <a:ext uri="{FF2B5EF4-FFF2-40B4-BE49-F238E27FC236}">
                <a16:creationId xmlns:a16="http://schemas.microsoft.com/office/drawing/2014/main" id="{89984576-FD5E-AF52-BA59-3D85DB982ADF}"/>
              </a:ext>
            </a:extLst>
          </p:cNvPr>
          <p:cNvPicPr preferRelativeResize="0"/>
          <p:nvPr/>
        </p:nvPicPr>
        <p:blipFill rotWithShape="1">
          <a:blip r:embed="rId9">
            <a:alphaModFix/>
          </a:blip>
          <a:srcRect/>
          <a:stretch/>
        </p:blipFill>
        <p:spPr>
          <a:xfrm>
            <a:off x="1347025" y="3713567"/>
            <a:ext cx="591700" cy="409988"/>
          </a:xfrm>
          <a:prstGeom prst="rect">
            <a:avLst/>
          </a:prstGeom>
          <a:noFill/>
          <a:ln>
            <a:noFill/>
          </a:ln>
        </p:spPr>
      </p:pic>
      <p:cxnSp>
        <p:nvCxnSpPr>
          <p:cNvPr id="2101" name="Connector: Elbow 2100">
            <a:extLst>
              <a:ext uri="{FF2B5EF4-FFF2-40B4-BE49-F238E27FC236}">
                <a16:creationId xmlns:a16="http://schemas.microsoft.com/office/drawing/2014/main" id="{BF6E18DF-2CBE-DF2A-282C-F827AC792156}"/>
              </a:ext>
            </a:extLst>
          </p:cNvPr>
          <p:cNvCxnSpPr>
            <a:stCxn id="2090" idx="2"/>
            <a:endCxn id="2071" idx="3"/>
          </p:cNvCxnSpPr>
          <p:nvPr/>
        </p:nvCxnSpPr>
        <p:spPr>
          <a:xfrm rot="5400000">
            <a:off x="7976323" y="2609564"/>
            <a:ext cx="1755490" cy="91918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02" name="Straight Arrow Connector 2101">
            <a:extLst>
              <a:ext uri="{FF2B5EF4-FFF2-40B4-BE49-F238E27FC236}">
                <a16:creationId xmlns:a16="http://schemas.microsoft.com/office/drawing/2014/main" id="{D5D1CA63-F8A3-EAD8-DDD0-266906B7D413}"/>
              </a:ext>
            </a:extLst>
          </p:cNvPr>
          <p:cNvCxnSpPr>
            <a:stCxn id="2071" idx="1"/>
            <a:endCxn id="2075" idx="3"/>
          </p:cNvCxnSpPr>
          <p:nvPr/>
        </p:nvCxnSpPr>
        <p:spPr>
          <a:xfrm flipH="1" flipV="1">
            <a:off x="6496522" y="3942826"/>
            <a:ext cx="967352" cy="4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03" name="Straight Arrow Connector 2102">
            <a:extLst>
              <a:ext uri="{FF2B5EF4-FFF2-40B4-BE49-F238E27FC236}">
                <a16:creationId xmlns:a16="http://schemas.microsoft.com/office/drawing/2014/main" id="{049C90EC-A487-42B2-D821-09642E36FF07}"/>
              </a:ext>
            </a:extLst>
          </p:cNvPr>
          <p:cNvCxnSpPr/>
          <p:nvPr/>
        </p:nvCxnSpPr>
        <p:spPr>
          <a:xfrm flipH="1">
            <a:off x="1997379" y="3942826"/>
            <a:ext cx="35489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104" name="Shape 4399">
            <a:extLst>
              <a:ext uri="{FF2B5EF4-FFF2-40B4-BE49-F238E27FC236}">
                <a16:creationId xmlns:a16="http://schemas.microsoft.com/office/drawing/2014/main" id="{0DE8157C-C994-6CED-8C66-986BCBD84950}"/>
              </a:ext>
            </a:extLst>
          </p:cNvPr>
          <p:cNvGrpSpPr/>
          <p:nvPr/>
        </p:nvGrpSpPr>
        <p:grpSpPr>
          <a:xfrm>
            <a:off x="1277964" y="2885569"/>
            <a:ext cx="620315" cy="457106"/>
            <a:chOff x="415115" y="2332213"/>
            <a:chExt cx="502920" cy="502920"/>
          </a:xfrm>
        </p:grpSpPr>
        <p:sp>
          <p:nvSpPr>
            <p:cNvPr id="2105" name="Shape 4400">
              <a:extLst>
                <a:ext uri="{FF2B5EF4-FFF2-40B4-BE49-F238E27FC236}">
                  <a16:creationId xmlns:a16="http://schemas.microsoft.com/office/drawing/2014/main" id="{A0425B01-3178-FA3C-F681-10DCA93C2780}"/>
                </a:ext>
              </a:extLst>
            </p:cNvPr>
            <p:cNvSpPr/>
            <p:nvPr/>
          </p:nvSpPr>
          <p:spPr>
            <a:xfrm>
              <a:off x="415115" y="2332213"/>
              <a:ext cx="502920" cy="502920"/>
            </a:xfrm>
            <a:prstGeom prst="roundRect">
              <a:avLst>
                <a:gd name="adj" fmla="val 1674"/>
              </a:avLst>
            </a:prstGeom>
            <a:solidFill>
              <a:schemeClr val="lt1"/>
            </a:solidFill>
            <a:ln>
              <a:noFill/>
            </a:ln>
            <a:effectLst>
              <a:outerShdw blurRad="19050" dist="6350" dir="5400000" algn="ctr" rotWithShape="0">
                <a:schemeClr val="dk1">
                  <a:alpha val="44705"/>
                </a:schemeClr>
              </a:outerShdw>
            </a:effectLst>
          </p:spPr>
          <p:txBody>
            <a:bodyPr lIns="0" tIns="0" rIns="0" bIns="0" anchor="ctr" anchorCtr="0">
              <a:noAutofit/>
            </a:bodyPr>
            <a:lstStyle/>
            <a:p>
              <a:pPr>
                <a:lnSpc>
                  <a:spcPct val="121428"/>
                </a:lnSpc>
                <a:buClr>
                  <a:srgbClr val="000000"/>
                </a:buClr>
              </a:pPr>
              <a:endParaRPr sz="933">
                <a:solidFill>
                  <a:schemeClr val="dk1"/>
                </a:solidFill>
                <a:latin typeface="Roboto"/>
                <a:ea typeface="Roboto"/>
                <a:cs typeface="Roboto"/>
                <a:sym typeface="Roboto"/>
              </a:endParaRPr>
            </a:p>
          </p:txBody>
        </p:sp>
        <p:pic>
          <p:nvPicPr>
            <p:cNvPr id="2106" name="Shape 4401">
              <a:extLst>
                <a:ext uri="{FF2B5EF4-FFF2-40B4-BE49-F238E27FC236}">
                  <a16:creationId xmlns:a16="http://schemas.microsoft.com/office/drawing/2014/main" id="{44469529-70DE-4AC3-589E-107C9E123933}"/>
                </a:ext>
              </a:extLst>
            </p:cNvPr>
            <p:cNvPicPr preferRelativeResize="0"/>
            <p:nvPr/>
          </p:nvPicPr>
          <p:blipFill rotWithShape="1">
            <a:blip r:embed="rId3">
              <a:alphaModFix/>
            </a:blip>
            <a:srcRect/>
            <a:stretch/>
          </p:blipFill>
          <p:spPr>
            <a:xfrm>
              <a:off x="470089" y="2391008"/>
              <a:ext cx="429767" cy="429767"/>
            </a:xfrm>
            <a:prstGeom prst="rect">
              <a:avLst/>
            </a:prstGeom>
            <a:noFill/>
            <a:ln>
              <a:noFill/>
            </a:ln>
          </p:spPr>
        </p:pic>
      </p:grpSp>
      <p:cxnSp>
        <p:nvCxnSpPr>
          <p:cNvPr id="2107" name="Connector: Elbow 2106">
            <a:extLst>
              <a:ext uri="{FF2B5EF4-FFF2-40B4-BE49-F238E27FC236}">
                <a16:creationId xmlns:a16="http://schemas.microsoft.com/office/drawing/2014/main" id="{BF6C7EE0-3953-969B-FC17-43853F715E42}"/>
              </a:ext>
            </a:extLst>
          </p:cNvPr>
          <p:cNvCxnSpPr>
            <a:stCxn id="2105" idx="3"/>
            <a:endCxn id="2051" idx="2"/>
          </p:cNvCxnSpPr>
          <p:nvPr/>
        </p:nvCxnSpPr>
        <p:spPr>
          <a:xfrm flipV="1">
            <a:off x="1898279" y="2175352"/>
            <a:ext cx="2298359" cy="93877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08" name="Straight Arrow Connector 2107">
            <a:extLst>
              <a:ext uri="{FF2B5EF4-FFF2-40B4-BE49-F238E27FC236}">
                <a16:creationId xmlns:a16="http://schemas.microsoft.com/office/drawing/2014/main" id="{8663C378-B839-55C8-2750-FA8D36966CBA}"/>
              </a:ext>
            </a:extLst>
          </p:cNvPr>
          <p:cNvCxnSpPr/>
          <p:nvPr/>
        </p:nvCxnSpPr>
        <p:spPr>
          <a:xfrm flipV="1">
            <a:off x="4196637" y="1623807"/>
            <a:ext cx="0" cy="16141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109" name="Shape 1781">
            <a:extLst>
              <a:ext uri="{FF2B5EF4-FFF2-40B4-BE49-F238E27FC236}">
                <a16:creationId xmlns:a16="http://schemas.microsoft.com/office/drawing/2014/main" id="{D7A8794D-5F73-6C79-34DD-3B2295A9C54C}"/>
              </a:ext>
            </a:extLst>
          </p:cNvPr>
          <p:cNvPicPr preferRelativeResize="0"/>
          <p:nvPr/>
        </p:nvPicPr>
        <p:blipFill rotWithShape="1">
          <a:blip r:embed="rId10"/>
          <a:srcRect t="1186" b="1186"/>
          <a:stretch/>
        </p:blipFill>
        <p:spPr>
          <a:xfrm>
            <a:off x="2404120" y="3470465"/>
            <a:ext cx="295809" cy="255210"/>
          </a:xfrm>
          <a:prstGeom prst="rect">
            <a:avLst/>
          </a:prstGeom>
          <a:noFill/>
          <a:ln>
            <a:noFill/>
          </a:ln>
        </p:spPr>
      </p:pic>
    </p:spTree>
    <p:extLst>
      <p:ext uri="{BB962C8B-B14F-4D97-AF65-F5344CB8AC3E}">
        <p14:creationId xmlns:p14="http://schemas.microsoft.com/office/powerpoint/2010/main" val="3558772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76"/>
        <p:cNvGrpSpPr/>
        <p:nvPr/>
      </p:nvGrpSpPr>
      <p:grpSpPr>
        <a:xfrm>
          <a:off x="0" y="0"/>
          <a:ext cx="0" cy="0"/>
          <a:chOff x="0" y="0"/>
          <a:chExt cx="0" cy="0"/>
        </a:xfrm>
      </p:grpSpPr>
      <p:sp>
        <p:nvSpPr>
          <p:cNvPr id="19" name="Shape 637">
            <a:extLst>
              <a:ext uri="{FF2B5EF4-FFF2-40B4-BE49-F238E27FC236}">
                <a16:creationId xmlns:a16="http://schemas.microsoft.com/office/drawing/2014/main" id="{84A956D6-210D-6411-2A39-0032520EE1DE}"/>
              </a:ext>
            </a:extLst>
          </p:cNvPr>
          <p:cNvSpPr/>
          <p:nvPr/>
        </p:nvSpPr>
        <p:spPr>
          <a:xfrm>
            <a:off x="372564" y="1516265"/>
            <a:ext cx="1620486" cy="3167051"/>
          </a:xfrm>
          <a:prstGeom prst="roundRect">
            <a:avLst>
              <a:gd name="adj" fmla="val 827"/>
            </a:avLst>
          </a:prstGeom>
          <a:solidFill>
            <a:srgbClr val="F1F8E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2078" name="Shape 2078"/>
          <p:cNvSpPr txBox="1">
            <a:spLocks noGrp="1"/>
          </p:cNvSpPr>
          <p:nvPr>
            <p:ph type="subTitle" idx="4294967295"/>
          </p:nvPr>
        </p:nvSpPr>
        <p:spPr>
          <a:xfrm>
            <a:off x="178501" y="0"/>
            <a:ext cx="11759599" cy="708400"/>
          </a:xfrm>
          <a:prstGeom prst="rect">
            <a:avLst/>
          </a:prstGeom>
          <a:noFill/>
          <a:ln>
            <a:noFill/>
          </a:ln>
        </p:spPr>
        <p:txBody>
          <a:bodyPr vert="horz" lIns="121900" tIns="121900" rIns="121900" bIns="121900" rtlCol="0" anchor="b" anchorCtr="0">
            <a:noAutofit/>
          </a:bodyPr>
          <a:lstStyle/>
          <a:p>
            <a:pPr marL="0" indent="0">
              <a:lnSpc>
                <a:spcPct val="115000"/>
              </a:lnSpc>
              <a:spcBef>
                <a:spcPts val="0"/>
              </a:spcBef>
              <a:buClr>
                <a:srgbClr val="75787A"/>
              </a:buClr>
              <a:buSzPct val="25000"/>
              <a:buNone/>
            </a:pPr>
            <a:r>
              <a:rPr lang="en-US" sz="1733" dirty="0"/>
              <a:t>Apigee X: Platform Architecture with PSC (Northbound)</a:t>
            </a:r>
          </a:p>
        </p:txBody>
      </p:sp>
      <p:sp>
        <p:nvSpPr>
          <p:cNvPr id="2079" name="Shape 2079"/>
          <p:cNvSpPr/>
          <p:nvPr/>
        </p:nvSpPr>
        <p:spPr>
          <a:xfrm>
            <a:off x="296012" y="6025583"/>
            <a:ext cx="9364532" cy="182800"/>
          </a:xfrm>
          <a:prstGeom prst="rect">
            <a:avLst/>
          </a:prstGeom>
          <a:solidFill>
            <a:srgbClr val="E0E0E0"/>
          </a:solidFill>
          <a:ln>
            <a:noFill/>
          </a:ln>
        </p:spPr>
        <p:txBody>
          <a:bodyPr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2082" name="Shape 2082"/>
          <p:cNvSpPr/>
          <p:nvPr/>
        </p:nvSpPr>
        <p:spPr>
          <a:xfrm>
            <a:off x="2687780" y="1508439"/>
            <a:ext cx="3757462" cy="3223042"/>
          </a:xfrm>
          <a:prstGeom prst="roundRect">
            <a:avLst>
              <a:gd name="adj" fmla="val 399"/>
            </a:avLst>
          </a:prstGeom>
          <a:solidFill>
            <a:srgbClr val="F6F6F6"/>
          </a:solidFill>
          <a:ln>
            <a:noFill/>
          </a:ln>
        </p:spPr>
        <p:txBody>
          <a:bodyPr lIns="121900" tIns="121900" rIns="121900" bIns="121900" anchor="ctr" anchorCtr="0">
            <a:noAutofit/>
          </a:bodyPr>
          <a:lstStyle/>
          <a:p>
            <a:pPr>
              <a:buClr>
                <a:srgbClr val="000000"/>
              </a:buClr>
            </a:pPr>
            <a:endParaRPr sz="1867">
              <a:solidFill>
                <a:srgbClr val="000000"/>
              </a:solidFill>
              <a:latin typeface="Arial"/>
              <a:ea typeface="Arial"/>
              <a:cs typeface="Arial"/>
              <a:sym typeface="Arial"/>
            </a:endParaRPr>
          </a:p>
        </p:txBody>
      </p:sp>
      <p:sp>
        <p:nvSpPr>
          <p:cNvPr id="2109" name="Shape 2109"/>
          <p:cNvSpPr/>
          <p:nvPr/>
        </p:nvSpPr>
        <p:spPr>
          <a:xfrm>
            <a:off x="296012" y="930235"/>
            <a:ext cx="9364532" cy="365600"/>
          </a:xfrm>
          <a:prstGeom prst="roundRect">
            <a:avLst>
              <a:gd name="adj" fmla="val 1674"/>
            </a:avLst>
          </a:prstGeom>
          <a:solidFill>
            <a:srgbClr val="519BF7"/>
          </a:solidFill>
          <a:ln>
            <a:noFill/>
          </a:ln>
          <a:effectLst>
            <a:outerShdw blurRad="38100" dist="38100" dir="5400000" sx="99000" sy="99000" algn="ctr" rotWithShape="0">
              <a:srgbClr val="000000">
                <a:alpha val="15690"/>
              </a:srgbClr>
            </a:outerShdw>
          </a:effectLst>
        </p:spPr>
        <p:txBody>
          <a:bodyPr lIns="609600" tIns="85344" rIns="0" bIns="0" anchor="t" anchorCtr="0">
            <a:noAutofit/>
          </a:bodyPr>
          <a:lstStyle/>
          <a:p>
            <a:pPr>
              <a:spcBef>
                <a:spcPts val="667"/>
              </a:spcBef>
              <a:buClr>
                <a:srgbClr val="FFFFFF"/>
              </a:buClr>
              <a:buSzPct val="25000"/>
            </a:pPr>
            <a:r>
              <a:rPr lang="en-US" sz="1133" dirty="0">
                <a:solidFill>
                  <a:srgbClr val="FFFFFF"/>
                </a:solidFill>
                <a:latin typeface="Roboto"/>
                <a:ea typeface="Roboto"/>
                <a:cs typeface="Roboto"/>
                <a:sym typeface="Roboto"/>
              </a:rPr>
              <a:t>Internet (HTTPS) -&gt; Load Balancer -&gt; PSC NEG -&gt; Service Attachment -&gt; Apigee X (HTTPS)</a:t>
            </a:r>
          </a:p>
        </p:txBody>
      </p:sp>
      <p:grpSp>
        <p:nvGrpSpPr>
          <p:cNvPr id="2" name="Shape 4399">
            <a:extLst>
              <a:ext uri="{FF2B5EF4-FFF2-40B4-BE49-F238E27FC236}">
                <a16:creationId xmlns:a16="http://schemas.microsoft.com/office/drawing/2014/main" id="{C6684FDD-4B7B-46C2-156B-9CF1DE92F8F3}"/>
              </a:ext>
            </a:extLst>
          </p:cNvPr>
          <p:cNvGrpSpPr/>
          <p:nvPr/>
        </p:nvGrpSpPr>
        <p:grpSpPr>
          <a:xfrm>
            <a:off x="645453" y="2944903"/>
            <a:ext cx="688918" cy="787963"/>
            <a:chOff x="433514" y="2354433"/>
            <a:chExt cx="502920" cy="502920"/>
          </a:xfrm>
        </p:grpSpPr>
        <p:sp>
          <p:nvSpPr>
            <p:cNvPr id="3" name="Shape 4400">
              <a:extLst>
                <a:ext uri="{FF2B5EF4-FFF2-40B4-BE49-F238E27FC236}">
                  <a16:creationId xmlns:a16="http://schemas.microsoft.com/office/drawing/2014/main" id="{5FB7E989-20A0-EBB7-6879-3249EDFFD902}"/>
                </a:ext>
              </a:extLst>
            </p:cNvPr>
            <p:cNvSpPr/>
            <p:nvPr/>
          </p:nvSpPr>
          <p:spPr>
            <a:xfrm>
              <a:off x="433514" y="2354433"/>
              <a:ext cx="502920" cy="502920"/>
            </a:xfrm>
            <a:prstGeom prst="roundRect">
              <a:avLst>
                <a:gd name="adj" fmla="val 1674"/>
              </a:avLst>
            </a:prstGeom>
            <a:solidFill>
              <a:schemeClr val="lt1"/>
            </a:solidFill>
            <a:ln>
              <a:noFill/>
            </a:ln>
            <a:effectLst>
              <a:outerShdw blurRad="19050" dist="6350" dir="5400000" algn="ctr" rotWithShape="0">
                <a:schemeClr val="dk1">
                  <a:alpha val="44705"/>
                </a:schemeClr>
              </a:outerShdw>
            </a:effectLst>
          </p:spPr>
          <p:txBody>
            <a:bodyPr lIns="0" tIns="0" rIns="0" bIns="0" anchor="ctr" anchorCtr="0">
              <a:noAutofit/>
            </a:bodyPr>
            <a:lstStyle/>
            <a:p>
              <a:pPr>
                <a:lnSpc>
                  <a:spcPct val="121428"/>
                </a:lnSpc>
                <a:buClr>
                  <a:srgbClr val="000000"/>
                </a:buClr>
              </a:pPr>
              <a:endParaRPr sz="933">
                <a:solidFill>
                  <a:schemeClr val="dk1"/>
                </a:solidFill>
                <a:latin typeface="Roboto"/>
                <a:ea typeface="Roboto"/>
                <a:cs typeface="Roboto"/>
                <a:sym typeface="Roboto"/>
              </a:endParaRPr>
            </a:p>
          </p:txBody>
        </p:sp>
        <p:pic>
          <p:nvPicPr>
            <p:cNvPr id="4" name="Shape 4401">
              <a:extLst>
                <a:ext uri="{FF2B5EF4-FFF2-40B4-BE49-F238E27FC236}">
                  <a16:creationId xmlns:a16="http://schemas.microsoft.com/office/drawing/2014/main" id="{CFEEF5DD-2798-6D47-E478-D3155A427C98}"/>
                </a:ext>
              </a:extLst>
            </p:cNvPr>
            <p:cNvPicPr preferRelativeResize="0"/>
            <p:nvPr/>
          </p:nvPicPr>
          <p:blipFill rotWithShape="1">
            <a:blip r:embed="rId3">
              <a:alphaModFix/>
            </a:blip>
            <a:srcRect/>
            <a:stretch/>
          </p:blipFill>
          <p:spPr>
            <a:xfrm>
              <a:off x="470089" y="2391008"/>
              <a:ext cx="429767" cy="429767"/>
            </a:xfrm>
            <a:prstGeom prst="rect">
              <a:avLst/>
            </a:prstGeom>
            <a:noFill/>
            <a:ln>
              <a:noFill/>
            </a:ln>
          </p:spPr>
        </p:pic>
      </p:grpSp>
      <p:cxnSp>
        <p:nvCxnSpPr>
          <p:cNvPr id="5" name="Shape 4409">
            <a:extLst>
              <a:ext uri="{FF2B5EF4-FFF2-40B4-BE49-F238E27FC236}">
                <a16:creationId xmlns:a16="http://schemas.microsoft.com/office/drawing/2014/main" id="{A422C315-B202-CF81-AA91-0B2A79659793}"/>
              </a:ext>
            </a:extLst>
          </p:cNvPr>
          <p:cNvCxnSpPr>
            <a:cxnSpLocks/>
            <a:stCxn id="3" idx="3"/>
            <a:endCxn id="7" idx="1"/>
          </p:cNvCxnSpPr>
          <p:nvPr/>
        </p:nvCxnSpPr>
        <p:spPr>
          <a:xfrm flipV="1">
            <a:off x="1334371" y="3330710"/>
            <a:ext cx="1738835" cy="8175"/>
          </a:xfrm>
          <a:prstGeom prst="straightConnector1">
            <a:avLst/>
          </a:prstGeom>
          <a:noFill/>
          <a:ln w="9525" cap="flat" cmpd="sng">
            <a:solidFill>
              <a:srgbClr val="3A7DF0"/>
            </a:solidFill>
            <a:prstDash val="solid"/>
            <a:round/>
            <a:headEnd type="none" w="med" len="med"/>
            <a:tailEnd type="triangle" w="med" len="med"/>
          </a:ln>
        </p:spPr>
      </p:cxnSp>
      <p:grpSp>
        <p:nvGrpSpPr>
          <p:cNvPr id="6" name="Shape 4412">
            <a:extLst>
              <a:ext uri="{FF2B5EF4-FFF2-40B4-BE49-F238E27FC236}">
                <a16:creationId xmlns:a16="http://schemas.microsoft.com/office/drawing/2014/main" id="{06EC5BCC-5343-83FD-1F3D-93C5B88F9FE5}"/>
              </a:ext>
            </a:extLst>
          </p:cNvPr>
          <p:cNvGrpSpPr/>
          <p:nvPr/>
        </p:nvGrpSpPr>
        <p:grpSpPr>
          <a:xfrm>
            <a:off x="3073206" y="3139610"/>
            <a:ext cx="1262125" cy="382200"/>
            <a:chOff x="1790611" y="2719167"/>
            <a:chExt cx="933900" cy="382200"/>
          </a:xfrm>
        </p:grpSpPr>
        <p:sp>
          <p:nvSpPr>
            <p:cNvPr id="7" name="Shape 4410">
              <a:extLst>
                <a:ext uri="{FF2B5EF4-FFF2-40B4-BE49-F238E27FC236}">
                  <a16:creationId xmlns:a16="http://schemas.microsoft.com/office/drawing/2014/main" id="{D087CAF5-4923-D6D8-1498-5469CD8D3808}"/>
                </a:ext>
              </a:extLst>
            </p:cNvPr>
            <p:cNvSpPr/>
            <p:nvPr/>
          </p:nvSpPr>
          <p:spPr>
            <a:xfrm>
              <a:off x="1790611" y="2719167"/>
              <a:ext cx="9339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573000" tIns="97533" rIns="60933" bIns="97533" anchor="ctr" anchorCtr="0">
              <a:noAutofit/>
            </a:bodyPr>
            <a:lstStyle/>
            <a:p>
              <a:pPr>
                <a:lnSpc>
                  <a:spcPct val="121428"/>
                </a:lnSpc>
                <a:spcBef>
                  <a:spcPts val="267"/>
                </a:spcBef>
                <a:buClr>
                  <a:srgbClr val="757575"/>
                </a:buClr>
                <a:buSzPct val="25000"/>
              </a:pPr>
              <a:r>
                <a:rPr lang="en-US" sz="700" dirty="0">
                  <a:solidFill>
                    <a:srgbClr val="757575"/>
                  </a:solidFill>
                  <a:latin typeface="Roboto"/>
                  <a:ea typeface="Roboto"/>
                  <a:cs typeface="Roboto"/>
                  <a:sym typeface="Roboto"/>
                </a:rPr>
                <a:t>Load Balancer</a:t>
              </a:r>
            </a:p>
          </p:txBody>
        </p:sp>
        <p:pic>
          <p:nvPicPr>
            <p:cNvPr id="8" name="Shape 4413" descr="Cloud-Load-Balancing.png">
              <a:extLst>
                <a:ext uri="{FF2B5EF4-FFF2-40B4-BE49-F238E27FC236}">
                  <a16:creationId xmlns:a16="http://schemas.microsoft.com/office/drawing/2014/main" id="{BBBC018A-0875-8BFB-52BD-3D9936310D7C}"/>
                </a:ext>
              </a:extLst>
            </p:cNvPr>
            <p:cNvPicPr preferRelativeResize="0"/>
            <p:nvPr/>
          </p:nvPicPr>
          <p:blipFill rotWithShape="1">
            <a:blip r:embed="rId4">
              <a:alphaModFix/>
            </a:blip>
            <a:srcRect t="5036" b="5027"/>
            <a:stretch/>
          </p:blipFill>
          <p:spPr>
            <a:xfrm>
              <a:off x="1835316" y="2787521"/>
              <a:ext cx="218992" cy="246600"/>
            </a:xfrm>
            <a:prstGeom prst="rect">
              <a:avLst/>
            </a:prstGeom>
            <a:noFill/>
            <a:ln>
              <a:noFill/>
            </a:ln>
          </p:spPr>
        </p:pic>
      </p:grpSp>
      <p:sp>
        <p:nvSpPr>
          <p:cNvPr id="9" name="Shape 646">
            <a:extLst>
              <a:ext uri="{FF2B5EF4-FFF2-40B4-BE49-F238E27FC236}">
                <a16:creationId xmlns:a16="http://schemas.microsoft.com/office/drawing/2014/main" id="{D23EA455-2E64-92CC-41B1-6C566E5117AB}"/>
              </a:ext>
            </a:extLst>
          </p:cNvPr>
          <p:cNvSpPr/>
          <p:nvPr/>
        </p:nvSpPr>
        <p:spPr>
          <a:xfrm>
            <a:off x="6737009" y="1514435"/>
            <a:ext cx="2871534" cy="3168881"/>
          </a:xfrm>
          <a:prstGeom prst="roundRect">
            <a:avLst>
              <a:gd name="adj" fmla="val 827"/>
            </a:avLst>
          </a:prstGeom>
          <a:solidFill>
            <a:srgbClr val="FFEBEE"/>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10" name="Shape 647">
            <a:extLst>
              <a:ext uri="{FF2B5EF4-FFF2-40B4-BE49-F238E27FC236}">
                <a16:creationId xmlns:a16="http://schemas.microsoft.com/office/drawing/2014/main" id="{E58E9D7A-366C-4E51-EA98-81F54A8BDF8A}"/>
              </a:ext>
            </a:extLst>
          </p:cNvPr>
          <p:cNvSpPr txBox="1"/>
          <p:nvPr/>
        </p:nvSpPr>
        <p:spPr>
          <a:xfrm>
            <a:off x="6780041" y="1469867"/>
            <a:ext cx="2871534"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Apigee X Google Project</a:t>
            </a:r>
          </a:p>
        </p:txBody>
      </p:sp>
      <p:sp>
        <p:nvSpPr>
          <p:cNvPr id="11" name="Shape 2082">
            <a:extLst>
              <a:ext uri="{FF2B5EF4-FFF2-40B4-BE49-F238E27FC236}">
                <a16:creationId xmlns:a16="http://schemas.microsoft.com/office/drawing/2014/main" id="{5D01BB02-6BCA-ECB8-9905-2BA6B55BE0F7}"/>
              </a:ext>
            </a:extLst>
          </p:cNvPr>
          <p:cNvSpPr/>
          <p:nvPr/>
        </p:nvSpPr>
        <p:spPr>
          <a:xfrm>
            <a:off x="2687780" y="5581981"/>
            <a:ext cx="3757462" cy="365601"/>
          </a:xfrm>
          <a:prstGeom prst="roundRect">
            <a:avLst>
              <a:gd name="adj" fmla="val 399"/>
            </a:avLst>
          </a:prstGeom>
          <a:solidFill>
            <a:srgbClr val="F6F6F6"/>
          </a:solidFill>
          <a:ln>
            <a:noFill/>
          </a:ln>
        </p:spPr>
        <p:txBody>
          <a:bodyPr lIns="121900" tIns="121900" rIns="121900" bIns="121900" anchor="ctr" anchorCtr="0">
            <a:noAutofit/>
          </a:bodyPr>
          <a:lstStyle/>
          <a:p>
            <a:pPr>
              <a:buClr>
                <a:srgbClr val="000000"/>
              </a:buClr>
            </a:pPr>
            <a:endParaRPr sz="1867">
              <a:solidFill>
                <a:srgbClr val="000000"/>
              </a:solidFill>
              <a:latin typeface="Arial"/>
              <a:ea typeface="Arial"/>
              <a:cs typeface="Arial"/>
              <a:sym typeface="Arial"/>
            </a:endParaRPr>
          </a:p>
        </p:txBody>
      </p:sp>
      <p:sp>
        <p:nvSpPr>
          <p:cNvPr id="12" name="Shape 646">
            <a:extLst>
              <a:ext uri="{FF2B5EF4-FFF2-40B4-BE49-F238E27FC236}">
                <a16:creationId xmlns:a16="http://schemas.microsoft.com/office/drawing/2014/main" id="{3E1563A9-0200-C84E-7F45-65F4BFAB73E0}"/>
              </a:ext>
            </a:extLst>
          </p:cNvPr>
          <p:cNvSpPr/>
          <p:nvPr/>
        </p:nvSpPr>
        <p:spPr>
          <a:xfrm>
            <a:off x="6737009" y="5581981"/>
            <a:ext cx="2871534" cy="365602"/>
          </a:xfrm>
          <a:prstGeom prst="roundRect">
            <a:avLst>
              <a:gd name="adj" fmla="val 827"/>
            </a:avLst>
          </a:prstGeom>
          <a:solidFill>
            <a:srgbClr val="FFEBEE"/>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13" name="Shape 647">
            <a:extLst>
              <a:ext uri="{FF2B5EF4-FFF2-40B4-BE49-F238E27FC236}">
                <a16:creationId xmlns:a16="http://schemas.microsoft.com/office/drawing/2014/main" id="{5E9801B1-2624-0CC5-97BA-0B92B5812FFC}"/>
              </a:ext>
            </a:extLst>
          </p:cNvPr>
          <p:cNvSpPr txBox="1"/>
          <p:nvPr/>
        </p:nvSpPr>
        <p:spPr>
          <a:xfrm>
            <a:off x="6789010" y="5614463"/>
            <a:ext cx="2871534" cy="232028"/>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750" b="0" i="0" u="none" strike="noStrike" cap="none" dirty="0">
                <a:solidFill>
                  <a:srgbClr val="9E9E9E"/>
                </a:solidFill>
                <a:latin typeface="Roboto"/>
                <a:ea typeface="Roboto"/>
                <a:cs typeface="Roboto"/>
                <a:sym typeface="Roboto"/>
              </a:rPr>
              <a:t>Google VPC</a:t>
            </a:r>
            <a:endParaRPr lang="en-US" sz="600" b="0" i="0" u="none" strike="noStrike" cap="none" dirty="0">
              <a:solidFill>
                <a:srgbClr val="9E9E9E"/>
              </a:solidFill>
              <a:latin typeface="Roboto"/>
              <a:ea typeface="Roboto"/>
              <a:cs typeface="Roboto"/>
              <a:sym typeface="Roboto"/>
            </a:endParaRPr>
          </a:p>
        </p:txBody>
      </p:sp>
      <p:sp>
        <p:nvSpPr>
          <p:cNvPr id="14" name="Shape 647">
            <a:extLst>
              <a:ext uri="{FF2B5EF4-FFF2-40B4-BE49-F238E27FC236}">
                <a16:creationId xmlns:a16="http://schemas.microsoft.com/office/drawing/2014/main" id="{EF23E183-D366-B875-5FF1-5F39A5959E7E}"/>
              </a:ext>
            </a:extLst>
          </p:cNvPr>
          <p:cNvSpPr txBox="1"/>
          <p:nvPr/>
        </p:nvSpPr>
        <p:spPr>
          <a:xfrm>
            <a:off x="2749334" y="5652842"/>
            <a:ext cx="2871534" cy="209987"/>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750" b="0" i="0" u="none" strike="noStrike" cap="none" dirty="0">
                <a:solidFill>
                  <a:srgbClr val="9E9E9E"/>
                </a:solidFill>
                <a:latin typeface="Roboto"/>
                <a:ea typeface="Roboto"/>
                <a:cs typeface="Roboto"/>
                <a:sym typeface="Roboto"/>
              </a:rPr>
              <a:t>Client VPC</a:t>
            </a:r>
            <a:endParaRPr lang="en-US" sz="600" b="0" i="0" u="none" strike="noStrike" cap="none" dirty="0">
              <a:solidFill>
                <a:srgbClr val="9E9E9E"/>
              </a:solidFill>
              <a:latin typeface="Roboto"/>
              <a:ea typeface="Roboto"/>
              <a:cs typeface="Roboto"/>
              <a:sym typeface="Roboto"/>
            </a:endParaRPr>
          </a:p>
        </p:txBody>
      </p:sp>
      <p:sp>
        <p:nvSpPr>
          <p:cNvPr id="15" name="Shape 647">
            <a:extLst>
              <a:ext uri="{FF2B5EF4-FFF2-40B4-BE49-F238E27FC236}">
                <a16:creationId xmlns:a16="http://schemas.microsoft.com/office/drawing/2014/main" id="{99CEDC6B-2B50-F328-1217-0F7730642F18}"/>
              </a:ext>
            </a:extLst>
          </p:cNvPr>
          <p:cNvSpPr txBox="1"/>
          <p:nvPr/>
        </p:nvSpPr>
        <p:spPr>
          <a:xfrm>
            <a:off x="2783397" y="1457986"/>
            <a:ext cx="2871534"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Client Google Project</a:t>
            </a:r>
          </a:p>
          <a:p>
            <a:pPr marL="0" marR="0" lvl="0" indent="0" algn="l" rtl="0">
              <a:lnSpc>
                <a:spcPts val="1000"/>
              </a:lnSpc>
              <a:spcBef>
                <a:spcPts val="0"/>
              </a:spcBef>
              <a:spcAft>
                <a:spcPts val="0"/>
              </a:spcAft>
              <a:buClr>
                <a:srgbClr val="9E9E9E"/>
              </a:buClr>
              <a:buSzPct val="25000"/>
              <a:buFont typeface="Roboto"/>
              <a:buNone/>
            </a:pPr>
            <a:r>
              <a:rPr lang="en-US" sz="900" b="1" dirty="0">
                <a:solidFill>
                  <a:srgbClr val="9E9E9E"/>
                </a:solidFill>
                <a:latin typeface="Roboto"/>
                <a:ea typeface="Roboto"/>
                <a:cs typeface="Roboto"/>
                <a:sym typeface="Roboto"/>
              </a:rPr>
              <a:t>(Non-peered)</a:t>
            </a:r>
            <a:endParaRPr lang="en-US" sz="900" b="1" i="0" u="none" strike="noStrike" cap="none" dirty="0">
              <a:solidFill>
                <a:srgbClr val="9E9E9E"/>
              </a:solidFill>
              <a:latin typeface="Roboto"/>
              <a:ea typeface="Roboto"/>
              <a:cs typeface="Roboto"/>
              <a:sym typeface="Roboto"/>
            </a:endParaRPr>
          </a:p>
        </p:txBody>
      </p:sp>
      <p:sp>
        <p:nvSpPr>
          <p:cNvPr id="16" name="Shape 1786">
            <a:extLst>
              <a:ext uri="{FF2B5EF4-FFF2-40B4-BE49-F238E27FC236}">
                <a16:creationId xmlns:a16="http://schemas.microsoft.com/office/drawing/2014/main" id="{4A00A2D4-D8C3-2786-14BF-28196DEE9BA3}"/>
              </a:ext>
            </a:extLst>
          </p:cNvPr>
          <p:cNvSpPr/>
          <p:nvPr/>
        </p:nvSpPr>
        <p:spPr>
          <a:xfrm>
            <a:off x="5070858" y="3689880"/>
            <a:ext cx="9306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13333"/>
              </a:lnSpc>
              <a:spcBef>
                <a:spcPts val="0"/>
              </a:spcBef>
              <a:spcAft>
                <a:spcPts val="0"/>
              </a:spcAft>
              <a:buClr>
                <a:srgbClr val="212121"/>
              </a:buClr>
              <a:buSzPct val="25000"/>
              <a:buFont typeface="Roboto"/>
              <a:buNone/>
            </a:pPr>
            <a:r>
              <a:rPr lang="en-US" sz="750" b="0" i="0" u="none" strike="noStrike" cap="none" dirty="0">
                <a:solidFill>
                  <a:srgbClr val="212121"/>
                </a:solidFill>
                <a:latin typeface="Roboto"/>
                <a:ea typeface="Roboto"/>
                <a:cs typeface="Roboto"/>
                <a:sym typeface="Roboto"/>
              </a:rPr>
              <a:t>PSC-NEG</a:t>
            </a:r>
            <a:endParaRPr lang="en-US" sz="700" dirty="0">
              <a:solidFill>
                <a:srgbClr val="757575"/>
              </a:solidFill>
              <a:latin typeface="Roboto"/>
              <a:ea typeface="Roboto"/>
              <a:cs typeface="Roboto"/>
              <a:sym typeface="Roboto"/>
            </a:endParaRPr>
          </a:p>
        </p:txBody>
      </p:sp>
      <p:pic>
        <p:nvPicPr>
          <p:cNvPr id="17" name="Shape 1787" descr="Generic-GCP.png">
            <a:extLst>
              <a:ext uri="{FF2B5EF4-FFF2-40B4-BE49-F238E27FC236}">
                <a16:creationId xmlns:a16="http://schemas.microsoft.com/office/drawing/2014/main" id="{57CF7A50-F436-F796-9305-D1FABEFA81DC}"/>
              </a:ext>
            </a:extLst>
          </p:cNvPr>
          <p:cNvPicPr preferRelativeResize="0"/>
          <p:nvPr/>
        </p:nvPicPr>
        <p:blipFill rotWithShape="1">
          <a:blip r:embed="rId5">
            <a:alphaModFix/>
          </a:blip>
          <a:srcRect t="5076" b="5076"/>
          <a:stretch/>
        </p:blipFill>
        <p:spPr>
          <a:xfrm>
            <a:off x="5113590" y="3745856"/>
            <a:ext cx="274200" cy="246600"/>
          </a:xfrm>
          <a:prstGeom prst="rect">
            <a:avLst/>
          </a:prstGeom>
          <a:noFill/>
          <a:ln>
            <a:noFill/>
          </a:ln>
        </p:spPr>
      </p:pic>
      <p:sp>
        <p:nvSpPr>
          <p:cNvPr id="20" name="Shape 638">
            <a:extLst>
              <a:ext uri="{FF2B5EF4-FFF2-40B4-BE49-F238E27FC236}">
                <a16:creationId xmlns:a16="http://schemas.microsoft.com/office/drawing/2014/main" id="{3BEF973E-EDE9-E1C5-4828-644B28B7E153}"/>
              </a:ext>
            </a:extLst>
          </p:cNvPr>
          <p:cNvSpPr txBox="1"/>
          <p:nvPr/>
        </p:nvSpPr>
        <p:spPr>
          <a:xfrm>
            <a:off x="372564" y="1516265"/>
            <a:ext cx="1296823" cy="457106"/>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 Consumer</a:t>
            </a:r>
          </a:p>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(Internet)</a:t>
            </a:r>
          </a:p>
        </p:txBody>
      </p:sp>
      <p:grpSp>
        <p:nvGrpSpPr>
          <p:cNvPr id="21" name="Shape 1779">
            <a:extLst>
              <a:ext uri="{FF2B5EF4-FFF2-40B4-BE49-F238E27FC236}">
                <a16:creationId xmlns:a16="http://schemas.microsoft.com/office/drawing/2014/main" id="{FEFB31B3-8EDC-0463-D153-8A2B48E66EB0}"/>
              </a:ext>
            </a:extLst>
          </p:cNvPr>
          <p:cNvGrpSpPr/>
          <p:nvPr/>
        </p:nvGrpSpPr>
        <p:grpSpPr>
          <a:xfrm>
            <a:off x="6945894" y="3685674"/>
            <a:ext cx="950213" cy="395544"/>
            <a:chOff x="469795" y="2972893"/>
            <a:chExt cx="880800" cy="382200"/>
          </a:xfrm>
        </p:grpSpPr>
        <p:sp>
          <p:nvSpPr>
            <p:cNvPr id="22" name="Shape 1780">
              <a:extLst>
                <a:ext uri="{FF2B5EF4-FFF2-40B4-BE49-F238E27FC236}">
                  <a16:creationId xmlns:a16="http://schemas.microsoft.com/office/drawing/2014/main" id="{7EB9EBB4-1240-7AFE-E796-EB53B909B2BB}"/>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Service Attachment</a:t>
              </a:r>
            </a:p>
          </p:txBody>
        </p:sp>
        <p:pic>
          <p:nvPicPr>
            <p:cNvPr id="23" name="Shape 1781" descr="Cloud-Endpoints.png">
              <a:extLst>
                <a:ext uri="{FF2B5EF4-FFF2-40B4-BE49-F238E27FC236}">
                  <a16:creationId xmlns:a16="http://schemas.microsoft.com/office/drawing/2014/main" id="{CDA22489-CE7B-8C57-E95D-C58A214E5D8E}"/>
                </a:ext>
              </a:extLst>
            </p:cNvPr>
            <p:cNvPicPr preferRelativeResize="0"/>
            <p:nvPr/>
          </p:nvPicPr>
          <p:blipFill rotWithShape="1">
            <a:blip r:embed="rId6">
              <a:alphaModFix/>
            </a:blip>
            <a:srcRect t="5076" b="5076"/>
            <a:stretch/>
          </p:blipFill>
          <p:spPr>
            <a:xfrm>
              <a:off x="515552" y="3040183"/>
              <a:ext cx="274200" cy="246600"/>
            </a:xfrm>
            <a:prstGeom prst="rect">
              <a:avLst/>
            </a:prstGeom>
            <a:noFill/>
            <a:ln>
              <a:noFill/>
            </a:ln>
          </p:spPr>
        </p:pic>
      </p:grpSp>
      <p:grpSp>
        <p:nvGrpSpPr>
          <p:cNvPr id="24" name="Shape 1779">
            <a:extLst>
              <a:ext uri="{FF2B5EF4-FFF2-40B4-BE49-F238E27FC236}">
                <a16:creationId xmlns:a16="http://schemas.microsoft.com/office/drawing/2014/main" id="{A5F01E65-3D87-A845-B448-EBA681EFEED2}"/>
              </a:ext>
            </a:extLst>
          </p:cNvPr>
          <p:cNvGrpSpPr/>
          <p:nvPr/>
        </p:nvGrpSpPr>
        <p:grpSpPr>
          <a:xfrm>
            <a:off x="8346186" y="3687465"/>
            <a:ext cx="950213" cy="393192"/>
            <a:chOff x="469795" y="2972893"/>
            <a:chExt cx="880800" cy="382200"/>
          </a:xfrm>
        </p:grpSpPr>
        <p:sp>
          <p:nvSpPr>
            <p:cNvPr id="25" name="Shape 1780">
              <a:extLst>
                <a:ext uri="{FF2B5EF4-FFF2-40B4-BE49-F238E27FC236}">
                  <a16:creationId xmlns:a16="http://schemas.microsoft.com/office/drawing/2014/main" id="{19D3C6CA-771C-ECAF-C02C-07042348C99A}"/>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Apigee Runtime</a:t>
              </a:r>
            </a:p>
          </p:txBody>
        </p:sp>
        <p:pic>
          <p:nvPicPr>
            <p:cNvPr id="26" name="Shape 1781">
              <a:extLst>
                <a:ext uri="{FF2B5EF4-FFF2-40B4-BE49-F238E27FC236}">
                  <a16:creationId xmlns:a16="http://schemas.microsoft.com/office/drawing/2014/main" id="{9A92B5A3-8DFF-1360-A459-622880E83275}"/>
                </a:ext>
              </a:extLst>
            </p:cNvPr>
            <p:cNvPicPr preferRelativeResize="0"/>
            <p:nvPr/>
          </p:nvPicPr>
          <p:blipFill rotWithShape="1">
            <a:blip r:embed="rId7"/>
            <a:srcRect t="6862" b="6862"/>
            <a:stretch/>
          </p:blipFill>
          <p:spPr>
            <a:xfrm>
              <a:off x="515553" y="3040183"/>
              <a:ext cx="235069" cy="247089"/>
            </a:xfrm>
            <a:prstGeom prst="rect">
              <a:avLst/>
            </a:prstGeom>
            <a:noFill/>
            <a:ln>
              <a:noFill/>
            </a:ln>
          </p:spPr>
        </p:pic>
      </p:grpSp>
      <p:cxnSp>
        <p:nvCxnSpPr>
          <p:cNvPr id="28" name="Shape 4409">
            <a:extLst>
              <a:ext uri="{FF2B5EF4-FFF2-40B4-BE49-F238E27FC236}">
                <a16:creationId xmlns:a16="http://schemas.microsoft.com/office/drawing/2014/main" id="{BC34539F-E3AA-E6AC-7DED-BB0E8D7D6C23}"/>
              </a:ext>
            </a:extLst>
          </p:cNvPr>
          <p:cNvCxnSpPr>
            <a:cxnSpLocks/>
            <a:stCxn id="7" idx="3"/>
            <a:endCxn id="16" idx="1"/>
          </p:cNvCxnSpPr>
          <p:nvPr/>
        </p:nvCxnSpPr>
        <p:spPr>
          <a:xfrm>
            <a:off x="4335331" y="3330710"/>
            <a:ext cx="735527" cy="550270"/>
          </a:xfrm>
          <a:prstGeom prst="straightConnector1">
            <a:avLst/>
          </a:prstGeom>
          <a:noFill/>
          <a:ln w="9525" cap="flat" cmpd="sng">
            <a:solidFill>
              <a:srgbClr val="3A7DF0"/>
            </a:solidFill>
            <a:prstDash val="solid"/>
            <a:round/>
            <a:headEnd type="none" w="med" len="med"/>
            <a:tailEnd type="triangle" w="med" len="med"/>
          </a:ln>
        </p:spPr>
      </p:cxnSp>
      <p:cxnSp>
        <p:nvCxnSpPr>
          <p:cNvPr id="30" name="Shape 4409">
            <a:extLst>
              <a:ext uri="{FF2B5EF4-FFF2-40B4-BE49-F238E27FC236}">
                <a16:creationId xmlns:a16="http://schemas.microsoft.com/office/drawing/2014/main" id="{0F7D55B0-CCF0-57B4-E27A-11B63D288BAC}"/>
              </a:ext>
            </a:extLst>
          </p:cNvPr>
          <p:cNvCxnSpPr>
            <a:cxnSpLocks/>
            <a:stCxn id="16" idx="3"/>
            <a:endCxn id="22" idx="1"/>
          </p:cNvCxnSpPr>
          <p:nvPr/>
        </p:nvCxnSpPr>
        <p:spPr>
          <a:xfrm>
            <a:off x="6001458" y="3880980"/>
            <a:ext cx="944436" cy="2466"/>
          </a:xfrm>
          <a:prstGeom prst="straightConnector1">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4" name="Shape 4409">
            <a:extLst>
              <a:ext uri="{FF2B5EF4-FFF2-40B4-BE49-F238E27FC236}">
                <a16:creationId xmlns:a16="http://schemas.microsoft.com/office/drawing/2014/main" id="{2EDCEAD5-6B88-7165-79EF-118BC68EE746}"/>
              </a:ext>
            </a:extLst>
          </p:cNvPr>
          <p:cNvCxnSpPr>
            <a:cxnSpLocks/>
            <a:stCxn id="22" idx="3"/>
            <a:endCxn id="25" idx="1"/>
          </p:cNvCxnSpPr>
          <p:nvPr/>
        </p:nvCxnSpPr>
        <p:spPr>
          <a:xfrm>
            <a:off x="7896107" y="3883446"/>
            <a:ext cx="450079" cy="615"/>
          </a:xfrm>
          <a:prstGeom prst="straightConnector1">
            <a:avLst/>
          </a:prstGeom>
          <a:noFill/>
          <a:ln w="9525" cap="flat" cmpd="sng">
            <a:solidFill>
              <a:srgbClr val="3A7DF0"/>
            </a:solidFill>
            <a:prstDash val="solid"/>
            <a:round/>
            <a:headEnd type="none" w="med" len="med"/>
            <a:tailEnd type="triangle" w="med" len="med"/>
          </a:ln>
        </p:spPr>
      </p:cxnSp>
      <p:sp>
        <p:nvSpPr>
          <p:cNvPr id="45" name="TextBox 44">
            <a:extLst>
              <a:ext uri="{FF2B5EF4-FFF2-40B4-BE49-F238E27FC236}">
                <a16:creationId xmlns:a16="http://schemas.microsoft.com/office/drawing/2014/main" id="{EB921625-BAE6-B6BD-C89A-C3BCE8B84E4C}"/>
              </a:ext>
            </a:extLst>
          </p:cNvPr>
          <p:cNvSpPr txBox="1"/>
          <p:nvPr/>
        </p:nvSpPr>
        <p:spPr>
          <a:xfrm>
            <a:off x="9783817" y="930235"/>
            <a:ext cx="2209619" cy="4524315"/>
          </a:xfrm>
          <a:prstGeom prst="rect">
            <a:avLst/>
          </a:prstGeom>
          <a:noFill/>
        </p:spPr>
        <p:txBody>
          <a:bodyPr wrap="square">
            <a:spAutoFit/>
          </a:bodyPr>
          <a:lstStyle/>
          <a:p>
            <a:r>
              <a:rPr lang="en-US" sz="1200" dirty="0">
                <a:effectLst/>
                <a:latin typeface="Helvetica" pitchFamily="2" charset="0"/>
              </a:rPr>
              <a:t>Key points</a:t>
            </a:r>
          </a:p>
          <a:p>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VPC containing the PSC NEG does not need to be peered to the Google VPC.</a:t>
            </a:r>
          </a:p>
          <a:p>
            <a:pPr marL="171450" indent="-171450">
              <a:buFont typeface="Arial" panose="020B0604020202020204" pitchFamily="34" charset="0"/>
              <a:buChar char="•"/>
            </a:pPr>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PSC NEG can be used with either TCP (L4) or HTTPS (L7) LB.</a:t>
            </a:r>
          </a:p>
          <a:p>
            <a:pPr marL="171450" indent="-171450">
              <a:buFont typeface="Arial" panose="020B0604020202020204" pitchFamily="34" charset="0"/>
              <a:buChar char="•"/>
            </a:pPr>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NAT is handled by PSC.</a:t>
            </a:r>
          </a:p>
          <a:p>
            <a:pPr marL="171450" indent="-171450">
              <a:buFont typeface="Arial" panose="020B0604020202020204" pitchFamily="34" charset="0"/>
              <a:buChar char="•"/>
            </a:pPr>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PSC service attachment in the Google-Managed Apigee X Tenant project is created at instance creation time.</a:t>
            </a:r>
          </a:p>
          <a:p>
            <a:pPr marL="171450" indent="-171450">
              <a:buFont typeface="Arial" panose="020B0604020202020204" pitchFamily="34" charset="0"/>
              <a:buChar char="•"/>
            </a:pPr>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Private Service Connect Network Endpoint Group (PSC NEG) in the same region as the runtime.</a:t>
            </a:r>
          </a:p>
          <a:p>
            <a:pPr marL="171450" indent="-171450">
              <a:buFont typeface="Arial" panose="020B0604020202020204" pitchFamily="34" charset="0"/>
              <a:buChar char="•"/>
            </a:pPr>
            <a:endParaRPr lang="en-US" sz="1200" dirty="0">
              <a:effectLst/>
              <a:latin typeface="Helvetica" pitchFamily="2" charset="0"/>
            </a:endParaRPr>
          </a:p>
          <a:p>
            <a:pPr marL="171450" indent="-171450">
              <a:buFont typeface="Arial" panose="020B0604020202020204" pitchFamily="34" charset="0"/>
              <a:buChar char="•"/>
            </a:pPr>
            <a:endParaRPr lang="en-US" sz="1200" dirty="0">
              <a:effectLst/>
              <a:latin typeface="Helvetica" pitchFamily="2" charset="0"/>
            </a:endParaRPr>
          </a:p>
        </p:txBody>
      </p:sp>
      <p:sp>
        <p:nvSpPr>
          <p:cNvPr id="46" name="Shape 637">
            <a:extLst>
              <a:ext uri="{FF2B5EF4-FFF2-40B4-BE49-F238E27FC236}">
                <a16:creationId xmlns:a16="http://schemas.microsoft.com/office/drawing/2014/main" id="{68654BDC-2FC0-F6AB-4FC8-C60BB35344B6}"/>
              </a:ext>
            </a:extLst>
          </p:cNvPr>
          <p:cNvSpPr/>
          <p:nvPr/>
        </p:nvSpPr>
        <p:spPr>
          <a:xfrm>
            <a:off x="404878" y="5581981"/>
            <a:ext cx="1588208" cy="365601"/>
          </a:xfrm>
          <a:prstGeom prst="roundRect">
            <a:avLst>
              <a:gd name="adj" fmla="val 827"/>
            </a:avLst>
          </a:prstGeom>
          <a:solidFill>
            <a:srgbClr val="F1F8E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18" name="Shape 469">
            <a:extLst>
              <a:ext uri="{FF2B5EF4-FFF2-40B4-BE49-F238E27FC236}">
                <a16:creationId xmlns:a16="http://schemas.microsoft.com/office/drawing/2014/main" id="{0BB06094-2B17-C33F-88BA-3EC9BC788A4E}"/>
              </a:ext>
            </a:extLst>
          </p:cNvPr>
          <p:cNvSpPr/>
          <p:nvPr/>
        </p:nvSpPr>
        <p:spPr>
          <a:xfrm>
            <a:off x="4940372" y="3492895"/>
            <a:ext cx="4536806" cy="1068866"/>
          </a:xfrm>
          <a:prstGeom prst="roundRect">
            <a:avLst>
              <a:gd name="adj" fmla="val 0"/>
            </a:avLst>
          </a:prstGeom>
          <a:noFill/>
          <a:ln>
            <a:solidFill>
              <a:schemeClr val="tx1"/>
            </a:solidFill>
            <a:prstDash val="dash"/>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47" name="Shape 638">
            <a:extLst>
              <a:ext uri="{FF2B5EF4-FFF2-40B4-BE49-F238E27FC236}">
                <a16:creationId xmlns:a16="http://schemas.microsoft.com/office/drawing/2014/main" id="{3EAEF810-820F-886A-64DA-64EF4B3FBDB9}"/>
              </a:ext>
            </a:extLst>
          </p:cNvPr>
          <p:cNvSpPr txBox="1"/>
          <p:nvPr/>
        </p:nvSpPr>
        <p:spPr>
          <a:xfrm>
            <a:off x="372599" y="5645661"/>
            <a:ext cx="1270992" cy="203904"/>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750" b="0" i="0" u="none" strike="noStrike" cap="none" dirty="0">
                <a:solidFill>
                  <a:srgbClr val="9E9E9E"/>
                </a:solidFill>
                <a:latin typeface="Roboto"/>
                <a:ea typeface="Roboto"/>
                <a:cs typeface="Roboto"/>
                <a:sym typeface="Roboto"/>
              </a:rPr>
              <a:t>API Consumer (Internet)</a:t>
            </a:r>
            <a:endParaRPr lang="en-US" sz="600" b="0" i="0" u="none" strike="noStrike" cap="none" dirty="0">
              <a:solidFill>
                <a:srgbClr val="9E9E9E"/>
              </a:solidFill>
              <a:latin typeface="Roboto"/>
              <a:ea typeface="Roboto"/>
              <a:cs typeface="Roboto"/>
              <a:sym typeface="Roboto"/>
            </a:endParaRPr>
          </a:p>
        </p:txBody>
      </p:sp>
      <p:sp>
        <p:nvSpPr>
          <p:cNvPr id="50" name="Shape 438">
            <a:extLst>
              <a:ext uri="{FF2B5EF4-FFF2-40B4-BE49-F238E27FC236}">
                <a16:creationId xmlns:a16="http://schemas.microsoft.com/office/drawing/2014/main" id="{F6AFA962-80C8-CBD0-65DC-E4DE2F8FC452}"/>
              </a:ext>
            </a:extLst>
          </p:cNvPr>
          <p:cNvSpPr txBox="1"/>
          <p:nvPr/>
        </p:nvSpPr>
        <p:spPr>
          <a:xfrm>
            <a:off x="3395705" y="2528640"/>
            <a:ext cx="599100" cy="250200"/>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700" b="1" dirty="0">
                <a:solidFill>
                  <a:srgbClr val="808080"/>
                </a:solidFill>
                <a:latin typeface="Open Sans"/>
                <a:ea typeface="Open Sans"/>
                <a:cs typeface="Open Sans"/>
                <a:sym typeface="Open Sans"/>
              </a:rPr>
              <a:t>Cloud Armor</a:t>
            </a:r>
            <a:endParaRPr lang="en-US" sz="700" b="1" i="0" u="none" strike="noStrike" cap="none" dirty="0">
              <a:solidFill>
                <a:srgbClr val="808080"/>
              </a:solidFill>
              <a:latin typeface="Open Sans"/>
              <a:ea typeface="Open Sans"/>
              <a:cs typeface="Open Sans"/>
              <a:sym typeface="Open Sans"/>
            </a:endParaRPr>
          </a:p>
        </p:txBody>
      </p:sp>
      <p:pic>
        <p:nvPicPr>
          <p:cNvPr id="51" name="Shape 441">
            <a:extLst>
              <a:ext uri="{FF2B5EF4-FFF2-40B4-BE49-F238E27FC236}">
                <a16:creationId xmlns:a16="http://schemas.microsoft.com/office/drawing/2014/main" id="{61F59D84-9F01-B3EB-09EB-B39BFD76A144}"/>
              </a:ext>
            </a:extLst>
          </p:cNvPr>
          <p:cNvPicPr preferRelativeResize="0"/>
          <p:nvPr/>
        </p:nvPicPr>
        <p:blipFill rotWithShape="1">
          <a:blip r:embed="rId8"/>
          <a:srcRect l="91" r="91"/>
          <a:stretch/>
        </p:blipFill>
        <p:spPr>
          <a:xfrm>
            <a:off x="3429581" y="2034986"/>
            <a:ext cx="530400" cy="476400"/>
          </a:xfrm>
          <a:prstGeom prst="rect">
            <a:avLst/>
          </a:prstGeom>
          <a:noFill/>
          <a:ln>
            <a:noFill/>
          </a:ln>
        </p:spPr>
      </p:pic>
      <p:cxnSp>
        <p:nvCxnSpPr>
          <p:cNvPr id="52" name="Shape 4409">
            <a:extLst>
              <a:ext uri="{FF2B5EF4-FFF2-40B4-BE49-F238E27FC236}">
                <a16:creationId xmlns:a16="http://schemas.microsoft.com/office/drawing/2014/main" id="{02316906-5992-5226-1708-E8FC11B4EAF7}"/>
              </a:ext>
            </a:extLst>
          </p:cNvPr>
          <p:cNvCxnSpPr>
            <a:cxnSpLocks/>
            <a:stCxn id="50" idx="2"/>
            <a:endCxn id="7" idx="0"/>
          </p:cNvCxnSpPr>
          <p:nvPr/>
        </p:nvCxnSpPr>
        <p:spPr>
          <a:xfrm>
            <a:off x="3695255" y="2778840"/>
            <a:ext cx="9014" cy="360770"/>
          </a:xfrm>
          <a:prstGeom prst="straightConnector1">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1" name="Shape 647">
            <a:extLst>
              <a:ext uri="{FF2B5EF4-FFF2-40B4-BE49-F238E27FC236}">
                <a16:creationId xmlns:a16="http://schemas.microsoft.com/office/drawing/2014/main" id="{91A48E0F-460E-83EF-84E9-EAC8BBBC3034}"/>
              </a:ext>
            </a:extLst>
          </p:cNvPr>
          <p:cNvSpPr txBox="1"/>
          <p:nvPr/>
        </p:nvSpPr>
        <p:spPr>
          <a:xfrm>
            <a:off x="4987296" y="4245555"/>
            <a:ext cx="1535177"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Region 2</a:t>
            </a:r>
          </a:p>
        </p:txBody>
      </p:sp>
      <p:sp>
        <p:nvSpPr>
          <p:cNvPr id="32" name="Shape 1786">
            <a:extLst>
              <a:ext uri="{FF2B5EF4-FFF2-40B4-BE49-F238E27FC236}">
                <a16:creationId xmlns:a16="http://schemas.microsoft.com/office/drawing/2014/main" id="{4F2962D7-D34A-721E-AF3D-93CE7E20B8D8}"/>
              </a:ext>
            </a:extLst>
          </p:cNvPr>
          <p:cNvSpPr/>
          <p:nvPr/>
        </p:nvSpPr>
        <p:spPr>
          <a:xfrm>
            <a:off x="5070858" y="2421547"/>
            <a:ext cx="9306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13333"/>
              </a:lnSpc>
              <a:spcBef>
                <a:spcPts val="0"/>
              </a:spcBef>
              <a:spcAft>
                <a:spcPts val="0"/>
              </a:spcAft>
              <a:buClr>
                <a:srgbClr val="212121"/>
              </a:buClr>
              <a:buSzPct val="25000"/>
              <a:buFont typeface="Roboto"/>
              <a:buNone/>
            </a:pPr>
            <a:r>
              <a:rPr lang="en-US" sz="750" b="0" i="0" u="none" strike="noStrike" cap="none" dirty="0">
                <a:solidFill>
                  <a:srgbClr val="212121"/>
                </a:solidFill>
                <a:latin typeface="Roboto"/>
                <a:ea typeface="Roboto"/>
                <a:cs typeface="Roboto"/>
                <a:sym typeface="Roboto"/>
              </a:rPr>
              <a:t>PSC-NEG</a:t>
            </a:r>
            <a:endParaRPr lang="en-US" sz="700" dirty="0">
              <a:solidFill>
                <a:srgbClr val="757575"/>
              </a:solidFill>
              <a:latin typeface="Roboto"/>
              <a:ea typeface="Roboto"/>
              <a:cs typeface="Roboto"/>
              <a:sym typeface="Roboto"/>
            </a:endParaRPr>
          </a:p>
        </p:txBody>
      </p:sp>
      <p:pic>
        <p:nvPicPr>
          <p:cNvPr id="33" name="Shape 1787" descr="Generic-GCP.png">
            <a:extLst>
              <a:ext uri="{FF2B5EF4-FFF2-40B4-BE49-F238E27FC236}">
                <a16:creationId xmlns:a16="http://schemas.microsoft.com/office/drawing/2014/main" id="{DB36FEE3-7C4B-4ECA-8DDD-F7A5B47571DE}"/>
              </a:ext>
            </a:extLst>
          </p:cNvPr>
          <p:cNvPicPr preferRelativeResize="0"/>
          <p:nvPr/>
        </p:nvPicPr>
        <p:blipFill rotWithShape="1">
          <a:blip r:embed="rId5">
            <a:alphaModFix/>
          </a:blip>
          <a:srcRect t="5076" b="5076"/>
          <a:stretch/>
        </p:blipFill>
        <p:spPr>
          <a:xfrm>
            <a:off x="5113590" y="2477523"/>
            <a:ext cx="274200" cy="246600"/>
          </a:xfrm>
          <a:prstGeom prst="rect">
            <a:avLst/>
          </a:prstGeom>
          <a:noFill/>
          <a:ln>
            <a:noFill/>
          </a:ln>
        </p:spPr>
      </p:pic>
      <p:grpSp>
        <p:nvGrpSpPr>
          <p:cNvPr id="35" name="Shape 1779">
            <a:extLst>
              <a:ext uri="{FF2B5EF4-FFF2-40B4-BE49-F238E27FC236}">
                <a16:creationId xmlns:a16="http://schemas.microsoft.com/office/drawing/2014/main" id="{A681239C-DA6D-8535-6073-A1AB75B73649}"/>
              </a:ext>
            </a:extLst>
          </p:cNvPr>
          <p:cNvGrpSpPr/>
          <p:nvPr/>
        </p:nvGrpSpPr>
        <p:grpSpPr>
          <a:xfrm>
            <a:off x="6945894" y="2417341"/>
            <a:ext cx="950213" cy="395544"/>
            <a:chOff x="469795" y="2972893"/>
            <a:chExt cx="880800" cy="382200"/>
          </a:xfrm>
        </p:grpSpPr>
        <p:sp>
          <p:nvSpPr>
            <p:cNvPr id="36" name="Shape 1780">
              <a:extLst>
                <a:ext uri="{FF2B5EF4-FFF2-40B4-BE49-F238E27FC236}">
                  <a16:creationId xmlns:a16="http://schemas.microsoft.com/office/drawing/2014/main" id="{7FF708FB-3AD1-0602-F9E7-FC170991E350}"/>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Service Attachment</a:t>
              </a:r>
            </a:p>
          </p:txBody>
        </p:sp>
        <p:pic>
          <p:nvPicPr>
            <p:cNvPr id="37" name="Shape 1781" descr="Cloud-Endpoints.png">
              <a:extLst>
                <a:ext uri="{FF2B5EF4-FFF2-40B4-BE49-F238E27FC236}">
                  <a16:creationId xmlns:a16="http://schemas.microsoft.com/office/drawing/2014/main" id="{9901D0F2-B4F0-5D64-D002-06E384231CED}"/>
                </a:ext>
              </a:extLst>
            </p:cNvPr>
            <p:cNvPicPr preferRelativeResize="0"/>
            <p:nvPr/>
          </p:nvPicPr>
          <p:blipFill rotWithShape="1">
            <a:blip r:embed="rId6">
              <a:alphaModFix/>
            </a:blip>
            <a:srcRect t="5076" b="5076"/>
            <a:stretch/>
          </p:blipFill>
          <p:spPr>
            <a:xfrm>
              <a:off x="515552" y="3040183"/>
              <a:ext cx="274200" cy="246600"/>
            </a:xfrm>
            <a:prstGeom prst="rect">
              <a:avLst/>
            </a:prstGeom>
            <a:noFill/>
            <a:ln>
              <a:noFill/>
            </a:ln>
          </p:spPr>
        </p:pic>
      </p:grpSp>
      <p:grpSp>
        <p:nvGrpSpPr>
          <p:cNvPr id="38" name="Shape 1779">
            <a:extLst>
              <a:ext uri="{FF2B5EF4-FFF2-40B4-BE49-F238E27FC236}">
                <a16:creationId xmlns:a16="http://schemas.microsoft.com/office/drawing/2014/main" id="{494C6490-FBA4-5899-9A2D-6961282228A1}"/>
              </a:ext>
            </a:extLst>
          </p:cNvPr>
          <p:cNvGrpSpPr/>
          <p:nvPr/>
        </p:nvGrpSpPr>
        <p:grpSpPr>
          <a:xfrm>
            <a:off x="8346186" y="2419132"/>
            <a:ext cx="950213" cy="393192"/>
            <a:chOff x="469795" y="2972893"/>
            <a:chExt cx="880800" cy="382200"/>
          </a:xfrm>
        </p:grpSpPr>
        <p:sp>
          <p:nvSpPr>
            <p:cNvPr id="39" name="Shape 1780">
              <a:extLst>
                <a:ext uri="{FF2B5EF4-FFF2-40B4-BE49-F238E27FC236}">
                  <a16:creationId xmlns:a16="http://schemas.microsoft.com/office/drawing/2014/main" id="{6ABF0911-DAF8-E634-BDAA-8ED2AF61D589}"/>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Apigee Runtime</a:t>
              </a:r>
            </a:p>
          </p:txBody>
        </p:sp>
        <p:pic>
          <p:nvPicPr>
            <p:cNvPr id="40" name="Shape 1781">
              <a:extLst>
                <a:ext uri="{FF2B5EF4-FFF2-40B4-BE49-F238E27FC236}">
                  <a16:creationId xmlns:a16="http://schemas.microsoft.com/office/drawing/2014/main" id="{11CFC0AB-6920-AE6C-B273-F3DC2A518C8B}"/>
                </a:ext>
              </a:extLst>
            </p:cNvPr>
            <p:cNvPicPr preferRelativeResize="0"/>
            <p:nvPr/>
          </p:nvPicPr>
          <p:blipFill rotWithShape="1">
            <a:blip r:embed="rId7"/>
            <a:srcRect t="6862" b="6862"/>
            <a:stretch/>
          </p:blipFill>
          <p:spPr>
            <a:xfrm>
              <a:off x="515553" y="3040183"/>
              <a:ext cx="235069" cy="247089"/>
            </a:xfrm>
            <a:prstGeom prst="rect">
              <a:avLst/>
            </a:prstGeom>
            <a:noFill/>
            <a:ln>
              <a:noFill/>
            </a:ln>
          </p:spPr>
        </p:pic>
      </p:grpSp>
      <p:cxnSp>
        <p:nvCxnSpPr>
          <p:cNvPr id="41" name="Shape 4409">
            <a:extLst>
              <a:ext uri="{FF2B5EF4-FFF2-40B4-BE49-F238E27FC236}">
                <a16:creationId xmlns:a16="http://schemas.microsoft.com/office/drawing/2014/main" id="{F41F1D59-0419-52FE-23B1-D237706D5A66}"/>
              </a:ext>
            </a:extLst>
          </p:cNvPr>
          <p:cNvCxnSpPr>
            <a:cxnSpLocks/>
            <a:stCxn id="7" idx="3"/>
            <a:endCxn id="32" idx="1"/>
          </p:cNvCxnSpPr>
          <p:nvPr/>
        </p:nvCxnSpPr>
        <p:spPr>
          <a:xfrm flipV="1">
            <a:off x="4335331" y="2612647"/>
            <a:ext cx="735527" cy="718063"/>
          </a:xfrm>
          <a:prstGeom prst="straightConnector1">
            <a:avLst/>
          </a:prstGeom>
          <a:noFill/>
          <a:ln w="9525" cap="flat" cmpd="sng">
            <a:solidFill>
              <a:srgbClr val="3A7DF0"/>
            </a:solidFill>
            <a:prstDash val="solid"/>
            <a:round/>
            <a:headEnd type="none" w="med" len="med"/>
            <a:tailEnd type="triangle" w="med" len="med"/>
          </a:ln>
        </p:spPr>
      </p:cxnSp>
      <p:cxnSp>
        <p:nvCxnSpPr>
          <p:cNvPr id="42" name="Shape 4409">
            <a:extLst>
              <a:ext uri="{FF2B5EF4-FFF2-40B4-BE49-F238E27FC236}">
                <a16:creationId xmlns:a16="http://schemas.microsoft.com/office/drawing/2014/main" id="{6AF8A13D-0BEE-9143-4219-D7F5C7CC8010}"/>
              </a:ext>
            </a:extLst>
          </p:cNvPr>
          <p:cNvCxnSpPr>
            <a:cxnSpLocks/>
            <a:stCxn id="32" idx="3"/>
            <a:endCxn id="36" idx="1"/>
          </p:cNvCxnSpPr>
          <p:nvPr/>
        </p:nvCxnSpPr>
        <p:spPr>
          <a:xfrm>
            <a:off x="6001458" y="2612647"/>
            <a:ext cx="944436" cy="2466"/>
          </a:xfrm>
          <a:prstGeom prst="straightConnector1">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43" name="Shape 4409">
            <a:extLst>
              <a:ext uri="{FF2B5EF4-FFF2-40B4-BE49-F238E27FC236}">
                <a16:creationId xmlns:a16="http://schemas.microsoft.com/office/drawing/2014/main" id="{DD21A77B-3DDC-AAE7-1C21-B638D5E99381}"/>
              </a:ext>
            </a:extLst>
          </p:cNvPr>
          <p:cNvCxnSpPr>
            <a:cxnSpLocks/>
            <a:stCxn id="36" idx="3"/>
            <a:endCxn id="39" idx="1"/>
          </p:cNvCxnSpPr>
          <p:nvPr/>
        </p:nvCxnSpPr>
        <p:spPr>
          <a:xfrm>
            <a:off x="7896107" y="2615113"/>
            <a:ext cx="450079" cy="615"/>
          </a:xfrm>
          <a:prstGeom prst="straightConnector1">
            <a:avLst/>
          </a:prstGeom>
          <a:noFill/>
          <a:ln w="9525" cap="flat" cmpd="sng">
            <a:solidFill>
              <a:srgbClr val="3A7DF0"/>
            </a:solidFill>
            <a:prstDash val="solid"/>
            <a:round/>
            <a:headEnd type="none" w="med" len="med"/>
            <a:tailEnd type="triangle" w="med" len="med"/>
          </a:ln>
        </p:spPr>
      </p:cxnSp>
      <p:sp>
        <p:nvSpPr>
          <p:cNvPr id="44" name="Shape 469">
            <a:extLst>
              <a:ext uri="{FF2B5EF4-FFF2-40B4-BE49-F238E27FC236}">
                <a16:creationId xmlns:a16="http://schemas.microsoft.com/office/drawing/2014/main" id="{2729705F-5155-3BC6-186E-34FBF0B68F53}"/>
              </a:ext>
            </a:extLst>
          </p:cNvPr>
          <p:cNvSpPr/>
          <p:nvPr/>
        </p:nvSpPr>
        <p:spPr>
          <a:xfrm>
            <a:off x="4940372" y="2224562"/>
            <a:ext cx="4536806" cy="1068866"/>
          </a:xfrm>
          <a:prstGeom prst="roundRect">
            <a:avLst>
              <a:gd name="adj" fmla="val 0"/>
            </a:avLst>
          </a:prstGeom>
          <a:noFill/>
          <a:ln>
            <a:solidFill>
              <a:schemeClr val="tx1"/>
            </a:solidFill>
            <a:prstDash val="dash"/>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48" name="Shape 647">
            <a:extLst>
              <a:ext uri="{FF2B5EF4-FFF2-40B4-BE49-F238E27FC236}">
                <a16:creationId xmlns:a16="http://schemas.microsoft.com/office/drawing/2014/main" id="{36AA6059-E310-7ECF-2869-A6A6B2BC0DC3}"/>
              </a:ext>
            </a:extLst>
          </p:cNvPr>
          <p:cNvSpPr txBox="1"/>
          <p:nvPr/>
        </p:nvSpPr>
        <p:spPr>
          <a:xfrm>
            <a:off x="4987296" y="2977222"/>
            <a:ext cx="1535177"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Region 1</a:t>
            </a:r>
          </a:p>
        </p:txBody>
      </p:sp>
      <p:sp>
        <p:nvSpPr>
          <p:cNvPr id="54" name="Shape 647">
            <a:extLst>
              <a:ext uri="{FF2B5EF4-FFF2-40B4-BE49-F238E27FC236}">
                <a16:creationId xmlns:a16="http://schemas.microsoft.com/office/drawing/2014/main" id="{41226BAA-2A75-F6A5-27D8-C92CFD0A1BE9}"/>
              </a:ext>
            </a:extLst>
          </p:cNvPr>
          <p:cNvSpPr txBox="1"/>
          <p:nvPr/>
        </p:nvSpPr>
        <p:spPr>
          <a:xfrm>
            <a:off x="6780041" y="2924376"/>
            <a:ext cx="1535177"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Apigee X Runtime</a:t>
            </a:r>
          </a:p>
          <a:p>
            <a:pPr marL="0" marR="0" lvl="0" indent="0" algn="l" rtl="0">
              <a:lnSpc>
                <a:spcPts val="1000"/>
              </a:lnSpc>
              <a:spcBef>
                <a:spcPts val="0"/>
              </a:spcBef>
              <a:spcAft>
                <a:spcPts val="0"/>
              </a:spcAft>
              <a:buClr>
                <a:srgbClr val="9E9E9E"/>
              </a:buClr>
              <a:buSzPct val="25000"/>
              <a:buFont typeface="Roboto"/>
              <a:buNone/>
            </a:pPr>
            <a:r>
              <a:rPr lang="en-US" sz="900" b="1" dirty="0">
                <a:solidFill>
                  <a:srgbClr val="9E9E9E"/>
                </a:solidFill>
                <a:latin typeface="Roboto"/>
                <a:ea typeface="Roboto"/>
                <a:cs typeface="Roboto"/>
                <a:sym typeface="Roboto"/>
              </a:rPr>
              <a:t>Instance</a:t>
            </a:r>
            <a:endParaRPr lang="en-US" sz="900" b="1" i="0" u="none" strike="noStrike" cap="none" dirty="0">
              <a:solidFill>
                <a:srgbClr val="9E9E9E"/>
              </a:solidFill>
              <a:latin typeface="Roboto"/>
              <a:ea typeface="Roboto"/>
              <a:cs typeface="Roboto"/>
              <a:sym typeface="Roboto"/>
            </a:endParaRPr>
          </a:p>
        </p:txBody>
      </p:sp>
      <p:sp>
        <p:nvSpPr>
          <p:cNvPr id="55" name="Shape 647">
            <a:extLst>
              <a:ext uri="{FF2B5EF4-FFF2-40B4-BE49-F238E27FC236}">
                <a16:creationId xmlns:a16="http://schemas.microsoft.com/office/drawing/2014/main" id="{95996B20-0182-0B00-5F59-7AE77BA81654}"/>
              </a:ext>
            </a:extLst>
          </p:cNvPr>
          <p:cNvSpPr txBox="1"/>
          <p:nvPr/>
        </p:nvSpPr>
        <p:spPr>
          <a:xfrm>
            <a:off x="6780973" y="4186418"/>
            <a:ext cx="1535177"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Apigee X Runtime</a:t>
            </a:r>
          </a:p>
          <a:p>
            <a:pPr marL="0" marR="0" lvl="0" indent="0" algn="l" rtl="0">
              <a:lnSpc>
                <a:spcPts val="1000"/>
              </a:lnSpc>
              <a:spcBef>
                <a:spcPts val="0"/>
              </a:spcBef>
              <a:spcAft>
                <a:spcPts val="0"/>
              </a:spcAft>
              <a:buClr>
                <a:srgbClr val="9E9E9E"/>
              </a:buClr>
              <a:buSzPct val="25000"/>
              <a:buFont typeface="Roboto"/>
              <a:buNone/>
            </a:pPr>
            <a:r>
              <a:rPr lang="en-US" sz="900" b="1" dirty="0">
                <a:solidFill>
                  <a:srgbClr val="9E9E9E"/>
                </a:solidFill>
                <a:latin typeface="Roboto"/>
                <a:ea typeface="Roboto"/>
                <a:cs typeface="Roboto"/>
                <a:sym typeface="Roboto"/>
              </a:rPr>
              <a:t>Instance</a:t>
            </a:r>
            <a:endParaRPr lang="en-US" sz="900" b="1" i="0" u="none" strike="noStrike" cap="none" dirty="0">
              <a:solidFill>
                <a:srgbClr val="9E9E9E"/>
              </a:solidFill>
              <a:latin typeface="Roboto"/>
              <a:ea typeface="Roboto"/>
              <a:cs typeface="Roboto"/>
              <a:sym typeface="Roboto"/>
            </a:endParaRPr>
          </a:p>
        </p:txBody>
      </p:sp>
      <p:sp>
        <p:nvSpPr>
          <p:cNvPr id="57" name="Shape 438">
            <a:extLst>
              <a:ext uri="{FF2B5EF4-FFF2-40B4-BE49-F238E27FC236}">
                <a16:creationId xmlns:a16="http://schemas.microsoft.com/office/drawing/2014/main" id="{3AD8A9FA-CB04-2C10-1A0E-2DCD83B8D243}"/>
              </a:ext>
            </a:extLst>
          </p:cNvPr>
          <p:cNvSpPr txBox="1"/>
          <p:nvPr/>
        </p:nvSpPr>
        <p:spPr>
          <a:xfrm>
            <a:off x="6106104" y="2407264"/>
            <a:ext cx="760994" cy="167038"/>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700" b="1" dirty="0">
                <a:solidFill>
                  <a:srgbClr val="00B050"/>
                </a:solidFill>
                <a:latin typeface="Open Sans"/>
                <a:ea typeface="Open Sans"/>
                <a:cs typeface="Open Sans"/>
                <a:sym typeface="Open Sans"/>
              </a:rPr>
              <a:t>PSC (Northbound)</a:t>
            </a:r>
            <a:endParaRPr lang="en-US" sz="700" b="1" i="0" u="none" strike="noStrike" cap="none" dirty="0">
              <a:solidFill>
                <a:srgbClr val="00B050"/>
              </a:solidFill>
              <a:latin typeface="Open Sans"/>
              <a:ea typeface="Open Sans"/>
              <a:cs typeface="Open Sans"/>
              <a:sym typeface="Open Sans"/>
            </a:endParaRPr>
          </a:p>
        </p:txBody>
      </p:sp>
      <p:sp>
        <p:nvSpPr>
          <p:cNvPr id="58" name="Shape 438">
            <a:extLst>
              <a:ext uri="{FF2B5EF4-FFF2-40B4-BE49-F238E27FC236}">
                <a16:creationId xmlns:a16="http://schemas.microsoft.com/office/drawing/2014/main" id="{CFB78A80-31A5-366D-A863-AAE78536066C}"/>
              </a:ext>
            </a:extLst>
          </p:cNvPr>
          <p:cNvSpPr txBox="1"/>
          <p:nvPr/>
        </p:nvSpPr>
        <p:spPr>
          <a:xfrm>
            <a:off x="6107332" y="3667491"/>
            <a:ext cx="760994" cy="167038"/>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700" b="1" dirty="0">
                <a:solidFill>
                  <a:srgbClr val="00B050"/>
                </a:solidFill>
                <a:latin typeface="Open Sans"/>
                <a:ea typeface="Open Sans"/>
                <a:cs typeface="Open Sans"/>
                <a:sym typeface="Open Sans"/>
              </a:rPr>
              <a:t>PSC (Northbound)</a:t>
            </a:r>
            <a:endParaRPr lang="en-US" sz="700" b="1" i="0" u="none" strike="noStrike" cap="none" dirty="0">
              <a:solidFill>
                <a:srgbClr val="00B050"/>
              </a:solidFill>
              <a:latin typeface="Open Sans"/>
              <a:ea typeface="Open Sans"/>
              <a:cs typeface="Open Sans"/>
              <a:sym typeface="Open Sans"/>
            </a:endParaRPr>
          </a:p>
        </p:txBody>
      </p:sp>
      <p:sp>
        <p:nvSpPr>
          <p:cNvPr id="59" name="Shape 438">
            <a:extLst>
              <a:ext uri="{FF2B5EF4-FFF2-40B4-BE49-F238E27FC236}">
                <a16:creationId xmlns:a16="http://schemas.microsoft.com/office/drawing/2014/main" id="{268E630E-9F3F-3BE5-3054-8A6886EF9A06}"/>
              </a:ext>
            </a:extLst>
          </p:cNvPr>
          <p:cNvSpPr txBox="1"/>
          <p:nvPr/>
        </p:nvSpPr>
        <p:spPr>
          <a:xfrm>
            <a:off x="1865943" y="3119069"/>
            <a:ext cx="990345" cy="187430"/>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700" b="1" dirty="0">
                <a:latin typeface="Open Sans"/>
                <a:ea typeface="Open Sans"/>
                <a:cs typeface="Open Sans"/>
                <a:sym typeface="Open Sans"/>
              </a:rPr>
              <a:t>HTTPS + OAuth</a:t>
            </a:r>
            <a:endParaRPr lang="en-US" sz="700" b="1" i="0" u="none" strike="noStrike" cap="none" dirty="0">
              <a:latin typeface="Open Sans"/>
              <a:ea typeface="Open Sans"/>
              <a:cs typeface="Open Sans"/>
              <a:sym typeface="Open Sans"/>
            </a:endParaRPr>
          </a:p>
        </p:txBody>
      </p:sp>
    </p:spTree>
    <p:extLst>
      <p:ext uri="{BB962C8B-B14F-4D97-AF65-F5344CB8AC3E}">
        <p14:creationId xmlns:p14="http://schemas.microsoft.com/office/powerpoint/2010/main" val="1226303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76"/>
        <p:cNvGrpSpPr/>
        <p:nvPr/>
      </p:nvGrpSpPr>
      <p:grpSpPr>
        <a:xfrm>
          <a:off x="0" y="0"/>
          <a:ext cx="0" cy="0"/>
          <a:chOff x="0" y="0"/>
          <a:chExt cx="0" cy="0"/>
        </a:xfrm>
      </p:grpSpPr>
      <p:sp>
        <p:nvSpPr>
          <p:cNvPr id="19" name="Shape 637">
            <a:extLst>
              <a:ext uri="{FF2B5EF4-FFF2-40B4-BE49-F238E27FC236}">
                <a16:creationId xmlns:a16="http://schemas.microsoft.com/office/drawing/2014/main" id="{84A956D6-210D-6411-2A39-0032520EE1DE}"/>
              </a:ext>
            </a:extLst>
          </p:cNvPr>
          <p:cNvSpPr/>
          <p:nvPr/>
        </p:nvSpPr>
        <p:spPr>
          <a:xfrm>
            <a:off x="372564" y="1516265"/>
            <a:ext cx="1620486" cy="3167051"/>
          </a:xfrm>
          <a:prstGeom prst="roundRect">
            <a:avLst>
              <a:gd name="adj" fmla="val 827"/>
            </a:avLst>
          </a:prstGeom>
          <a:solidFill>
            <a:srgbClr val="EFEBE9"/>
          </a:solidFill>
          <a:ln>
            <a:noFill/>
          </a:ln>
        </p:spPr>
        <p:txBody>
          <a:bodyPr lIns="91425" tIns="91425" rIns="91425" bIns="91425" anchor="ctr" anchorCtr="0">
            <a:noAutofit/>
          </a:bodyPr>
          <a:lstStyle/>
          <a:p>
            <a:pPr>
              <a:buClr>
                <a:srgbClr val="000000"/>
              </a:buClr>
            </a:pPr>
            <a:endParaRPr sz="1400">
              <a:solidFill>
                <a:srgbClr val="9E9E9E"/>
              </a:solidFill>
              <a:latin typeface="Arial"/>
              <a:cs typeface="Arial"/>
              <a:sym typeface="Arial"/>
            </a:endParaRPr>
          </a:p>
        </p:txBody>
      </p:sp>
      <p:sp>
        <p:nvSpPr>
          <p:cNvPr id="2078" name="Shape 2078"/>
          <p:cNvSpPr txBox="1">
            <a:spLocks noGrp="1"/>
          </p:cNvSpPr>
          <p:nvPr>
            <p:ph type="subTitle" idx="4294967295"/>
          </p:nvPr>
        </p:nvSpPr>
        <p:spPr>
          <a:xfrm>
            <a:off x="178501" y="0"/>
            <a:ext cx="11759599" cy="708400"/>
          </a:xfrm>
          <a:prstGeom prst="rect">
            <a:avLst/>
          </a:prstGeom>
          <a:noFill/>
          <a:ln>
            <a:noFill/>
          </a:ln>
        </p:spPr>
        <p:txBody>
          <a:bodyPr vert="horz" lIns="121900" tIns="121900" rIns="121900" bIns="121900" rtlCol="0" anchor="b" anchorCtr="0">
            <a:noAutofit/>
          </a:bodyPr>
          <a:lstStyle/>
          <a:p>
            <a:pPr marL="0" indent="0">
              <a:lnSpc>
                <a:spcPct val="115000"/>
              </a:lnSpc>
              <a:spcBef>
                <a:spcPts val="0"/>
              </a:spcBef>
              <a:buClr>
                <a:srgbClr val="75787A"/>
              </a:buClr>
              <a:buSzPct val="25000"/>
              <a:buNone/>
            </a:pPr>
            <a:r>
              <a:rPr lang="en-US" sz="1733" dirty="0"/>
              <a:t>Apigee X: Platform Architecture with PSC (Northbound)</a:t>
            </a:r>
          </a:p>
        </p:txBody>
      </p:sp>
      <p:sp>
        <p:nvSpPr>
          <p:cNvPr id="2079" name="Shape 2079"/>
          <p:cNvSpPr/>
          <p:nvPr/>
        </p:nvSpPr>
        <p:spPr>
          <a:xfrm>
            <a:off x="296012" y="6025583"/>
            <a:ext cx="9364532" cy="182800"/>
          </a:xfrm>
          <a:prstGeom prst="rect">
            <a:avLst/>
          </a:prstGeom>
          <a:solidFill>
            <a:srgbClr val="E0E0E0"/>
          </a:solidFill>
          <a:ln>
            <a:noFill/>
          </a:ln>
        </p:spPr>
        <p:txBody>
          <a:bodyPr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2082" name="Shape 2082"/>
          <p:cNvSpPr/>
          <p:nvPr/>
        </p:nvSpPr>
        <p:spPr>
          <a:xfrm>
            <a:off x="2687780" y="1508439"/>
            <a:ext cx="3757462" cy="3223042"/>
          </a:xfrm>
          <a:prstGeom prst="roundRect">
            <a:avLst>
              <a:gd name="adj" fmla="val 399"/>
            </a:avLst>
          </a:prstGeom>
          <a:solidFill>
            <a:srgbClr val="F6F6F6"/>
          </a:solidFill>
          <a:ln>
            <a:noFill/>
          </a:ln>
        </p:spPr>
        <p:txBody>
          <a:bodyPr lIns="121900" tIns="121900" rIns="121900" bIns="121900" anchor="ctr" anchorCtr="0">
            <a:noAutofit/>
          </a:bodyPr>
          <a:lstStyle/>
          <a:p>
            <a:pPr>
              <a:buClr>
                <a:srgbClr val="000000"/>
              </a:buClr>
            </a:pPr>
            <a:endParaRPr sz="1867">
              <a:solidFill>
                <a:srgbClr val="000000"/>
              </a:solidFill>
              <a:latin typeface="Arial"/>
              <a:ea typeface="Arial"/>
              <a:cs typeface="Arial"/>
              <a:sym typeface="Arial"/>
            </a:endParaRPr>
          </a:p>
        </p:txBody>
      </p:sp>
      <p:sp>
        <p:nvSpPr>
          <p:cNvPr id="2109" name="Shape 2109"/>
          <p:cNvSpPr/>
          <p:nvPr/>
        </p:nvSpPr>
        <p:spPr>
          <a:xfrm>
            <a:off x="296012" y="930235"/>
            <a:ext cx="9364532" cy="365600"/>
          </a:xfrm>
          <a:prstGeom prst="roundRect">
            <a:avLst>
              <a:gd name="adj" fmla="val 1674"/>
            </a:avLst>
          </a:prstGeom>
          <a:solidFill>
            <a:srgbClr val="519BF7"/>
          </a:solidFill>
          <a:ln>
            <a:noFill/>
          </a:ln>
          <a:effectLst>
            <a:outerShdw blurRad="38100" dist="38100" dir="5400000" sx="99000" sy="99000" algn="ctr" rotWithShape="0">
              <a:srgbClr val="000000">
                <a:alpha val="15690"/>
              </a:srgbClr>
            </a:outerShdw>
          </a:effectLst>
        </p:spPr>
        <p:txBody>
          <a:bodyPr lIns="609600" tIns="85344" rIns="0" bIns="0" anchor="t" anchorCtr="0">
            <a:noAutofit/>
          </a:bodyPr>
          <a:lstStyle/>
          <a:p>
            <a:pPr>
              <a:spcBef>
                <a:spcPts val="667"/>
              </a:spcBef>
              <a:buClr>
                <a:srgbClr val="FFFFFF"/>
              </a:buClr>
              <a:buSzPct val="25000"/>
            </a:pPr>
            <a:r>
              <a:rPr lang="en-US" sz="1133" dirty="0">
                <a:solidFill>
                  <a:srgbClr val="FFFFFF"/>
                </a:solidFill>
                <a:latin typeface="Roboto"/>
                <a:ea typeface="Roboto"/>
                <a:cs typeface="Roboto"/>
                <a:sym typeface="Roboto"/>
              </a:rPr>
              <a:t>On Premise (HTTPS) -&gt; Cloud VPN/Interconnect -&gt; Load Balancer -&gt; PSC NEG -&gt; Service Attachment -&gt; Apigee X (HTTPS)</a:t>
            </a:r>
          </a:p>
        </p:txBody>
      </p:sp>
      <p:grpSp>
        <p:nvGrpSpPr>
          <p:cNvPr id="6" name="Shape 4412">
            <a:extLst>
              <a:ext uri="{FF2B5EF4-FFF2-40B4-BE49-F238E27FC236}">
                <a16:creationId xmlns:a16="http://schemas.microsoft.com/office/drawing/2014/main" id="{06EC5BCC-5343-83FD-1F3D-93C5B88F9FE5}"/>
              </a:ext>
            </a:extLst>
          </p:cNvPr>
          <p:cNvGrpSpPr/>
          <p:nvPr/>
        </p:nvGrpSpPr>
        <p:grpSpPr>
          <a:xfrm>
            <a:off x="3073206" y="3139610"/>
            <a:ext cx="1262125" cy="382200"/>
            <a:chOff x="1790611" y="2719167"/>
            <a:chExt cx="933900" cy="382200"/>
          </a:xfrm>
        </p:grpSpPr>
        <p:sp>
          <p:nvSpPr>
            <p:cNvPr id="7" name="Shape 4410">
              <a:extLst>
                <a:ext uri="{FF2B5EF4-FFF2-40B4-BE49-F238E27FC236}">
                  <a16:creationId xmlns:a16="http://schemas.microsoft.com/office/drawing/2014/main" id="{D087CAF5-4923-D6D8-1498-5469CD8D3808}"/>
                </a:ext>
              </a:extLst>
            </p:cNvPr>
            <p:cNvSpPr/>
            <p:nvPr/>
          </p:nvSpPr>
          <p:spPr>
            <a:xfrm>
              <a:off x="1790611" y="2719167"/>
              <a:ext cx="9339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573000" tIns="97533" rIns="60933" bIns="97533" anchor="ctr" anchorCtr="0">
              <a:noAutofit/>
            </a:bodyPr>
            <a:lstStyle/>
            <a:p>
              <a:pPr>
                <a:lnSpc>
                  <a:spcPct val="121428"/>
                </a:lnSpc>
                <a:spcBef>
                  <a:spcPts val="267"/>
                </a:spcBef>
                <a:buClr>
                  <a:srgbClr val="757575"/>
                </a:buClr>
                <a:buSzPct val="25000"/>
              </a:pPr>
              <a:r>
                <a:rPr lang="en-US" sz="700" dirty="0">
                  <a:solidFill>
                    <a:srgbClr val="757575"/>
                  </a:solidFill>
                  <a:latin typeface="Roboto"/>
                  <a:ea typeface="Roboto"/>
                  <a:cs typeface="Roboto"/>
                  <a:sym typeface="Roboto"/>
                </a:rPr>
                <a:t>Load Balancer</a:t>
              </a:r>
            </a:p>
          </p:txBody>
        </p:sp>
        <p:pic>
          <p:nvPicPr>
            <p:cNvPr id="8" name="Shape 4413" descr="Cloud-Load-Balancing.png">
              <a:extLst>
                <a:ext uri="{FF2B5EF4-FFF2-40B4-BE49-F238E27FC236}">
                  <a16:creationId xmlns:a16="http://schemas.microsoft.com/office/drawing/2014/main" id="{BBBC018A-0875-8BFB-52BD-3D9936310D7C}"/>
                </a:ext>
              </a:extLst>
            </p:cNvPr>
            <p:cNvPicPr preferRelativeResize="0"/>
            <p:nvPr/>
          </p:nvPicPr>
          <p:blipFill rotWithShape="1">
            <a:blip r:embed="rId3">
              <a:alphaModFix/>
            </a:blip>
            <a:srcRect t="5036" b="5027"/>
            <a:stretch/>
          </p:blipFill>
          <p:spPr>
            <a:xfrm>
              <a:off x="1835316" y="2787521"/>
              <a:ext cx="218992" cy="246600"/>
            </a:xfrm>
            <a:prstGeom prst="rect">
              <a:avLst/>
            </a:prstGeom>
            <a:noFill/>
            <a:ln>
              <a:noFill/>
            </a:ln>
          </p:spPr>
        </p:pic>
      </p:grpSp>
      <p:sp>
        <p:nvSpPr>
          <p:cNvPr id="9" name="Shape 646">
            <a:extLst>
              <a:ext uri="{FF2B5EF4-FFF2-40B4-BE49-F238E27FC236}">
                <a16:creationId xmlns:a16="http://schemas.microsoft.com/office/drawing/2014/main" id="{D23EA455-2E64-92CC-41B1-6C566E5117AB}"/>
              </a:ext>
            </a:extLst>
          </p:cNvPr>
          <p:cNvSpPr/>
          <p:nvPr/>
        </p:nvSpPr>
        <p:spPr>
          <a:xfrm>
            <a:off x="6737009" y="1514435"/>
            <a:ext cx="2871534" cy="3168881"/>
          </a:xfrm>
          <a:prstGeom prst="roundRect">
            <a:avLst>
              <a:gd name="adj" fmla="val 827"/>
            </a:avLst>
          </a:prstGeom>
          <a:solidFill>
            <a:srgbClr val="FFEBEE"/>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10" name="Shape 647">
            <a:extLst>
              <a:ext uri="{FF2B5EF4-FFF2-40B4-BE49-F238E27FC236}">
                <a16:creationId xmlns:a16="http://schemas.microsoft.com/office/drawing/2014/main" id="{E58E9D7A-366C-4E51-EA98-81F54A8BDF8A}"/>
              </a:ext>
            </a:extLst>
          </p:cNvPr>
          <p:cNvSpPr txBox="1"/>
          <p:nvPr/>
        </p:nvSpPr>
        <p:spPr>
          <a:xfrm>
            <a:off x="6780041" y="1502141"/>
            <a:ext cx="2871534"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Apigee X Google Project</a:t>
            </a:r>
          </a:p>
        </p:txBody>
      </p:sp>
      <p:sp>
        <p:nvSpPr>
          <p:cNvPr id="11" name="Shape 2082">
            <a:extLst>
              <a:ext uri="{FF2B5EF4-FFF2-40B4-BE49-F238E27FC236}">
                <a16:creationId xmlns:a16="http://schemas.microsoft.com/office/drawing/2014/main" id="{5D01BB02-6BCA-ECB8-9905-2BA6B55BE0F7}"/>
              </a:ext>
            </a:extLst>
          </p:cNvPr>
          <p:cNvSpPr/>
          <p:nvPr/>
        </p:nvSpPr>
        <p:spPr>
          <a:xfrm>
            <a:off x="2687780" y="5581981"/>
            <a:ext cx="3757462" cy="365601"/>
          </a:xfrm>
          <a:prstGeom prst="roundRect">
            <a:avLst>
              <a:gd name="adj" fmla="val 399"/>
            </a:avLst>
          </a:prstGeom>
          <a:solidFill>
            <a:srgbClr val="F6F6F6"/>
          </a:solidFill>
          <a:ln>
            <a:noFill/>
          </a:ln>
        </p:spPr>
        <p:txBody>
          <a:bodyPr lIns="121900" tIns="121900" rIns="121900" bIns="121900" anchor="ctr" anchorCtr="0">
            <a:noAutofit/>
          </a:bodyPr>
          <a:lstStyle/>
          <a:p>
            <a:pPr>
              <a:buClr>
                <a:srgbClr val="000000"/>
              </a:buClr>
            </a:pPr>
            <a:endParaRPr sz="1867">
              <a:solidFill>
                <a:srgbClr val="000000"/>
              </a:solidFill>
              <a:latin typeface="Arial"/>
              <a:ea typeface="Arial"/>
              <a:cs typeface="Arial"/>
              <a:sym typeface="Arial"/>
            </a:endParaRPr>
          </a:p>
        </p:txBody>
      </p:sp>
      <p:sp>
        <p:nvSpPr>
          <p:cNvPr id="12" name="Shape 646">
            <a:extLst>
              <a:ext uri="{FF2B5EF4-FFF2-40B4-BE49-F238E27FC236}">
                <a16:creationId xmlns:a16="http://schemas.microsoft.com/office/drawing/2014/main" id="{3E1563A9-0200-C84E-7F45-65F4BFAB73E0}"/>
              </a:ext>
            </a:extLst>
          </p:cNvPr>
          <p:cNvSpPr/>
          <p:nvPr/>
        </p:nvSpPr>
        <p:spPr>
          <a:xfrm>
            <a:off x="6737009" y="5581981"/>
            <a:ext cx="2871534" cy="365602"/>
          </a:xfrm>
          <a:prstGeom prst="roundRect">
            <a:avLst>
              <a:gd name="adj" fmla="val 827"/>
            </a:avLst>
          </a:prstGeom>
          <a:solidFill>
            <a:srgbClr val="FFEBEE"/>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13" name="Shape 647">
            <a:extLst>
              <a:ext uri="{FF2B5EF4-FFF2-40B4-BE49-F238E27FC236}">
                <a16:creationId xmlns:a16="http://schemas.microsoft.com/office/drawing/2014/main" id="{5E9801B1-2624-0CC5-97BA-0B92B5812FFC}"/>
              </a:ext>
            </a:extLst>
          </p:cNvPr>
          <p:cNvSpPr txBox="1"/>
          <p:nvPr/>
        </p:nvSpPr>
        <p:spPr>
          <a:xfrm>
            <a:off x="6789010" y="5614463"/>
            <a:ext cx="2871534" cy="232028"/>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750" b="0" i="0" u="none" strike="noStrike" cap="none" dirty="0">
                <a:solidFill>
                  <a:srgbClr val="9E9E9E"/>
                </a:solidFill>
                <a:latin typeface="Roboto"/>
                <a:ea typeface="Roboto"/>
                <a:cs typeface="Roboto"/>
                <a:sym typeface="Roboto"/>
              </a:rPr>
              <a:t>Google VPC</a:t>
            </a:r>
            <a:endParaRPr lang="en-US" sz="600" b="0" i="0" u="none" strike="noStrike" cap="none" dirty="0">
              <a:solidFill>
                <a:srgbClr val="9E9E9E"/>
              </a:solidFill>
              <a:latin typeface="Roboto"/>
              <a:ea typeface="Roboto"/>
              <a:cs typeface="Roboto"/>
              <a:sym typeface="Roboto"/>
            </a:endParaRPr>
          </a:p>
        </p:txBody>
      </p:sp>
      <p:sp>
        <p:nvSpPr>
          <p:cNvPr id="14" name="Shape 647">
            <a:extLst>
              <a:ext uri="{FF2B5EF4-FFF2-40B4-BE49-F238E27FC236}">
                <a16:creationId xmlns:a16="http://schemas.microsoft.com/office/drawing/2014/main" id="{EF23E183-D366-B875-5FF1-5F39A5959E7E}"/>
              </a:ext>
            </a:extLst>
          </p:cNvPr>
          <p:cNvSpPr txBox="1"/>
          <p:nvPr/>
        </p:nvSpPr>
        <p:spPr>
          <a:xfrm>
            <a:off x="2749334" y="5652842"/>
            <a:ext cx="2871534" cy="209987"/>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750" dirty="0">
                <a:solidFill>
                  <a:srgbClr val="9E9E9E"/>
                </a:solidFill>
                <a:latin typeface="Roboto"/>
                <a:ea typeface="Roboto"/>
                <a:cs typeface="Roboto"/>
                <a:sym typeface="Roboto"/>
              </a:rPr>
              <a:t>Client</a:t>
            </a:r>
            <a:r>
              <a:rPr lang="en-US" sz="750" b="0" i="0" u="none" strike="noStrike" cap="none" dirty="0">
                <a:solidFill>
                  <a:srgbClr val="9E9E9E"/>
                </a:solidFill>
                <a:latin typeface="Roboto"/>
                <a:ea typeface="Roboto"/>
                <a:cs typeface="Roboto"/>
                <a:sym typeface="Roboto"/>
              </a:rPr>
              <a:t> VPC</a:t>
            </a:r>
            <a:endParaRPr lang="en-US" sz="600" b="0" i="0" u="none" strike="noStrike" cap="none" dirty="0">
              <a:solidFill>
                <a:srgbClr val="9E9E9E"/>
              </a:solidFill>
              <a:latin typeface="Roboto"/>
              <a:ea typeface="Roboto"/>
              <a:cs typeface="Roboto"/>
              <a:sym typeface="Roboto"/>
            </a:endParaRPr>
          </a:p>
        </p:txBody>
      </p:sp>
      <p:sp>
        <p:nvSpPr>
          <p:cNvPr id="15" name="Shape 647">
            <a:extLst>
              <a:ext uri="{FF2B5EF4-FFF2-40B4-BE49-F238E27FC236}">
                <a16:creationId xmlns:a16="http://schemas.microsoft.com/office/drawing/2014/main" id="{99CEDC6B-2B50-F328-1217-0F7730642F18}"/>
              </a:ext>
            </a:extLst>
          </p:cNvPr>
          <p:cNvSpPr txBox="1"/>
          <p:nvPr/>
        </p:nvSpPr>
        <p:spPr>
          <a:xfrm>
            <a:off x="2783397" y="1490260"/>
            <a:ext cx="2871534"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Client Apigee Google Project</a:t>
            </a:r>
          </a:p>
          <a:p>
            <a:pPr marL="0" marR="0" lvl="0" indent="0" algn="l" rtl="0">
              <a:lnSpc>
                <a:spcPts val="1000"/>
              </a:lnSpc>
              <a:spcBef>
                <a:spcPts val="0"/>
              </a:spcBef>
              <a:spcAft>
                <a:spcPts val="0"/>
              </a:spcAft>
              <a:buClr>
                <a:srgbClr val="9E9E9E"/>
              </a:buClr>
              <a:buSzPct val="25000"/>
              <a:buFont typeface="Roboto"/>
              <a:buNone/>
            </a:pPr>
            <a:r>
              <a:rPr lang="en-US" sz="900" b="1" dirty="0">
                <a:solidFill>
                  <a:srgbClr val="9E9E9E"/>
                </a:solidFill>
                <a:latin typeface="Roboto"/>
                <a:ea typeface="Roboto"/>
                <a:cs typeface="Roboto"/>
                <a:sym typeface="Roboto"/>
              </a:rPr>
              <a:t>(Non-peered)</a:t>
            </a:r>
            <a:endParaRPr lang="en-US" sz="900" b="1" i="0" u="none" strike="noStrike" cap="none" dirty="0">
              <a:solidFill>
                <a:srgbClr val="9E9E9E"/>
              </a:solidFill>
              <a:latin typeface="Roboto"/>
              <a:ea typeface="Roboto"/>
              <a:cs typeface="Roboto"/>
              <a:sym typeface="Roboto"/>
            </a:endParaRPr>
          </a:p>
        </p:txBody>
      </p:sp>
      <p:sp>
        <p:nvSpPr>
          <p:cNvPr id="16" name="Shape 1786">
            <a:extLst>
              <a:ext uri="{FF2B5EF4-FFF2-40B4-BE49-F238E27FC236}">
                <a16:creationId xmlns:a16="http://schemas.microsoft.com/office/drawing/2014/main" id="{4A00A2D4-D8C3-2786-14BF-28196DEE9BA3}"/>
              </a:ext>
            </a:extLst>
          </p:cNvPr>
          <p:cNvSpPr/>
          <p:nvPr/>
        </p:nvSpPr>
        <p:spPr>
          <a:xfrm>
            <a:off x="5070858" y="3689880"/>
            <a:ext cx="9306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13333"/>
              </a:lnSpc>
              <a:spcBef>
                <a:spcPts val="0"/>
              </a:spcBef>
              <a:spcAft>
                <a:spcPts val="0"/>
              </a:spcAft>
              <a:buClr>
                <a:srgbClr val="212121"/>
              </a:buClr>
              <a:buSzPct val="25000"/>
              <a:buFont typeface="Roboto"/>
              <a:buNone/>
            </a:pPr>
            <a:r>
              <a:rPr lang="en-US" sz="750" b="0" i="0" u="none" strike="noStrike" cap="none" dirty="0">
                <a:solidFill>
                  <a:srgbClr val="212121"/>
                </a:solidFill>
                <a:latin typeface="Roboto"/>
                <a:ea typeface="Roboto"/>
                <a:cs typeface="Roboto"/>
                <a:sym typeface="Roboto"/>
              </a:rPr>
              <a:t>PSC-NEG</a:t>
            </a:r>
            <a:endParaRPr lang="en-US" sz="700" dirty="0">
              <a:solidFill>
                <a:srgbClr val="757575"/>
              </a:solidFill>
              <a:latin typeface="Roboto"/>
              <a:ea typeface="Roboto"/>
              <a:cs typeface="Roboto"/>
              <a:sym typeface="Roboto"/>
            </a:endParaRPr>
          </a:p>
        </p:txBody>
      </p:sp>
      <p:pic>
        <p:nvPicPr>
          <p:cNvPr id="17" name="Shape 1787" descr="Generic-GCP.png">
            <a:extLst>
              <a:ext uri="{FF2B5EF4-FFF2-40B4-BE49-F238E27FC236}">
                <a16:creationId xmlns:a16="http://schemas.microsoft.com/office/drawing/2014/main" id="{57CF7A50-F436-F796-9305-D1FABEFA81DC}"/>
              </a:ext>
            </a:extLst>
          </p:cNvPr>
          <p:cNvPicPr preferRelativeResize="0"/>
          <p:nvPr/>
        </p:nvPicPr>
        <p:blipFill rotWithShape="1">
          <a:blip r:embed="rId4">
            <a:alphaModFix/>
          </a:blip>
          <a:srcRect t="5076" b="5076"/>
          <a:stretch/>
        </p:blipFill>
        <p:spPr>
          <a:xfrm>
            <a:off x="5113590" y="3745856"/>
            <a:ext cx="274200" cy="246600"/>
          </a:xfrm>
          <a:prstGeom prst="rect">
            <a:avLst/>
          </a:prstGeom>
          <a:noFill/>
          <a:ln>
            <a:noFill/>
          </a:ln>
        </p:spPr>
      </p:pic>
      <p:sp>
        <p:nvSpPr>
          <p:cNvPr id="20" name="Shape 638">
            <a:extLst>
              <a:ext uri="{FF2B5EF4-FFF2-40B4-BE49-F238E27FC236}">
                <a16:creationId xmlns:a16="http://schemas.microsoft.com/office/drawing/2014/main" id="{3BEF973E-EDE9-E1C5-4828-644B28B7E153}"/>
              </a:ext>
            </a:extLst>
          </p:cNvPr>
          <p:cNvSpPr txBox="1"/>
          <p:nvPr/>
        </p:nvSpPr>
        <p:spPr>
          <a:xfrm>
            <a:off x="372564" y="1516265"/>
            <a:ext cx="1296823" cy="457106"/>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 Consumer </a:t>
            </a:r>
          </a:p>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(On Premises)</a:t>
            </a:r>
          </a:p>
        </p:txBody>
      </p:sp>
      <p:grpSp>
        <p:nvGrpSpPr>
          <p:cNvPr id="21" name="Shape 1779">
            <a:extLst>
              <a:ext uri="{FF2B5EF4-FFF2-40B4-BE49-F238E27FC236}">
                <a16:creationId xmlns:a16="http://schemas.microsoft.com/office/drawing/2014/main" id="{FEFB31B3-8EDC-0463-D153-8A2B48E66EB0}"/>
              </a:ext>
            </a:extLst>
          </p:cNvPr>
          <p:cNvGrpSpPr/>
          <p:nvPr/>
        </p:nvGrpSpPr>
        <p:grpSpPr>
          <a:xfrm>
            <a:off x="6945894" y="3685674"/>
            <a:ext cx="950213" cy="395544"/>
            <a:chOff x="469795" y="2972893"/>
            <a:chExt cx="880800" cy="382200"/>
          </a:xfrm>
        </p:grpSpPr>
        <p:sp>
          <p:nvSpPr>
            <p:cNvPr id="22" name="Shape 1780">
              <a:extLst>
                <a:ext uri="{FF2B5EF4-FFF2-40B4-BE49-F238E27FC236}">
                  <a16:creationId xmlns:a16="http://schemas.microsoft.com/office/drawing/2014/main" id="{7EB9EBB4-1240-7AFE-E796-EB53B909B2BB}"/>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Service Attachment</a:t>
              </a:r>
            </a:p>
          </p:txBody>
        </p:sp>
        <p:pic>
          <p:nvPicPr>
            <p:cNvPr id="23" name="Shape 1781" descr="Cloud-Endpoints.png">
              <a:extLst>
                <a:ext uri="{FF2B5EF4-FFF2-40B4-BE49-F238E27FC236}">
                  <a16:creationId xmlns:a16="http://schemas.microsoft.com/office/drawing/2014/main" id="{CDA22489-CE7B-8C57-E95D-C58A214E5D8E}"/>
                </a:ext>
              </a:extLst>
            </p:cNvPr>
            <p:cNvPicPr preferRelativeResize="0"/>
            <p:nvPr/>
          </p:nvPicPr>
          <p:blipFill rotWithShape="1">
            <a:blip r:embed="rId5">
              <a:alphaModFix/>
            </a:blip>
            <a:srcRect t="5076" b="5076"/>
            <a:stretch/>
          </p:blipFill>
          <p:spPr>
            <a:xfrm>
              <a:off x="515552" y="3040183"/>
              <a:ext cx="274200" cy="246600"/>
            </a:xfrm>
            <a:prstGeom prst="rect">
              <a:avLst/>
            </a:prstGeom>
            <a:noFill/>
            <a:ln>
              <a:noFill/>
            </a:ln>
          </p:spPr>
        </p:pic>
      </p:grpSp>
      <p:grpSp>
        <p:nvGrpSpPr>
          <p:cNvPr id="24" name="Shape 1779">
            <a:extLst>
              <a:ext uri="{FF2B5EF4-FFF2-40B4-BE49-F238E27FC236}">
                <a16:creationId xmlns:a16="http://schemas.microsoft.com/office/drawing/2014/main" id="{A5F01E65-3D87-A845-B448-EBA681EFEED2}"/>
              </a:ext>
            </a:extLst>
          </p:cNvPr>
          <p:cNvGrpSpPr/>
          <p:nvPr/>
        </p:nvGrpSpPr>
        <p:grpSpPr>
          <a:xfrm>
            <a:off x="8346186" y="3687465"/>
            <a:ext cx="950213" cy="393192"/>
            <a:chOff x="469795" y="2972893"/>
            <a:chExt cx="880800" cy="382200"/>
          </a:xfrm>
        </p:grpSpPr>
        <p:sp>
          <p:nvSpPr>
            <p:cNvPr id="25" name="Shape 1780">
              <a:extLst>
                <a:ext uri="{FF2B5EF4-FFF2-40B4-BE49-F238E27FC236}">
                  <a16:creationId xmlns:a16="http://schemas.microsoft.com/office/drawing/2014/main" id="{19D3C6CA-771C-ECAF-C02C-07042348C99A}"/>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Apigee Runtime</a:t>
              </a:r>
            </a:p>
          </p:txBody>
        </p:sp>
        <p:pic>
          <p:nvPicPr>
            <p:cNvPr id="26" name="Shape 1781">
              <a:extLst>
                <a:ext uri="{FF2B5EF4-FFF2-40B4-BE49-F238E27FC236}">
                  <a16:creationId xmlns:a16="http://schemas.microsoft.com/office/drawing/2014/main" id="{9A92B5A3-8DFF-1360-A459-622880E83275}"/>
                </a:ext>
              </a:extLst>
            </p:cNvPr>
            <p:cNvPicPr preferRelativeResize="0"/>
            <p:nvPr/>
          </p:nvPicPr>
          <p:blipFill rotWithShape="1">
            <a:blip r:embed="rId6"/>
            <a:srcRect t="6862" b="6862"/>
            <a:stretch/>
          </p:blipFill>
          <p:spPr>
            <a:xfrm>
              <a:off x="515553" y="3040183"/>
              <a:ext cx="235069" cy="247089"/>
            </a:xfrm>
            <a:prstGeom prst="rect">
              <a:avLst/>
            </a:prstGeom>
            <a:noFill/>
            <a:ln>
              <a:noFill/>
            </a:ln>
          </p:spPr>
        </p:pic>
      </p:grpSp>
      <p:cxnSp>
        <p:nvCxnSpPr>
          <p:cNvPr id="28" name="Shape 4409">
            <a:extLst>
              <a:ext uri="{FF2B5EF4-FFF2-40B4-BE49-F238E27FC236}">
                <a16:creationId xmlns:a16="http://schemas.microsoft.com/office/drawing/2014/main" id="{BC34539F-E3AA-E6AC-7DED-BB0E8D7D6C23}"/>
              </a:ext>
            </a:extLst>
          </p:cNvPr>
          <p:cNvCxnSpPr>
            <a:cxnSpLocks/>
            <a:stCxn id="7" idx="3"/>
            <a:endCxn id="16" idx="1"/>
          </p:cNvCxnSpPr>
          <p:nvPr/>
        </p:nvCxnSpPr>
        <p:spPr>
          <a:xfrm>
            <a:off x="4335331" y="3330710"/>
            <a:ext cx="735527" cy="550270"/>
          </a:xfrm>
          <a:prstGeom prst="straightConnector1">
            <a:avLst/>
          </a:prstGeom>
          <a:noFill/>
          <a:ln w="9525" cap="flat" cmpd="sng">
            <a:solidFill>
              <a:srgbClr val="3A7DF0"/>
            </a:solidFill>
            <a:prstDash val="solid"/>
            <a:round/>
            <a:headEnd type="none" w="med" len="med"/>
            <a:tailEnd type="triangle" w="med" len="med"/>
          </a:ln>
        </p:spPr>
      </p:cxnSp>
      <p:cxnSp>
        <p:nvCxnSpPr>
          <p:cNvPr id="30" name="Shape 4409">
            <a:extLst>
              <a:ext uri="{FF2B5EF4-FFF2-40B4-BE49-F238E27FC236}">
                <a16:creationId xmlns:a16="http://schemas.microsoft.com/office/drawing/2014/main" id="{0F7D55B0-CCF0-57B4-E27A-11B63D288BAC}"/>
              </a:ext>
            </a:extLst>
          </p:cNvPr>
          <p:cNvCxnSpPr>
            <a:cxnSpLocks/>
            <a:stCxn id="16" idx="3"/>
            <a:endCxn id="22" idx="1"/>
          </p:cNvCxnSpPr>
          <p:nvPr/>
        </p:nvCxnSpPr>
        <p:spPr>
          <a:xfrm>
            <a:off x="6001458" y="3880980"/>
            <a:ext cx="944436" cy="2466"/>
          </a:xfrm>
          <a:prstGeom prst="straightConnector1">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4" name="Shape 4409">
            <a:extLst>
              <a:ext uri="{FF2B5EF4-FFF2-40B4-BE49-F238E27FC236}">
                <a16:creationId xmlns:a16="http://schemas.microsoft.com/office/drawing/2014/main" id="{2EDCEAD5-6B88-7165-79EF-118BC68EE746}"/>
              </a:ext>
            </a:extLst>
          </p:cNvPr>
          <p:cNvCxnSpPr>
            <a:cxnSpLocks/>
            <a:stCxn id="22" idx="3"/>
            <a:endCxn id="25" idx="1"/>
          </p:cNvCxnSpPr>
          <p:nvPr/>
        </p:nvCxnSpPr>
        <p:spPr>
          <a:xfrm>
            <a:off x="7896107" y="3883446"/>
            <a:ext cx="450079" cy="615"/>
          </a:xfrm>
          <a:prstGeom prst="straightConnector1">
            <a:avLst/>
          </a:prstGeom>
          <a:noFill/>
          <a:ln w="9525" cap="flat" cmpd="sng">
            <a:solidFill>
              <a:srgbClr val="3A7DF0"/>
            </a:solidFill>
            <a:prstDash val="solid"/>
            <a:round/>
            <a:headEnd type="none" w="med" len="med"/>
            <a:tailEnd type="triangle" w="med" len="med"/>
          </a:ln>
        </p:spPr>
      </p:cxnSp>
      <p:sp>
        <p:nvSpPr>
          <p:cNvPr id="45" name="TextBox 44">
            <a:extLst>
              <a:ext uri="{FF2B5EF4-FFF2-40B4-BE49-F238E27FC236}">
                <a16:creationId xmlns:a16="http://schemas.microsoft.com/office/drawing/2014/main" id="{EB921625-BAE6-B6BD-C89A-C3BCE8B84E4C}"/>
              </a:ext>
            </a:extLst>
          </p:cNvPr>
          <p:cNvSpPr txBox="1"/>
          <p:nvPr/>
        </p:nvSpPr>
        <p:spPr>
          <a:xfrm>
            <a:off x="9753273" y="930235"/>
            <a:ext cx="2209619" cy="5262979"/>
          </a:xfrm>
          <a:prstGeom prst="rect">
            <a:avLst/>
          </a:prstGeom>
          <a:noFill/>
        </p:spPr>
        <p:txBody>
          <a:bodyPr wrap="square">
            <a:spAutoFit/>
          </a:bodyPr>
          <a:lstStyle/>
          <a:p>
            <a:r>
              <a:rPr lang="en-US" sz="1200" dirty="0">
                <a:effectLst/>
                <a:latin typeface="Helvetica" pitchFamily="2" charset="0"/>
              </a:rPr>
              <a:t>Key points</a:t>
            </a:r>
          </a:p>
          <a:p>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Connection from on-premises to GCP via Interconnect/VPN</a:t>
            </a:r>
          </a:p>
          <a:p>
            <a:pPr marL="171450" indent="-171450">
              <a:buFont typeface="Arial" panose="020B0604020202020204" pitchFamily="34" charset="0"/>
              <a:buChar char="•"/>
            </a:pPr>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VPC containing the PSC NEG does not need to be peered to the Google VPC.</a:t>
            </a:r>
          </a:p>
          <a:p>
            <a:pPr marL="171450" indent="-171450">
              <a:buFont typeface="Arial" panose="020B0604020202020204" pitchFamily="34" charset="0"/>
              <a:buChar char="•"/>
            </a:pPr>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PSC NEG can be used with either TCP (L4) or HTTPS (L7) LB.</a:t>
            </a:r>
          </a:p>
          <a:p>
            <a:pPr marL="171450" indent="-171450">
              <a:buFont typeface="Arial" panose="020B0604020202020204" pitchFamily="34" charset="0"/>
              <a:buChar char="•"/>
            </a:pPr>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NAT is handled by PSC.</a:t>
            </a:r>
          </a:p>
          <a:p>
            <a:pPr marL="171450" indent="-171450">
              <a:buFont typeface="Arial" panose="020B0604020202020204" pitchFamily="34" charset="0"/>
              <a:buChar char="•"/>
            </a:pPr>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PSC service attachment in the Google-Managed Apigee X Tenant project is created at instance creation time.</a:t>
            </a:r>
          </a:p>
          <a:p>
            <a:pPr marL="171450" indent="-171450">
              <a:buFont typeface="Arial" panose="020B0604020202020204" pitchFamily="34" charset="0"/>
              <a:buChar char="•"/>
            </a:pPr>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Private Service Connect Network Endpoint Group (PSC NEG) in the same region as the runtime.</a:t>
            </a:r>
          </a:p>
          <a:p>
            <a:pPr marL="171450" indent="-171450">
              <a:buFont typeface="Arial" panose="020B0604020202020204" pitchFamily="34" charset="0"/>
              <a:buChar char="•"/>
            </a:pPr>
            <a:endParaRPr lang="en-US" sz="1200" dirty="0">
              <a:effectLst/>
              <a:latin typeface="Helvetica" pitchFamily="2" charset="0"/>
            </a:endParaRPr>
          </a:p>
        </p:txBody>
      </p:sp>
      <p:sp>
        <p:nvSpPr>
          <p:cNvPr id="46" name="Shape 637">
            <a:extLst>
              <a:ext uri="{FF2B5EF4-FFF2-40B4-BE49-F238E27FC236}">
                <a16:creationId xmlns:a16="http://schemas.microsoft.com/office/drawing/2014/main" id="{68654BDC-2FC0-F6AB-4FC8-C60BB35344B6}"/>
              </a:ext>
            </a:extLst>
          </p:cNvPr>
          <p:cNvSpPr/>
          <p:nvPr/>
        </p:nvSpPr>
        <p:spPr>
          <a:xfrm>
            <a:off x="404878" y="5581981"/>
            <a:ext cx="1588172" cy="365601"/>
          </a:xfrm>
          <a:prstGeom prst="roundRect">
            <a:avLst>
              <a:gd name="adj" fmla="val 827"/>
            </a:avLst>
          </a:prstGeom>
          <a:solidFill>
            <a:srgbClr val="EFEBE9"/>
          </a:solidFill>
          <a:ln>
            <a:noFill/>
          </a:ln>
        </p:spPr>
        <p:txBody>
          <a:bodyPr lIns="91425" tIns="91425" rIns="91425" bIns="91425" anchor="ctr" anchorCtr="0">
            <a:noAutofit/>
          </a:bodyPr>
          <a:lstStyle/>
          <a:p>
            <a:pPr>
              <a:buClr>
                <a:srgbClr val="000000"/>
              </a:buClr>
            </a:pPr>
            <a:endParaRPr sz="1400">
              <a:solidFill>
                <a:srgbClr val="9E9E9E"/>
              </a:solidFill>
              <a:latin typeface="Arial"/>
              <a:cs typeface="Arial"/>
              <a:sym typeface="Arial"/>
            </a:endParaRPr>
          </a:p>
        </p:txBody>
      </p:sp>
      <p:sp>
        <p:nvSpPr>
          <p:cNvPr id="18" name="Shape 469">
            <a:extLst>
              <a:ext uri="{FF2B5EF4-FFF2-40B4-BE49-F238E27FC236}">
                <a16:creationId xmlns:a16="http://schemas.microsoft.com/office/drawing/2014/main" id="{0BB06094-2B17-C33F-88BA-3EC9BC788A4E}"/>
              </a:ext>
            </a:extLst>
          </p:cNvPr>
          <p:cNvSpPr/>
          <p:nvPr/>
        </p:nvSpPr>
        <p:spPr>
          <a:xfrm>
            <a:off x="4940372" y="3492895"/>
            <a:ext cx="4536806" cy="1068866"/>
          </a:xfrm>
          <a:prstGeom prst="roundRect">
            <a:avLst>
              <a:gd name="adj" fmla="val 0"/>
            </a:avLst>
          </a:prstGeom>
          <a:noFill/>
          <a:ln>
            <a:solidFill>
              <a:schemeClr val="tx1"/>
            </a:solidFill>
            <a:prstDash val="dash"/>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47" name="Shape 638">
            <a:extLst>
              <a:ext uri="{FF2B5EF4-FFF2-40B4-BE49-F238E27FC236}">
                <a16:creationId xmlns:a16="http://schemas.microsoft.com/office/drawing/2014/main" id="{3EAEF810-820F-886A-64DA-64EF4B3FBDB9}"/>
              </a:ext>
            </a:extLst>
          </p:cNvPr>
          <p:cNvSpPr txBox="1"/>
          <p:nvPr/>
        </p:nvSpPr>
        <p:spPr>
          <a:xfrm>
            <a:off x="372598" y="5645661"/>
            <a:ext cx="1588207" cy="230564"/>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750" b="0" i="0" u="none" strike="noStrike" cap="none" dirty="0">
                <a:solidFill>
                  <a:srgbClr val="9E9E9E"/>
                </a:solidFill>
                <a:latin typeface="Roboto"/>
                <a:ea typeface="Roboto"/>
                <a:cs typeface="Roboto"/>
                <a:sym typeface="Roboto"/>
              </a:rPr>
              <a:t>API Consumer (On Premises)</a:t>
            </a:r>
            <a:endParaRPr lang="en-US" sz="600" b="0" i="0" u="none" strike="noStrike" cap="none" dirty="0">
              <a:solidFill>
                <a:srgbClr val="9E9E9E"/>
              </a:solidFill>
              <a:latin typeface="Roboto"/>
              <a:ea typeface="Roboto"/>
              <a:cs typeface="Roboto"/>
              <a:sym typeface="Roboto"/>
            </a:endParaRPr>
          </a:p>
        </p:txBody>
      </p:sp>
      <p:sp>
        <p:nvSpPr>
          <p:cNvPr id="50" name="Shape 438">
            <a:extLst>
              <a:ext uri="{FF2B5EF4-FFF2-40B4-BE49-F238E27FC236}">
                <a16:creationId xmlns:a16="http://schemas.microsoft.com/office/drawing/2014/main" id="{F6AFA962-80C8-CBD0-65DC-E4DE2F8FC452}"/>
              </a:ext>
            </a:extLst>
          </p:cNvPr>
          <p:cNvSpPr txBox="1"/>
          <p:nvPr/>
        </p:nvSpPr>
        <p:spPr>
          <a:xfrm>
            <a:off x="3395705" y="2528640"/>
            <a:ext cx="599100" cy="250200"/>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700" b="1" dirty="0">
                <a:solidFill>
                  <a:srgbClr val="808080"/>
                </a:solidFill>
                <a:latin typeface="Open Sans"/>
                <a:ea typeface="Open Sans"/>
                <a:cs typeface="Open Sans"/>
                <a:sym typeface="Open Sans"/>
              </a:rPr>
              <a:t>Cloud Armor</a:t>
            </a:r>
            <a:endParaRPr lang="en-US" sz="700" b="1" i="0" u="none" strike="noStrike" cap="none" dirty="0">
              <a:solidFill>
                <a:srgbClr val="808080"/>
              </a:solidFill>
              <a:latin typeface="Open Sans"/>
              <a:ea typeface="Open Sans"/>
              <a:cs typeface="Open Sans"/>
              <a:sym typeface="Open Sans"/>
            </a:endParaRPr>
          </a:p>
        </p:txBody>
      </p:sp>
      <p:pic>
        <p:nvPicPr>
          <p:cNvPr id="51" name="Shape 441">
            <a:extLst>
              <a:ext uri="{FF2B5EF4-FFF2-40B4-BE49-F238E27FC236}">
                <a16:creationId xmlns:a16="http://schemas.microsoft.com/office/drawing/2014/main" id="{61F59D84-9F01-B3EB-09EB-B39BFD76A144}"/>
              </a:ext>
            </a:extLst>
          </p:cNvPr>
          <p:cNvPicPr preferRelativeResize="0"/>
          <p:nvPr/>
        </p:nvPicPr>
        <p:blipFill rotWithShape="1">
          <a:blip r:embed="rId7"/>
          <a:srcRect l="7987" r="7987"/>
          <a:stretch/>
        </p:blipFill>
        <p:spPr>
          <a:xfrm>
            <a:off x="3429581" y="2034986"/>
            <a:ext cx="530400" cy="476400"/>
          </a:xfrm>
          <a:prstGeom prst="rect">
            <a:avLst/>
          </a:prstGeom>
          <a:noFill/>
          <a:ln>
            <a:noFill/>
          </a:ln>
        </p:spPr>
      </p:pic>
      <p:cxnSp>
        <p:nvCxnSpPr>
          <p:cNvPr id="52" name="Shape 4409">
            <a:extLst>
              <a:ext uri="{FF2B5EF4-FFF2-40B4-BE49-F238E27FC236}">
                <a16:creationId xmlns:a16="http://schemas.microsoft.com/office/drawing/2014/main" id="{02316906-5992-5226-1708-E8FC11B4EAF7}"/>
              </a:ext>
            </a:extLst>
          </p:cNvPr>
          <p:cNvCxnSpPr>
            <a:cxnSpLocks/>
            <a:stCxn id="50" idx="2"/>
            <a:endCxn id="7" idx="0"/>
          </p:cNvCxnSpPr>
          <p:nvPr/>
        </p:nvCxnSpPr>
        <p:spPr>
          <a:xfrm>
            <a:off x="3695255" y="2778840"/>
            <a:ext cx="9014" cy="360770"/>
          </a:xfrm>
          <a:prstGeom prst="straightConnector1">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1" name="Shape 647">
            <a:extLst>
              <a:ext uri="{FF2B5EF4-FFF2-40B4-BE49-F238E27FC236}">
                <a16:creationId xmlns:a16="http://schemas.microsoft.com/office/drawing/2014/main" id="{91A48E0F-460E-83EF-84E9-EAC8BBBC3034}"/>
              </a:ext>
            </a:extLst>
          </p:cNvPr>
          <p:cNvSpPr txBox="1"/>
          <p:nvPr/>
        </p:nvSpPr>
        <p:spPr>
          <a:xfrm>
            <a:off x="4987296" y="4245555"/>
            <a:ext cx="1535177"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Region 2</a:t>
            </a:r>
          </a:p>
        </p:txBody>
      </p:sp>
      <p:sp>
        <p:nvSpPr>
          <p:cNvPr id="32" name="Shape 1786">
            <a:extLst>
              <a:ext uri="{FF2B5EF4-FFF2-40B4-BE49-F238E27FC236}">
                <a16:creationId xmlns:a16="http://schemas.microsoft.com/office/drawing/2014/main" id="{4F2962D7-D34A-721E-AF3D-93CE7E20B8D8}"/>
              </a:ext>
            </a:extLst>
          </p:cNvPr>
          <p:cNvSpPr/>
          <p:nvPr/>
        </p:nvSpPr>
        <p:spPr>
          <a:xfrm>
            <a:off x="5070858" y="2421547"/>
            <a:ext cx="9306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13333"/>
              </a:lnSpc>
              <a:spcBef>
                <a:spcPts val="0"/>
              </a:spcBef>
              <a:spcAft>
                <a:spcPts val="0"/>
              </a:spcAft>
              <a:buClr>
                <a:srgbClr val="212121"/>
              </a:buClr>
              <a:buSzPct val="25000"/>
              <a:buFont typeface="Roboto"/>
              <a:buNone/>
            </a:pPr>
            <a:r>
              <a:rPr lang="en-US" sz="750" b="0" i="0" u="none" strike="noStrike" cap="none" dirty="0">
                <a:solidFill>
                  <a:srgbClr val="212121"/>
                </a:solidFill>
                <a:latin typeface="Roboto"/>
                <a:ea typeface="Roboto"/>
                <a:cs typeface="Roboto"/>
                <a:sym typeface="Roboto"/>
              </a:rPr>
              <a:t>PSC-NEG</a:t>
            </a:r>
            <a:endParaRPr lang="en-US" sz="700" dirty="0">
              <a:solidFill>
                <a:srgbClr val="757575"/>
              </a:solidFill>
              <a:latin typeface="Roboto"/>
              <a:ea typeface="Roboto"/>
              <a:cs typeface="Roboto"/>
              <a:sym typeface="Roboto"/>
            </a:endParaRPr>
          </a:p>
        </p:txBody>
      </p:sp>
      <p:pic>
        <p:nvPicPr>
          <p:cNvPr id="33" name="Shape 1787" descr="Generic-GCP.png">
            <a:extLst>
              <a:ext uri="{FF2B5EF4-FFF2-40B4-BE49-F238E27FC236}">
                <a16:creationId xmlns:a16="http://schemas.microsoft.com/office/drawing/2014/main" id="{DB36FEE3-7C4B-4ECA-8DDD-F7A5B47571DE}"/>
              </a:ext>
            </a:extLst>
          </p:cNvPr>
          <p:cNvPicPr preferRelativeResize="0"/>
          <p:nvPr/>
        </p:nvPicPr>
        <p:blipFill rotWithShape="1">
          <a:blip r:embed="rId4">
            <a:alphaModFix/>
          </a:blip>
          <a:srcRect t="5076" b="5076"/>
          <a:stretch/>
        </p:blipFill>
        <p:spPr>
          <a:xfrm>
            <a:off x="5113590" y="2477523"/>
            <a:ext cx="274200" cy="246600"/>
          </a:xfrm>
          <a:prstGeom prst="rect">
            <a:avLst/>
          </a:prstGeom>
          <a:noFill/>
          <a:ln>
            <a:noFill/>
          </a:ln>
        </p:spPr>
      </p:pic>
      <p:grpSp>
        <p:nvGrpSpPr>
          <p:cNvPr id="35" name="Shape 1779">
            <a:extLst>
              <a:ext uri="{FF2B5EF4-FFF2-40B4-BE49-F238E27FC236}">
                <a16:creationId xmlns:a16="http://schemas.microsoft.com/office/drawing/2014/main" id="{A681239C-DA6D-8535-6073-A1AB75B73649}"/>
              </a:ext>
            </a:extLst>
          </p:cNvPr>
          <p:cNvGrpSpPr/>
          <p:nvPr/>
        </p:nvGrpSpPr>
        <p:grpSpPr>
          <a:xfrm>
            <a:off x="6945894" y="2417341"/>
            <a:ext cx="950213" cy="395544"/>
            <a:chOff x="469795" y="2972893"/>
            <a:chExt cx="880800" cy="382200"/>
          </a:xfrm>
        </p:grpSpPr>
        <p:sp>
          <p:nvSpPr>
            <p:cNvPr id="36" name="Shape 1780">
              <a:extLst>
                <a:ext uri="{FF2B5EF4-FFF2-40B4-BE49-F238E27FC236}">
                  <a16:creationId xmlns:a16="http://schemas.microsoft.com/office/drawing/2014/main" id="{7FF708FB-3AD1-0602-F9E7-FC170991E350}"/>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Service Attachment</a:t>
              </a:r>
            </a:p>
          </p:txBody>
        </p:sp>
        <p:pic>
          <p:nvPicPr>
            <p:cNvPr id="37" name="Shape 1781" descr="Cloud-Endpoints.png">
              <a:extLst>
                <a:ext uri="{FF2B5EF4-FFF2-40B4-BE49-F238E27FC236}">
                  <a16:creationId xmlns:a16="http://schemas.microsoft.com/office/drawing/2014/main" id="{9901D0F2-B4F0-5D64-D002-06E384231CED}"/>
                </a:ext>
              </a:extLst>
            </p:cNvPr>
            <p:cNvPicPr preferRelativeResize="0"/>
            <p:nvPr/>
          </p:nvPicPr>
          <p:blipFill rotWithShape="1">
            <a:blip r:embed="rId5">
              <a:alphaModFix/>
            </a:blip>
            <a:srcRect t="5076" b="5076"/>
            <a:stretch/>
          </p:blipFill>
          <p:spPr>
            <a:xfrm>
              <a:off x="515552" y="3040183"/>
              <a:ext cx="274200" cy="246600"/>
            </a:xfrm>
            <a:prstGeom prst="rect">
              <a:avLst/>
            </a:prstGeom>
            <a:noFill/>
            <a:ln>
              <a:noFill/>
            </a:ln>
          </p:spPr>
        </p:pic>
      </p:grpSp>
      <p:grpSp>
        <p:nvGrpSpPr>
          <p:cNvPr id="38" name="Shape 1779">
            <a:extLst>
              <a:ext uri="{FF2B5EF4-FFF2-40B4-BE49-F238E27FC236}">
                <a16:creationId xmlns:a16="http://schemas.microsoft.com/office/drawing/2014/main" id="{494C6490-FBA4-5899-9A2D-6961282228A1}"/>
              </a:ext>
            </a:extLst>
          </p:cNvPr>
          <p:cNvGrpSpPr/>
          <p:nvPr/>
        </p:nvGrpSpPr>
        <p:grpSpPr>
          <a:xfrm>
            <a:off x="8346186" y="2419132"/>
            <a:ext cx="950213" cy="393192"/>
            <a:chOff x="469795" y="2972893"/>
            <a:chExt cx="880800" cy="382200"/>
          </a:xfrm>
        </p:grpSpPr>
        <p:sp>
          <p:nvSpPr>
            <p:cNvPr id="39" name="Shape 1780">
              <a:extLst>
                <a:ext uri="{FF2B5EF4-FFF2-40B4-BE49-F238E27FC236}">
                  <a16:creationId xmlns:a16="http://schemas.microsoft.com/office/drawing/2014/main" id="{6ABF0911-DAF8-E634-BDAA-8ED2AF61D589}"/>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Apigee Runtime</a:t>
              </a:r>
            </a:p>
          </p:txBody>
        </p:sp>
        <p:pic>
          <p:nvPicPr>
            <p:cNvPr id="40" name="Shape 1781">
              <a:extLst>
                <a:ext uri="{FF2B5EF4-FFF2-40B4-BE49-F238E27FC236}">
                  <a16:creationId xmlns:a16="http://schemas.microsoft.com/office/drawing/2014/main" id="{11CFC0AB-6920-AE6C-B273-F3DC2A518C8B}"/>
                </a:ext>
              </a:extLst>
            </p:cNvPr>
            <p:cNvPicPr preferRelativeResize="0"/>
            <p:nvPr/>
          </p:nvPicPr>
          <p:blipFill rotWithShape="1">
            <a:blip r:embed="rId6"/>
            <a:srcRect t="6862" b="6862"/>
            <a:stretch/>
          </p:blipFill>
          <p:spPr>
            <a:xfrm>
              <a:off x="515553" y="3040183"/>
              <a:ext cx="235069" cy="247089"/>
            </a:xfrm>
            <a:prstGeom prst="rect">
              <a:avLst/>
            </a:prstGeom>
            <a:noFill/>
            <a:ln>
              <a:noFill/>
            </a:ln>
          </p:spPr>
        </p:pic>
      </p:grpSp>
      <p:cxnSp>
        <p:nvCxnSpPr>
          <p:cNvPr id="41" name="Shape 4409">
            <a:extLst>
              <a:ext uri="{FF2B5EF4-FFF2-40B4-BE49-F238E27FC236}">
                <a16:creationId xmlns:a16="http://schemas.microsoft.com/office/drawing/2014/main" id="{F41F1D59-0419-52FE-23B1-D237706D5A66}"/>
              </a:ext>
            </a:extLst>
          </p:cNvPr>
          <p:cNvCxnSpPr>
            <a:cxnSpLocks/>
            <a:stCxn id="7" idx="3"/>
            <a:endCxn id="32" idx="1"/>
          </p:cNvCxnSpPr>
          <p:nvPr/>
        </p:nvCxnSpPr>
        <p:spPr>
          <a:xfrm flipV="1">
            <a:off x="4335331" y="2612647"/>
            <a:ext cx="735527" cy="718063"/>
          </a:xfrm>
          <a:prstGeom prst="straightConnector1">
            <a:avLst/>
          </a:prstGeom>
          <a:noFill/>
          <a:ln w="9525" cap="flat" cmpd="sng">
            <a:solidFill>
              <a:srgbClr val="3A7DF0"/>
            </a:solidFill>
            <a:prstDash val="solid"/>
            <a:round/>
            <a:headEnd type="none" w="med" len="med"/>
            <a:tailEnd type="triangle" w="med" len="med"/>
          </a:ln>
        </p:spPr>
      </p:cxnSp>
      <p:cxnSp>
        <p:nvCxnSpPr>
          <p:cNvPr id="42" name="Shape 4409">
            <a:extLst>
              <a:ext uri="{FF2B5EF4-FFF2-40B4-BE49-F238E27FC236}">
                <a16:creationId xmlns:a16="http://schemas.microsoft.com/office/drawing/2014/main" id="{6AF8A13D-0BEE-9143-4219-D7F5C7CC8010}"/>
              </a:ext>
            </a:extLst>
          </p:cNvPr>
          <p:cNvCxnSpPr>
            <a:cxnSpLocks/>
            <a:stCxn id="32" idx="3"/>
            <a:endCxn id="36" idx="1"/>
          </p:cNvCxnSpPr>
          <p:nvPr/>
        </p:nvCxnSpPr>
        <p:spPr>
          <a:xfrm>
            <a:off x="6001458" y="2612647"/>
            <a:ext cx="944436" cy="2466"/>
          </a:xfrm>
          <a:prstGeom prst="straightConnector1">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43" name="Shape 4409">
            <a:extLst>
              <a:ext uri="{FF2B5EF4-FFF2-40B4-BE49-F238E27FC236}">
                <a16:creationId xmlns:a16="http://schemas.microsoft.com/office/drawing/2014/main" id="{DD21A77B-3DDC-AAE7-1C21-B638D5E99381}"/>
              </a:ext>
            </a:extLst>
          </p:cNvPr>
          <p:cNvCxnSpPr>
            <a:cxnSpLocks/>
            <a:stCxn id="36" idx="3"/>
            <a:endCxn id="39" idx="1"/>
          </p:cNvCxnSpPr>
          <p:nvPr/>
        </p:nvCxnSpPr>
        <p:spPr>
          <a:xfrm>
            <a:off x="7896107" y="2615113"/>
            <a:ext cx="450079" cy="615"/>
          </a:xfrm>
          <a:prstGeom prst="straightConnector1">
            <a:avLst/>
          </a:prstGeom>
          <a:noFill/>
          <a:ln w="9525" cap="flat" cmpd="sng">
            <a:solidFill>
              <a:srgbClr val="3A7DF0"/>
            </a:solidFill>
            <a:prstDash val="solid"/>
            <a:round/>
            <a:headEnd type="none" w="med" len="med"/>
            <a:tailEnd type="triangle" w="med" len="med"/>
          </a:ln>
        </p:spPr>
      </p:cxnSp>
      <p:sp>
        <p:nvSpPr>
          <p:cNvPr id="44" name="Shape 469">
            <a:extLst>
              <a:ext uri="{FF2B5EF4-FFF2-40B4-BE49-F238E27FC236}">
                <a16:creationId xmlns:a16="http://schemas.microsoft.com/office/drawing/2014/main" id="{2729705F-5155-3BC6-186E-34FBF0B68F53}"/>
              </a:ext>
            </a:extLst>
          </p:cNvPr>
          <p:cNvSpPr/>
          <p:nvPr/>
        </p:nvSpPr>
        <p:spPr>
          <a:xfrm>
            <a:off x="4940372" y="2224562"/>
            <a:ext cx="4536806" cy="1068866"/>
          </a:xfrm>
          <a:prstGeom prst="roundRect">
            <a:avLst>
              <a:gd name="adj" fmla="val 0"/>
            </a:avLst>
          </a:prstGeom>
          <a:noFill/>
          <a:ln>
            <a:solidFill>
              <a:schemeClr val="tx1"/>
            </a:solidFill>
            <a:prstDash val="dash"/>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48" name="Shape 647">
            <a:extLst>
              <a:ext uri="{FF2B5EF4-FFF2-40B4-BE49-F238E27FC236}">
                <a16:creationId xmlns:a16="http://schemas.microsoft.com/office/drawing/2014/main" id="{36AA6059-E310-7ECF-2869-A6A6B2BC0DC3}"/>
              </a:ext>
            </a:extLst>
          </p:cNvPr>
          <p:cNvSpPr txBox="1"/>
          <p:nvPr/>
        </p:nvSpPr>
        <p:spPr>
          <a:xfrm>
            <a:off x="4987296" y="2977222"/>
            <a:ext cx="1535177"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Region 1</a:t>
            </a:r>
          </a:p>
        </p:txBody>
      </p:sp>
      <p:sp>
        <p:nvSpPr>
          <p:cNvPr id="54" name="Shape 647">
            <a:extLst>
              <a:ext uri="{FF2B5EF4-FFF2-40B4-BE49-F238E27FC236}">
                <a16:creationId xmlns:a16="http://schemas.microsoft.com/office/drawing/2014/main" id="{41226BAA-2A75-F6A5-27D8-C92CFD0A1BE9}"/>
              </a:ext>
            </a:extLst>
          </p:cNvPr>
          <p:cNvSpPr txBox="1"/>
          <p:nvPr/>
        </p:nvSpPr>
        <p:spPr>
          <a:xfrm>
            <a:off x="6780041" y="2924376"/>
            <a:ext cx="1535177"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Apigee X Runtime</a:t>
            </a:r>
          </a:p>
          <a:p>
            <a:pPr marL="0" marR="0" lvl="0" indent="0" algn="l" rtl="0">
              <a:lnSpc>
                <a:spcPts val="1000"/>
              </a:lnSpc>
              <a:spcBef>
                <a:spcPts val="0"/>
              </a:spcBef>
              <a:spcAft>
                <a:spcPts val="0"/>
              </a:spcAft>
              <a:buClr>
                <a:srgbClr val="9E9E9E"/>
              </a:buClr>
              <a:buSzPct val="25000"/>
              <a:buFont typeface="Roboto"/>
              <a:buNone/>
            </a:pPr>
            <a:r>
              <a:rPr lang="en-US" sz="900" b="1" dirty="0">
                <a:solidFill>
                  <a:srgbClr val="9E9E9E"/>
                </a:solidFill>
                <a:latin typeface="Roboto"/>
                <a:ea typeface="Roboto"/>
                <a:cs typeface="Roboto"/>
                <a:sym typeface="Roboto"/>
              </a:rPr>
              <a:t>Instance</a:t>
            </a:r>
            <a:endParaRPr lang="en-US" sz="900" b="1" i="0" u="none" strike="noStrike" cap="none" dirty="0">
              <a:solidFill>
                <a:srgbClr val="9E9E9E"/>
              </a:solidFill>
              <a:latin typeface="Roboto"/>
              <a:ea typeface="Roboto"/>
              <a:cs typeface="Roboto"/>
              <a:sym typeface="Roboto"/>
            </a:endParaRPr>
          </a:p>
        </p:txBody>
      </p:sp>
      <p:sp>
        <p:nvSpPr>
          <p:cNvPr id="55" name="Shape 647">
            <a:extLst>
              <a:ext uri="{FF2B5EF4-FFF2-40B4-BE49-F238E27FC236}">
                <a16:creationId xmlns:a16="http://schemas.microsoft.com/office/drawing/2014/main" id="{95996B20-0182-0B00-5F59-7AE77BA81654}"/>
              </a:ext>
            </a:extLst>
          </p:cNvPr>
          <p:cNvSpPr txBox="1"/>
          <p:nvPr/>
        </p:nvSpPr>
        <p:spPr>
          <a:xfrm>
            <a:off x="6780973" y="4186418"/>
            <a:ext cx="1535177"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Apigee X Runtime</a:t>
            </a:r>
          </a:p>
          <a:p>
            <a:pPr marL="0" marR="0" lvl="0" indent="0" algn="l" rtl="0">
              <a:lnSpc>
                <a:spcPts val="1000"/>
              </a:lnSpc>
              <a:spcBef>
                <a:spcPts val="0"/>
              </a:spcBef>
              <a:spcAft>
                <a:spcPts val="0"/>
              </a:spcAft>
              <a:buClr>
                <a:srgbClr val="9E9E9E"/>
              </a:buClr>
              <a:buSzPct val="25000"/>
              <a:buFont typeface="Roboto"/>
              <a:buNone/>
            </a:pPr>
            <a:r>
              <a:rPr lang="en-US" sz="900" b="1" dirty="0">
                <a:solidFill>
                  <a:srgbClr val="9E9E9E"/>
                </a:solidFill>
                <a:latin typeface="Roboto"/>
                <a:ea typeface="Roboto"/>
                <a:cs typeface="Roboto"/>
                <a:sym typeface="Roboto"/>
              </a:rPr>
              <a:t>Instance</a:t>
            </a:r>
            <a:endParaRPr lang="en-US" sz="900" b="1" i="0" u="none" strike="noStrike" cap="none" dirty="0">
              <a:solidFill>
                <a:srgbClr val="9E9E9E"/>
              </a:solidFill>
              <a:latin typeface="Roboto"/>
              <a:ea typeface="Roboto"/>
              <a:cs typeface="Roboto"/>
              <a:sym typeface="Roboto"/>
            </a:endParaRPr>
          </a:p>
        </p:txBody>
      </p:sp>
      <p:sp>
        <p:nvSpPr>
          <p:cNvPr id="57" name="Shape 438">
            <a:extLst>
              <a:ext uri="{FF2B5EF4-FFF2-40B4-BE49-F238E27FC236}">
                <a16:creationId xmlns:a16="http://schemas.microsoft.com/office/drawing/2014/main" id="{3AD8A9FA-CB04-2C10-1A0E-2DCD83B8D243}"/>
              </a:ext>
            </a:extLst>
          </p:cNvPr>
          <p:cNvSpPr txBox="1"/>
          <p:nvPr/>
        </p:nvSpPr>
        <p:spPr>
          <a:xfrm>
            <a:off x="6106104" y="2407264"/>
            <a:ext cx="760994" cy="167038"/>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700" b="1" dirty="0">
                <a:solidFill>
                  <a:srgbClr val="00B050"/>
                </a:solidFill>
                <a:latin typeface="Open Sans"/>
                <a:ea typeface="Open Sans"/>
                <a:cs typeface="Open Sans"/>
                <a:sym typeface="Open Sans"/>
              </a:rPr>
              <a:t>PSC (Northbound)</a:t>
            </a:r>
            <a:endParaRPr lang="en-US" sz="700" b="1" i="0" u="none" strike="noStrike" cap="none" dirty="0">
              <a:solidFill>
                <a:srgbClr val="00B050"/>
              </a:solidFill>
              <a:latin typeface="Open Sans"/>
              <a:ea typeface="Open Sans"/>
              <a:cs typeface="Open Sans"/>
              <a:sym typeface="Open Sans"/>
            </a:endParaRPr>
          </a:p>
        </p:txBody>
      </p:sp>
      <p:sp>
        <p:nvSpPr>
          <p:cNvPr id="58" name="Shape 438">
            <a:extLst>
              <a:ext uri="{FF2B5EF4-FFF2-40B4-BE49-F238E27FC236}">
                <a16:creationId xmlns:a16="http://schemas.microsoft.com/office/drawing/2014/main" id="{CFB78A80-31A5-366D-A863-AAE78536066C}"/>
              </a:ext>
            </a:extLst>
          </p:cNvPr>
          <p:cNvSpPr txBox="1"/>
          <p:nvPr/>
        </p:nvSpPr>
        <p:spPr>
          <a:xfrm>
            <a:off x="6107332" y="3667491"/>
            <a:ext cx="760994" cy="167038"/>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700" b="1" dirty="0">
                <a:solidFill>
                  <a:srgbClr val="00B050"/>
                </a:solidFill>
                <a:latin typeface="Open Sans"/>
                <a:ea typeface="Open Sans"/>
                <a:cs typeface="Open Sans"/>
                <a:sym typeface="Open Sans"/>
              </a:rPr>
              <a:t>PSC (Northbound)</a:t>
            </a:r>
            <a:endParaRPr lang="en-US" sz="700" b="1" i="0" u="none" strike="noStrike" cap="none" dirty="0">
              <a:solidFill>
                <a:srgbClr val="00B050"/>
              </a:solidFill>
              <a:latin typeface="Open Sans"/>
              <a:ea typeface="Open Sans"/>
              <a:cs typeface="Open Sans"/>
              <a:sym typeface="Open Sans"/>
            </a:endParaRPr>
          </a:p>
        </p:txBody>
      </p:sp>
      <p:sp>
        <p:nvSpPr>
          <p:cNvPr id="59" name="Shape 438">
            <a:extLst>
              <a:ext uri="{FF2B5EF4-FFF2-40B4-BE49-F238E27FC236}">
                <a16:creationId xmlns:a16="http://schemas.microsoft.com/office/drawing/2014/main" id="{268E630E-9F3F-3BE5-3054-8A6886EF9A06}"/>
              </a:ext>
            </a:extLst>
          </p:cNvPr>
          <p:cNvSpPr txBox="1"/>
          <p:nvPr/>
        </p:nvSpPr>
        <p:spPr>
          <a:xfrm>
            <a:off x="1618515" y="2882400"/>
            <a:ext cx="990345" cy="187430"/>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700" b="1" dirty="0">
                <a:latin typeface="Open Sans"/>
                <a:ea typeface="Open Sans"/>
                <a:cs typeface="Open Sans"/>
                <a:sym typeface="Open Sans"/>
              </a:rPr>
              <a:t>HTTPS + OAuth</a:t>
            </a:r>
            <a:endParaRPr lang="en-US" sz="700" b="1" i="0" u="none" strike="noStrike" cap="none" dirty="0">
              <a:latin typeface="Open Sans"/>
              <a:ea typeface="Open Sans"/>
              <a:cs typeface="Open Sans"/>
              <a:sym typeface="Open Sans"/>
            </a:endParaRPr>
          </a:p>
        </p:txBody>
      </p:sp>
      <p:grpSp>
        <p:nvGrpSpPr>
          <p:cNvPr id="27" name="Shape 1779">
            <a:extLst>
              <a:ext uri="{FF2B5EF4-FFF2-40B4-BE49-F238E27FC236}">
                <a16:creationId xmlns:a16="http://schemas.microsoft.com/office/drawing/2014/main" id="{A0217F89-0916-F124-4B67-035210006297}"/>
              </a:ext>
            </a:extLst>
          </p:cNvPr>
          <p:cNvGrpSpPr/>
          <p:nvPr/>
        </p:nvGrpSpPr>
        <p:grpSpPr>
          <a:xfrm>
            <a:off x="1861315" y="3132512"/>
            <a:ext cx="999600" cy="395544"/>
            <a:chOff x="469795" y="2972893"/>
            <a:chExt cx="926579" cy="382200"/>
          </a:xfrm>
        </p:grpSpPr>
        <p:sp>
          <p:nvSpPr>
            <p:cNvPr id="29" name="Shape 1780">
              <a:extLst>
                <a:ext uri="{FF2B5EF4-FFF2-40B4-BE49-F238E27FC236}">
                  <a16:creationId xmlns:a16="http://schemas.microsoft.com/office/drawing/2014/main" id="{3D5345A8-80BF-F689-C868-2A9E2B5B06AB}"/>
                </a:ext>
              </a:extLst>
            </p:cNvPr>
            <p:cNvSpPr/>
            <p:nvPr/>
          </p:nvSpPr>
          <p:spPr>
            <a:xfrm>
              <a:off x="469795" y="2972893"/>
              <a:ext cx="926579"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Cloud VPN/ Interconnect</a:t>
              </a:r>
            </a:p>
          </p:txBody>
        </p:sp>
        <p:pic>
          <p:nvPicPr>
            <p:cNvPr id="49" name="Shape 1781">
              <a:extLst>
                <a:ext uri="{FF2B5EF4-FFF2-40B4-BE49-F238E27FC236}">
                  <a16:creationId xmlns:a16="http://schemas.microsoft.com/office/drawing/2014/main" id="{307C0CA3-94B3-669B-944C-B41E4387207E}"/>
                </a:ext>
              </a:extLst>
            </p:cNvPr>
            <p:cNvPicPr preferRelativeResize="0"/>
            <p:nvPr/>
          </p:nvPicPr>
          <p:blipFill rotWithShape="1">
            <a:blip r:embed="rId8"/>
            <a:srcRect t="1186" b="1186"/>
            <a:stretch/>
          </p:blipFill>
          <p:spPr>
            <a:xfrm>
              <a:off x="515552" y="3040183"/>
              <a:ext cx="274200" cy="246600"/>
            </a:xfrm>
            <a:prstGeom prst="rect">
              <a:avLst/>
            </a:prstGeom>
            <a:noFill/>
            <a:ln>
              <a:noFill/>
            </a:ln>
          </p:spPr>
        </p:pic>
      </p:grpSp>
      <p:cxnSp>
        <p:nvCxnSpPr>
          <p:cNvPr id="56" name="Shape 4409">
            <a:extLst>
              <a:ext uri="{FF2B5EF4-FFF2-40B4-BE49-F238E27FC236}">
                <a16:creationId xmlns:a16="http://schemas.microsoft.com/office/drawing/2014/main" id="{016A02C8-E553-85B8-361A-A2B9446686EB}"/>
              </a:ext>
            </a:extLst>
          </p:cNvPr>
          <p:cNvCxnSpPr>
            <a:cxnSpLocks/>
            <a:stCxn id="29" idx="3"/>
            <a:endCxn id="7" idx="1"/>
          </p:cNvCxnSpPr>
          <p:nvPr/>
        </p:nvCxnSpPr>
        <p:spPr>
          <a:xfrm>
            <a:off x="2860915" y="3330284"/>
            <a:ext cx="212291" cy="426"/>
          </a:xfrm>
          <a:prstGeom prst="straightConnector1">
            <a:avLst/>
          </a:prstGeom>
          <a:noFill/>
          <a:ln w="9525" cap="flat" cmpd="sng">
            <a:solidFill>
              <a:srgbClr val="3A7DF0"/>
            </a:solidFill>
            <a:prstDash val="solid"/>
            <a:round/>
            <a:headEnd type="none" w="med" len="med"/>
            <a:tailEnd type="triangle" w="med" len="med"/>
          </a:ln>
        </p:spPr>
      </p:cxnSp>
      <p:grpSp>
        <p:nvGrpSpPr>
          <p:cNvPr id="62" name="Shape 4355">
            <a:extLst>
              <a:ext uri="{FF2B5EF4-FFF2-40B4-BE49-F238E27FC236}">
                <a16:creationId xmlns:a16="http://schemas.microsoft.com/office/drawing/2014/main" id="{5459E193-0232-B1BC-575F-1669CBBAEA0A}"/>
              </a:ext>
            </a:extLst>
          </p:cNvPr>
          <p:cNvGrpSpPr/>
          <p:nvPr/>
        </p:nvGrpSpPr>
        <p:grpSpPr>
          <a:xfrm>
            <a:off x="778540" y="2307222"/>
            <a:ext cx="502920" cy="621792"/>
            <a:chOff x="259264" y="3512557"/>
            <a:chExt cx="502920" cy="621792"/>
          </a:xfrm>
        </p:grpSpPr>
        <p:sp>
          <p:nvSpPr>
            <p:cNvPr id="63" name="Shape 4356">
              <a:extLst>
                <a:ext uri="{FF2B5EF4-FFF2-40B4-BE49-F238E27FC236}">
                  <a16:creationId xmlns:a16="http://schemas.microsoft.com/office/drawing/2014/main" id="{4C214CAB-F9A7-D441-60E6-71F935AAE407}"/>
                </a:ext>
              </a:extLst>
            </p:cNvPr>
            <p:cNvSpPr/>
            <p:nvPr/>
          </p:nvSpPr>
          <p:spPr>
            <a:xfrm>
              <a:off x="259264" y="3512557"/>
              <a:ext cx="502920" cy="621792"/>
            </a:xfrm>
            <a:prstGeom prst="roundRect">
              <a:avLst>
                <a:gd name="adj" fmla="val 1674"/>
              </a:avLst>
            </a:prstGeom>
            <a:solidFill>
              <a:schemeClr val="lt1"/>
            </a:solidFill>
            <a:ln>
              <a:noFill/>
            </a:ln>
            <a:effectLst>
              <a:outerShdw blurRad="19050" dist="6350" dir="5400000" algn="ctr" rotWithShape="0">
                <a:schemeClr val="dk1">
                  <a:alpha val="44705"/>
                </a:schemeClr>
              </a:outerShdw>
            </a:effectLst>
          </p:spPr>
          <p:txBody>
            <a:bodyPr lIns="0" tIns="484625" rIns="0" bIns="45700" anchor="ctr" anchorCtr="0">
              <a:noAutofit/>
            </a:bodyPr>
            <a:lstStyle/>
            <a:p>
              <a:pPr marL="0" marR="0" lvl="0" indent="0" algn="ctr" rtl="0">
                <a:lnSpc>
                  <a:spcPct val="100000"/>
                </a:lnSpc>
                <a:spcBef>
                  <a:spcPts val="0"/>
                </a:spcBef>
                <a:spcAft>
                  <a:spcPts val="0"/>
                </a:spcAft>
                <a:buClr>
                  <a:srgbClr val="212121"/>
                </a:buClr>
                <a:buSzPct val="25000"/>
                <a:buFont typeface="Roboto"/>
                <a:buNone/>
              </a:pPr>
              <a:r>
                <a:rPr lang="en-US" sz="650" b="0" i="0" u="none" strike="noStrike" cap="none" dirty="0">
                  <a:solidFill>
                    <a:srgbClr val="212121"/>
                  </a:solidFill>
                  <a:latin typeface="Roboto"/>
                  <a:ea typeface="Roboto"/>
                  <a:cs typeface="Roboto"/>
                  <a:sym typeface="Roboto"/>
                </a:rPr>
                <a:t>Service</a:t>
              </a:r>
            </a:p>
          </p:txBody>
        </p:sp>
        <p:pic>
          <p:nvPicPr>
            <p:cNvPr id="2048" name="Shape 4357">
              <a:extLst>
                <a:ext uri="{FF2B5EF4-FFF2-40B4-BE49-F238E27FC236}">
                  <a16:creationId xmlns:a16="http://schemas.microsoft.com/office/drawing/2014/main" id="{E947076E-516B-75EA-EAB2-DFEA569C4B1E}"/>
                </a:ext>
              </a:extLst>
            </p:cNvPr>
            <p:cNvPicPr preferRelativeResize="0"/>
            <p:nvPr/>
          </p:nvPicPr>
          <p:blipFill rotWithShape="1">
            <a:blip r:embed="rId9">
              <a:alphaModFix/>
            </a:blip>
            <a:srcRect/>
            <a:stretch/>
          </p:blipFill>
          <p:spPr>
            <a:xfrm>
              <a:off x="295840" y="3549132"/>
              <a:ext cx="429767" cy="429767"/>
            </a:xfrm>
            <a:prstGeom prst="rect">
              <a:avLst/>
            </a:prstGeom>
            <a:noFill/>
            <a:ln>
              <a:noFill/>
            </a:ln>
          </p:spPr>
        </p:pic>
      </p:grpSp>
      <p:grpSp>
        <p:nvGrpSpPr>
          <p:cNvPr id="2049" name="Shape 4358">
            <a:extLst>
              <a:ext uri="{FF2B5EF4-FFF2-40B4-BE49-F238E27FC236}">
                <a16:creationId xmlns:a16="http://schemas.microsoft.com/office/drawing/2014/main" id="{345A4224-0C38-9BCD-C05E-76DEBB4782A7}"/>
              </a:ext>
            </a:extLst>
          </p:cNvPr>
          <p:cNvGrpSpPr/>
          <p:nvPr/>
        </p:nvGrpSpPr>
        <p:grpSpPr>
          <a:xfrm>
            <a:off x="778540" y="3020453"/>
            <a:ext cx="502920" cy="621792"/>
            <a:chOff x="259264" y="3512557"/>
            <a:chExt cx="502920" cy="621792"/>
          </a:xfrm>
        </p:grpSpPr>
        <p:sp>
          <p:nvSpPr>
            <p:cNvPr id="2050" name="Shape 4359">
              <a:extLst>
                <a:ext uri="{FF2B5EF4-FFF2-40B4-BE49-F238E27FC236}">
                  <a16:creationId xmlns:a16="http://schemas.microsoft.com/office/drawing/2014/main" id="{835A913C-1FFD-33BB-FBE3-224334C80B83}"/>
                </a:ext>
              </a:extLst>
            </p:cNvPr>
            <p:cNvSpPr/>
            <p:nvPr/>
          </p:nvSpPr>
          <p:spPr>
            <a:xfrm>
              <a:off x="259264" y="3512557"/>
              <a:ext cx="502920" cy="621792"/>
            </a:xfrm>
            <a:prstGeom prst="roundRect">
              <a:avLst>
                <a:gd name="adj" fmla="val 1674"/>
              </a:avLst>
            </a:prstGeom>
            <a:solidFill>
              <a:schemeClr val="lt1"/>
            </a:solidFill>
            <a:ln>
              <a:noFill/>
            </a:ln>
            <a:effectLst>
              <a:outerShdw blurRad="19050" dist="6350" dir="5400000" algn="ctr" rotWithShape="0">
                <a:schemeClr val="dk1">
                  <a:alpha val="44705"/>
                </a:schemeClr>
              </a:outerShdw>
            </a:effectLst>
          </p:spPr>
          <p:txBody>
            <a:bodyPr lIns="0" tIns="484625" rIns="0" bIns="45700" anchor="ctr" anchorCtr="0">
              <a:noAutofit/>
            </a:bodyPr>
            <a:lstStyle/>
            <a:p>
              <a:pPr marL="0" marR="0" lvl="0" indent="0" algn="ctr" rtl="0">
                <a:lnSpc>
                  <a:spcPct val="100000"/>
                </a:lnSpc>
                <a:spcBef>
                  <a:spcPts val="0"/>
                </a:spcBef>
                <a:spcAft>
                  <a:spcPts val="0"/>
                </a:spcAft>
                <a:buClr>
                  <a:srgbClr val="212121"/>
                </a:buClr>
                <a:buSzPct val="25000"/>
                <a:buFont typeface="Roboto"/>
                <a:buNone/>
              </a:pPr>
              <a:r>
                <a:rPr lang="en-US" sz="650" b="0" i="0" u="none" strike="noStrike" cap="none" dirty="0">
                  <a:solidFill>
                    <a:srgbClr val="212121"/>
                  </a:solidFill>
                  <a:latin typeface="Roboto"/>
                  <a:ea typeface="Roboto"/>
                  <a:cs typeface="Roboto"/>
                  <a:sym typeface="Roboto"/>
                </a:rPr>
                <a:t>Service</a:t>
              </a:r>
            </a:p>
          </p:txBody>
        </p:sp>
        <p:pic>
          <p:nvPicPr>
            <p:cNvPr id="2051" name="Shape 4360">
              <a:extLst>
                <a:ext uri="{FF2B5EF4-FFF2-40B4-BE49-F238E27FC236}">
                  <a16:creationId xmlns:a16="http://schemas.microsoft.com/office/drawing/2014/main" id="{1AD98A9B-109D-3294-22A0-570E08ADEED4}"/>
                </a:ext>
              </a:extLst>
            </p:cNvPr>
            <p:cNvPicPr preferRelativeResize="0"/>
            <p:nvPr/>
          </p:nvPicPr>
          <p:blipFill rotWithShape="1">
            <a:blip r:embed="rId9">
              <a:alphaModFix/>
            </a:blip>
            <a:srcRect/>
            <a:stretch/>
          </p:blipFill>
          <p:spPr>
            <a:xfrm>
              <a:off x="295840" y="3549132"/>
              <a:ext cx="429767" cy="429767"/>
            </a:xfrm>
            <a:prstGeom prst="rect">
              <a:avLst/>
            </a:prstGeom>
            <a:noFill/>
            <a:ln>
              <a:noFill/>
            </a:ln>
          </p:spPr>
        </p:pic>
      </p:grpSp>
      <p:grpSp>
        <p:nvGrpSpPr>
          <p:cNvPr id="2052" name="Shape 4361">
            <a:extLst>
              <a:ext uri="{FF2B5EF4-FFF2-40B4-BE49-F238E27FC236}">
                <a16:creationId xmlns:a16="http://schemas.microsoft.com/office/drawing/2014/main" id="{3E1F758D-DF2C-7E79-FE13-90088A21E60D}"/>
              </a:ext>
            </a:extLst>
          </p:cNvPr>
          <p:cNvGrpSpPr/>
          <p:nvPr/>
        </p:nvGrpSpPr>
        <p:grpSpPr>
          <a:xfrm>
            <a:off x="778540" y="3733686"/>
            <a:ext cx="502920" cy="621792"/>
            <a:chOff x="259264" y="3512557"/>
            <a:chExt cx="502920" cy="621792"/>
          </a:xfrm>
        </p:grpSpPr>
        <p:sp>
          <p:nvSpPr>
            <p:cNvPr id="2053" name="Shape 4362">
              <a:extLst>
                <a:ext uri="{FF2B5EF4-FFF2-40B4-BE49-F238E27FC236}">
                  <a16:creationId xmlns:a16="http://schemas.microsoft.com/office/drawing/2014/main" id="{550D834A-1C94-CAAE-17FE-850A64895C09}"/>
                </a:ext>
              </a:extLst>
            </p:cNvPr>
            <p:cNvSpPr/>
            <p:nvPr/>
          </p:nvSpPr>
          <p:spPr>
            <a:xfrm>
              <a:off x="259264" y="3512557"/>
              <a:ext cx="502920" cy="621792"/>
            </a:xfrm>
            <a:prstGeom prst="roundRect">
              <a:avLst>
                <a:gd name="adj" fmla="val 1674"/>
              </a:avLst>
            </a:prstGeom>
            <a:solidFill>
              <a:schemeClr val="lt1"/>
            </a:solidFill>
            <a:ln>
              <a:noFill/>
            </a:ln>
            <a:effectLst>
              <a:outerShdw blurRad="19050" dist="6350" dir="5400000" algn="ctr" rotWithShape="0">
                <a:schemeClr val="dk1">
                  <a:alpha val="44705"/>
                </a:schemeClr>
              </a:outerShdw>
            </a:effectLst>
          </p:spPr>
          <p:txBody>
            <a:bodyPr lIns="0" tIns="484625" rIns="0" bIns="45700" anchor="ctr" anchorCtr="0">
              <a:noAutofit/>
            </a:bodyPr>
            <a:lstStyle/>
            <a:p>
              <a:pPr marL="0" marR="0" lvl="0" indent="0" algn="ctr" rtl="0">
                <a:lnSpc>
                  <a:spcPct val="100000"/>
                </a:lnSpc>
                <a:spcBef>
                  <a:spcPts val="0"/>
                </a:spcBef>
                <a:spcAft>
                  <a:spcPts val="0"/>
                </a:spcAft>
                <a:buClr>
                  <a:srgbClr val="212121"/>
                </a:buClr>
                <a:buSzPct val="25000"/>
                <a:buFont typeface="Roboto"/>
                <a:buNone/>
              </a:pPr>
              <a:r>
                <a:rPr lang="en-US" sz="650" b="0" i="0" u="none" strike="noStrike" cap="none" dirty="0">
                  <a:solidFill>
                    <a:srgbClr val="212121"/>
                  </a:solidFill>
                  <a:latin typeface="Roboto"/>
                  <a:ea typeface="Roboto"/>
                  <a:cs typeface="Roboto"/>
                  <a:sym typeface="Roboto"/>
                </a:rPr>
                <a:t>Service</a:t>
              </a:r>
            </a:p>
          </p:txBody>
        </p:sp>
        <p:pic>
          <p:nvPicPr>
            <p:cNvPr id="2054" name="Shape 4363">
              <a:extLst>
                <a:ext uri="{FF2B5EF4-FFF2-40B4-BE49-F238E27FC236}">
                  <a16:creationId xmlns:a16="http://schemas.microsoft.com/office/drawing/2014/main" id="{A1D8C127-73C5-BF52-60C6-41F036C73A00}"/>
                </a:ext>
              </a:extLst>
            </p:cNvPr>
            <p:cNvPicPr preferRelativeResize="0"/>
            <p:nvPr/>
          </p:nvPicPr>
          <p:blipFill rotWithShape="1">
            <a:blip r:embed="rId9">
              <a:alphaModFix/>
            </a:blip>
            <a:srcRect/>
            <a:stretch/>
          </p:blipFill>
          <p:spPr>
            <a:xfrm>
              <a:off x="295840" y="3549132"/>
              <a:ext cx="429767" cy="429767"/>
            </a:xfrm>
            <a:prstGeom prst="rect">
              <a:avLst/>
            </a:prstGeom>
            <a:noFill/>
            <a:ln>
              <a:noFill/>
            </a:ln>
          </p:spPr>
        </p:pic>
      </p:grpSp>
      <p:cxnSp>
        <p:nvCxnSpPr>
          <p:cNvPr id="2055" name="Shape 4368">
            <a:extLst>
              <a:ext uri="{FF2B5EF4-FFF2-40B4-BE49-F238E27FC236}">
                <a16:creationId xmlns:a16="http://schemas.microsoft.com/office/drawing/2014/main" id="{9E6C048D-889A-DB63-76A3-9C6C98B10C24}"/>
              </a:ext>
            </a:extLst>
          </p:cNvPr>
          <p:cNvCxnSpPr>
            <a:cxnSpLocks/>
            <a:stCxn id="29" idx="1"/>
            <a:endCxn id="2050" idx="3"/>
          </p:cNvCxnSpPr>
          <p:nvPr/>
        </p:nvCxnSpPr>
        <p:spPr>
          <a:xfrm flipH="1">
            <a:off x="1281460" y="3330284"/>
            <a:ext cx="579855" cy="1065"/>
          </a:xfrm>
          <a:prstGeom prst="straightConnector1">
            <a:avLst/>
          </a:prstGeom>
          <a:ln w="9525" cap="flat" cmpd="sng" algn="ctr">
            <a:solidFill>
              <a:schemeClr val="accent3"/>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cxnSp>
      <p:cxnSp>
        <p:nvCxnSpPr>
          <p:cNvPr id="2056" name="Shape 4369">
            <a:extLst>
              <a:ext uri="{FF2B5EF4-FFF2-40B4-BE49-F238E27FC236}">
                <a16:creationId xmlns:a16="http://schemas.microsoft.com/office/drawing/2014/main" id="{5768FEA1-E247-60A7-811A-69A5BB58DF8D}"/>
              </a:ext>
            </a:extLst>
          </p:cNvPr>
          <p:cNvCxnSpPr>
            <a:cxnSpLocks/>
            <a:stCxn id="29" idx="1"/>
            <a:endCxn id="63" idx="3"/>
          </p:cNvCxnSpPr>
          <p:nvPr/>
        </p:nvCxnSpPr>
        <p:spPr>
          <a:xfrm rot="10800000">
            <a:off x="1281461" y="2618118"/>
            <a:ext cx="579855" cy="712166"/>
          </a:xfrm>
          <a:prstGeom prst="bentConnector3">
            <a:avLst>
              <a:gd name="adj1" fmla="val 50000"/>
            </a:avLst>
          </a:prstGeom>
          <a:ln w="9525" cap="flat" cmpd="sng" algn="ctr">
            <a:solidFill>
              <a:schemeClr val="accent3"/>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cxnSp>
      <p:cxnSp>
        <p:nvCxnSpPr>
          <p:cNvPr id="2057" name="Shape 4370">
            <a:extLst>
              <a:ext uri="{FF2B5EF4-FFF2-40B4-BE49-F238E27FC236}">
                <a16:creationId xmlns:a16="http://schemas.microsoft.com/office/drawing/2014/main" id="{96885FA1-6033-2162-45D7-C5B05B97BEC7}"/>
              </a:ext>
            </a:extLst>
          </p:cNvPr>
          <p:cNvCxnSpPr>
            <a:cxnSpLocks/>
            <a:stCxn id="29" idx="1"/>
            <a:endCxn id="2053" idx="3"/>
          </p:cNvCxnSpPr>
          <p:nvPr/>
        </p:nvCxnSpPr>
        <p:spPr>
          <a:xfrm rot="10800000" flipV="1">
            <a:off x="1281461" y="3330284"/>
            <a:ext cx="579855" cy="714298"/>
          </a:xfrm>
          <a:prstGeom prst="bentConnector3">
            <a:avLst>
              <a:gd name="adj1" fmla="val 50000"/>
            </a:avLst>
          </a:prstGeom>
          <a:ln w="9525" cap="flat" cmpd="sng" algn="ctr">
            <a:solidFill>
              <a:schemeClr val="accent3"/>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986889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76"/>
        <p:cNvGrpSpPr/>
        <p:nvPr/>
      </p:nvGrpSpPr>
      <p:grpSpPr>
        <a:xfrm>
          <a:off x="0" y="0"/>
          <a:ext cx="0" cy="0"/>
          <a:chOff x="0" y="0"/>
          <a:chExt cx="0" cy="0"/>
        </a:xfrm>
      </p:grpSpPr>
      <p:sp>
        <p:nvSpPr>
          <p:cNvPr id="2078" name="Shape 2078"/>
          <p:cNvSpPr txBox="1">
            <a:spLocks noGrp="1"/>
          </p:cNvSpPr>
          <p:nvPr>
            <p:ph type="subTitle" idx="4294967295"/>
          </p:nvPr>
        </p:nvSpPr>
        <p:spPr>
          <a:xfrm>
            <a:off x="178501" y="0"/>
            <a:ext cx="11759599" cy="708400"/>
          </a:xfrm>
          <a:prstGeom prst="rect">
            <a:avLst/>
          </a:prstGeom>
          <a:noFill/>
          <a:ln>
            <a:noFill/>
          </a:ln>
        </p:spPr>
        <p:txBody>
          <a:bodyPr vert="horz" lIns="121900" tIns="121900" rIns="121900" bIns="121900" rtlCol="0" anchor="b" anchorCtr="0">
            <a:noAutofit/>
          </a:bodyPr>
          <a:lstStyle/>
          <a:p>
            <a:pPr marL="0" indent="0">
              <a:lnSpc>
                <a:spcPct val="115000"/>
              </a:lnSpc>
              <a:spcBef>
                <a:spcPts val="0"/>
              </a:spcBef>
              <a:buClr>
                <a:srgbClr val="75787A"/>
              </a:buClr>
              <a:buSzPct val="25000"/>
              <a:buNone/>
            </a:pPr>
            <a:r>
              <a:rPr lang="en-US" sz="1733" dirty="0"/>
              <a:t>Apigee X: Platform Architecture with PSC (Southbound)</a:t>
            </a:r>
          </a:p>
        </p:txBody>
      </p:sp>
      <p:sp>
        <p:nvSpPr>
          <p:cNvPr id="2079" name="Shape 2079"/>
          <p:cNvSpPr/>
          <p:nvPr/>
        </p:nvSpPr>
        <p:spPr>
          <a:xfrm>
            <a:off x="296012" y="6025583"/>
            <a:ext cx="9364532" cy="182800"/>
          </a:xfrm>
          <a:prstGeom prst="rect">
            <a:avLst/>
          </a:prstGeom>
          <a:solidFill>
            <a:srgbClr val="E0E0E0"/>
          </a:solidFill>
          <a:ln>
            <a:noFill/>
          </a:ln>
        </p:spPr>
        <p:txBody>
          <a:bodyPr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2082" name="Shape 2082"/>
          <p:cNvSpPr/>
          <p:nvPr/>
        </p:nvSpPr>
        <p:spPr>
          <a:xfrm>
            <a:off x="3440818" y="1460275"/>
            <a:ext cx="2871534" cy="3168880"/>
          </a:xfrm>
          <a:prstGeom prst="roundRect">
            <a:avLst>
              <a:gd name="adj" fmla="val 399"/>
            </a:avLst>
          </a:prstGeom>
          <a:solidFill>
            <a:srgbClr val="F6F6F6"/>
          </a:solidFill>
          <a:ln>
            <a:noFill/>
          </a:ln>
        </p:spPr>
        <p:txBody>
          <a:bodyPr lIns="121900" tIns="121900" rIns="121900" bIns="121900" anchor="ctr" anchorCtr="0">
            <a:noAutofit/>
          </a:bodyPr>
          <a:lstStyle/>
          <a:p>
            <a:pPr>
              <a:buClr>
                <a:srgbClr val="000000"/>
              </a:buClr>
            </a:pPr>
            <a:endParaRPr sz="1867">
              <a:solidFill>
                <a:srgbClr val="000000"/>
              </a:solidFill>
              <a:latin typeface="Arial"/>
              <a:ea typeface="Arial"/>
              <a:cs typeface="Arial"/>
              <a:sym typeface="Arial"/>
            </a:endParaRPr>
          </a:p>
        </p:txBody>
      </p:sp>
      <p:sp>
        <p:nvSpPr>
          <p:cNvPr id="2109" name="Shape 2109"/>
          <p:cNvSpPr/>
          <p:nvPr/>
        </p:nvSpPr>
        <p:spPr>
          <a:xfrm>
            <a:off x="296012" y="930235"/>
            <a:ext cx="9364532" cy="365600"/>
          </a:xfrm>
          <a:prstGeom prst="roundRect">
            <a:avLst>
              <a:gd name="adj" fmla="val 1674"/>
            </a:avLst>
          </a:prstGeom>
          <a:solidFill>
            <a:srgbClr val="519BF7"/>
          </a:solidFill>
          <a:ln>
            <a:noFill/>
          </a:ln>
          <a:effectLst>
            <a:outerShdw blurRad="38100" dist="38100" dir="5400000" sx="99000" sy="99000" algn="ctr" rotWithShape="0">
              <a:srgbClr val="000000">
                <a:alpha val="15690"/>
              </a:srgbClr>
            </a:outerShdw>
          </a:effectLst>
        </p:spPr>
        <p:txBody>
          <a:bodyPr lIns="609600" tIns="85344" rIns="0" bIns="0" anchor="t" anchorCtr="0">
            <a:noAutofit/>
          </a:bodyPr>
          <a:lstStyle/>
          <a:p>
            <a:r>
              <a:rPr lang="en-US" sz="1133" dirty="0">
                <a:solidFill>
                  <a:srgbClr val="FFFFFF"/>
                </a:solidFill>
                <a:latin typeface="Roboto"/>
                <a:ea typeface="Roboto"/>
                <a:cs typeface="Roboto"/>
              </a:rPr>
              <a:t>Apigee X (HTTPS) </a:t>
            </a:r>
            <a:r>
              <a:rPr lang="en-US" sz="1133" dirty="0">
                <a:solidFill>
                  <a:srgbClr val="FFFFFF"/>
                </a:solidFill>
                <a:latin typeface="Roboto"/>
                <a:ea typeface="Roboto"/>
                <a:cs typeface="Roboto"/>
                <a:sym typeface="Roboto"/>
              </a:rPr>
              <a:t>-&gt; Service Attachment </a:t>
            </a:r>
            <a:r>
              <a:rPr lang="en-US" sz="1133" dirty="0">
                <a:solidFill>
                  <a:srgbClr val="FFFFFF"/>
                </a:solidFill>
                <a:latin typeface="Roboto"/>
                <a:ea typeface="Roboto"/>
                <a:cs typeface="Roboto"/>
              </a:rPr>
              <a:t>-&gt; Load Balancer -&gt; Cloud VPN/Interconnect -&gt; On-prem LB (HTTPS) -&gt; Backend (HTTPS) </a:t>
            </a:r>
          </a:p>
        </p:txBody>
      </p:sp>
      <p:sp>
        <p:nvSpPr>
          <p:cNvPr id="9" name="Shape 646">
            <a:extLst>
              <a:ext uri="{FF2B5EF4-FFF2-40B4-BE49-F238E27FC236}">
                <a16:creationId xmlns:a16="http://schemas.microsoft.com/office/drawing/2014/main" id="{D23EA455-2E64-92CC-41B1-6C566E5117AB}"/>
              </a:ext>
            </a:extLst>
          </p:cNvPr>
          <p:cNvSpPr/>
          <p:nvPr/>
        </p:nvSpPr>
        <p:spPr>
          <a:xfrm>
            <a:off x="296012" y="1466419"/>
            <a:ext cx="2871534" cy="3168881"/>
          </a:xfrm>
          <a:prstGeom prst="roundRect">
            <a:avLst>
              <a:gd name="adj" fmla="val 827"/>
            </a:avLst>
          </a:prstGeom>
          <a:solidFill>
            <a:srgbClr val="FFEBEE"/>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10" name="Shape 647">
            <a:extLst>
              <a:ext uri="{FF2B5EF4-FFF2-40B4-BE49-F238E27FC236}">
                <a16:creationId xmlns:a16="http://schemas.microsoft.com/office/drawing/2014/main" id="{E58E9D7A-366C-4E51-EA98-81F54A8BDF8A}"/>
              </a:ext>
            </a:extLst>
          </p:cNvPr>
          <p:cNvSpPr txBox="1"/>
          <p:nvPr/>
        </p:nvSpPr>
        <p:spPr>
          <a:xfrm>
            <a:off x="338609" y="1455870"/>
            <a:ext cx="2871534"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Apigee X</a:t>
            </a:r>
            <a:r>
              <a:rPr lang="en-US" sz="900" b="1" dirty="0">
                <a:solidFill>
                  <a:srgbClr val="9E9E9E"/>
                </a:solidFill>
                <a:latin typeface="Roboto"/>
                <a:ea typeface="Roboto"/>
                <a:cs typeface="Roboto"/>
                <a:sym typeface="Roboto"/>
              </a:rPr>
              <a:t> Google Project</a:t>
            </a:r>
            <a:endParaRPr lang="en-US" sz="900" b="1" i="0" u="none" strike="noStrike" cap="none" dirty="0">
              <a:solidFill>
                <a:srgbClr val="9E9E9E"/>
              </a:solidFill>
              <a:latin typeface="Roboto"/>
              <a:ea typeface="Roboto"/>
              <a:cs typeface="Roboto"/>
              <a:sym typeface="Roboto"/>
            </a:endParaRPr>
          </a:p>
        </p:txBody>
      </p:sp>
      <p:sp>
        <p:nvSpPr>
          <p:cNvPr id="11" name="Shape 2082">
            <a:extLst>
              <a:ext uri="{FF2B5EF4-FFF2-40B4-BE49-F238E27FC236}">
                <a16:creationId xmlns:a16="http://schemas.microsoft.com/office/drawing/2014/main" id="{5D01BB02-6BCA-ECB8-9905-2BA6B55BE0F7}"/>
              </a:ext>
            </a:extLst>
          </p:cNvPr>
          <p:cNvSpPr/>
          <p:nvPr/>
        </p:nvSpPr>
        <p:spPr>
          <a:xfrm>
            <a:off x="3436262" y="5529368"/>
            <a:ext cx="2876090" cy="365601"/>
          </a:xfrm>
          <a:prstGeom prst="roundRect">
            <a:avLst>
              <a:gd name="adj" fmla="val 399"/>
            </a:avLst>
          </a:prstGeom>
          <a:solidFill>
            <a:srgbClr val="F6F6F6"/>
          </a:solidFill>
          <a:ln>
            <a:noFill/>
          </a:ln>
        </p:spPr>
        <p:txBody>
          <a:bodyPr lIns="121900" tIns="121900" rIns="121900" bIns="121900" anchor="ctr" anchorCtr="0">
            <a:noAutofit/>
          </a:bodyPr>
          <a:lstStyle/>
          <a:p>
            <a:pPr>
              <a:buClr>
                <a:srgbClr val="000000"/>
              </a:buClr>
            </a:pPr>
            <a:endParaRPr sz="1867">
              <a:solidFill>
                <a:srgbClr val="000000"/>
              </a:solidFill>
              <a:latin typeface="Arial"/>
              <a:ea typeface="Arial"/>
              <a:cs typeface="Arial"/>
              <a:sym typeface="Arial"/>
            </a:endParaRPr>
          </a:p>
        </p:txBody>
      </p:sp>
      <p:sp>
        <p:nvSpPr>
          <p:cNvPr id="12" name="Shape 646">
            <a:extLst>
              <a:ext uri="{FF2B5EF4-FFF2-40B4-BE49-F238E27FC236}">
                <a16:creationId xmlns:a16="http://schemas.microsoft.com/office/drawing/2014/main" id="{3E1563A9-0200-C84E-7F45-65F4BFAB73E0}"/>
              </a:ext>
            </a:extLst>
          </p:cNvPr>
          <p:cNvSpPr/>
          <p:nvPr/>
        </p:nvSpPr>
        <p:spPr>
          <a:xfrm>
            <a:off x="296012" y="5533965"/>
            <a:ext cx="2871534" cy="365602"/>
          </a:xfrm>
          <a:prstGeom prst="roundRect">
            <a:avLst>
              <a:gd name="adj" fmla="val 827"/>
            </a:avLst>
          </a:prstGeom>
          <a:solidFill>
            <a:srgbClr val="FFEBEE"/>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13" name="Shape 647">
            <a:extLst>
              <a:ext uri="{FF2B5EF4-FFF2-40B4-BE49-F238E27FC236}">
                <a16:creationId xmlns:a16="http://schemas.microsoft.com/office/drawing/2014/main" id="{5E9801B1-2624-0CC5-97BA-0B92B5812FFC}"/>
              </a:ext>
            </a:extLst>
          </p:cNvPr>
          <p:cNvSpPr txBox="1"/>
          <p:nvPr/>
        </p:nvSpPr>
        <p:spPr>
          <a:xfrm>
            <a:off x="348013" y="5566447"/>
            <a:ext cx="2871534" cy="232028"/>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750" b="0" i="0" u="none" strike="noStrike" cap="none" dirty="0">
                <a:solidFill>
                  <a:srgbClr val="9E9E9E"/>
                </a:solidFill>
                <a:latin typeface="Roboto"/>
                <a:ea typeface="Roboto"/>
                <a:cs typeface="Roboto"/>
                <a:sym typeface="Roboto"/>
              </a:rPr>
              <a:t>Google VPC</a:t>
            </a:r>
            <a:endParaRPr lang="en-US" sz="600" b="0" i="0" u="none" strike="noStrike" cap="none" dirty="0">
              <a:solidFill>
                <a:srgbClr val="9E9E9E"/>
              </a:solidFill>
              <a:latin typeface="Roboto"/>
              <a:ea typeface="Roboto"/>
              <a:cs typeface="Roboto"/>
              <a:sym typeface="Roboto"/>
            </a:endParaRPr>
          </a:p>
        </p:txBody>
      </p:sp>
      <p:sp>
        <p:nvSpPr>
          <p:cNvPr id="14" name="Shape 647">
            <a:extLst>
              <a:ext uri="{FF2B5EF4-FFF2-40B4-BE49-F238E27FC236}">
                <a16:creationId xmlns:a16="http://schemas.microsoft.com/office/drawing/2014/main" id="{EF23E183-D366-B875-5FF1-5F39A5959E7E}"/>
              </a:ext>
            </a:extLst>
          </p:cNvPr>
          <p:cNvSpPr txBox="1"/>
          <p:nvPr/>
        </p:nvSpPr>
        <p:spPr>
          <a:xfrm>
            <a:off x="3427066" y="5600229"/>
            <a:ext cx="2871534" cy="209987"/>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750" b="0" i="0" u="none" strike="noStrike" cap="none" dirty="0">
                <a:solidFill>
                  <a:srgbClr val="9E9E9E"/>
                </a:solidFill>
                <a:latin typeface="Roboto"/>
                <a:ea typeface="Roboto"/>
                <a:cs typeface="Roboto"/>
                <a:sym typeface="Roboto"/>
              </a:rPr>
              <a:t>Client VPC</a:t>
            </a:r>
            <a:endParaRPr lang="en-US" sz="600" b="0" i="0" u="none" strike="noStrike" cap="none" dirty="0">
              <a:solidFill>
                <a:srgbClr val="9E9E9E"/>
              </a:solidFill>
              <a:latin typeface="Roboto"/>
              <a:ea typeface="Roboto"/>
              <a:cs typeface="Roboto"/>
              <a:sym typeface="Roboto"/>
            </a:endParaRPr>
          </a:p>
        </p:txBody>
      </p:sp>
      <p:sp>
        <p:nvSpPr>
          <p:cNvPr id="15" name="Shape 647">
            <a:extLst>
              <a:ext uri="{FF2B5EF4-FFF2-40B4-BE49-F238E27FC236}">
                <a16:creationId xmlns:a16="http://schemas.microsoft.com/office/drawing/2014/main" id="{99CEDC6B-2B50-F328-1217-0F7730642F18}"/>
              </a:ext>
            </a:extLst>
          </p:cNvPr>
          <p:cNvSpPr txBox="1"/>
          <p:nvPr/>
        </p:nvSpPr>
        <p:spPr>
          <a:xfrm>
            <a:off x="3536435" y="1457986"/>
            <a:ext cx="2871534"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Client Google Project</a:t>
            </a:r>
          </a:p>
          <a:p>
            <a:pPr>
              <a:lnSpc>
                <a:spcPts val="1000"/>
              </a:lnSpc>
              <a:buClr>
                <a:srgbClr val="9E9E9E"/>
              </a:buClr>
              <a:buSzPct val="25000"/>
            </a:pPr>
            <a:r>
              <a:rPr lang="en-US" sz="900" b="1" dirty="0">
                <a:solidFill>
                  <a:srgbClr val="9E9E9E"/>
                </a:solidFill>
                <a:latin typeface="Roboto"/>
                <a:ea typeface="Roboto"/>
                <a:cs typeface="Roboto"/>
                <a:sym typeface="Roboto"/>
              </a:rPr>
              <a:t>(Non-peered)</a:t>
            </a:r>
            <a:endParaRPr lang="en-US" sz="900" b="1" i="0" u="none" strike="noStrike" cap="none" dirty="0">
              <a:solidFill>
                <a:srgbClr val="9E9E9E"/>
              </a:solidFill>
              <a:latin typeface="Roboto"/>
              <a:ea typeface="Roboto"/>
              <a:cs typeface="Roboto"/>
              <a:sym typeface="Roboto"/>
            </a:endParaRPr>
          </a:p>
          <a:p>
            <a:pPr marL="0" marR="0" lvl="0" indent="0" algn="l" rtl="0">
              <a:lnSpc>
                <a:spcPts val="1000"/>
              </a:lnSpc>
              <a:spcBef>
                <a:spcPts val="0"/>
              </a:spcBef>
              <a:spcAft>
                <a:spcPts val="0"/>
              </a:spcAft>
              <a:buClr>
                <a:srgbClr val="9E9E9E"/>
              </a:buClr>
              <a:buSzPct val="25000"/>
              <a:buFont typeface="Roboto"/>
              <a:buNone/>
            </a:pPr>
            <a:endParaRPr lang="en-US" sz="900" b="1" i="0" u="none" strike="noStrike" cap="none" dirty="0">
              <a:solidFill>
                <a:srgbClr val="9E9E9E"/>
              </a:solidFill>
              <a:latin typeface="Roboto"/>
              <a:ea typeface="Roboto"/>
              <a:cs typeface="Roboto"/>
              <a:sym typeface="Roboto"/>
            </a:endParaRPr>
          </a:p>
          <a:p>
            <a:pPr marL="0" marR="0" lvl="0" indent="0" algn="l" rtl="0">
              <a:lnSpc>
                <a:spcPts val="1000"/>
              </a:lnSpc>
              <a:spcBef>
                <a:spcPts val="0"/>
              </a:spcBef>
              <a:spcAft>
                <a:spcPts val="0"/>
              </a:spcAft>
              <a:buClr>
                <a:srgbClr val="9E9E9E"/>
              </a:buClr>
              <a:buSzPct val="25000"/>
              <a:buFont typeface="Roboto"/>
              <a:buNone/>
            </a:pPr>
            <a:endParaRPr lang="en-US" sz="900" b="1" i="0" u="none" strike="noStrike" cap="none" dirty="0">
              <a:solidFill>
                <a:srgbClr val="9E9E9E"/>
              </a:solidFill>
              <a:latin typeface="Roboto"/>
              <a:ea typeface="Roboto"/>
              <a:cs typeface="Roboto"/>
              <a:sym typeface="Roboto"/>
            </a:endParaRPr>
          </a:p>
        </p:txBody>
      </p:sp>
      <p:grpSp>
        <p:nvGrpSpPr>
          <p:cNvPr id="21" name="Shape 1779">
            <a:extLst>
              <a:ext uri="{FF2B5EF4-FFF2-40B4-BE49-F238E27FC236}">
                <a16:creationId xmlns:a16="http://schemas.microsoft.com/office/drawing/2014/main" id="{FEFB31B3-8EDC-0463-D153-8A2B48E66EB0}"/>
              </a:ext>
            </a:extLst>
          </p:cNvPr>
          <p:cNvGrpSpPr/>
          <p:nvPr/>
        </p:nvGrpSpPr>
        <p:grpSpPr>
          <a:xfrm>
            <a:off x="494139" y="2303690"/>
            <a:ext cx="950213" cy="395544"/>
            <a:chOff x="469795" y="2972893"/>
            <a:chExt cx="880800" cy="382200"/>
          </a:xfrm>
        </p:grpSpPr>
        <p:sp>
          <p:nvSpPr>
            <p:cNvPr id="22" name="Shape 1780">
              <a:extLst>
                <a:ext uri="{FF2B5EF4-FFF2-40B4-BE49-F238E27FC236}">
                  <a16:creationId xmlns:a16="http://schemas.microsoft.com/office/drawing/2014/main" id="{7EB9EBB4-1240-7AFE-E796-EB53B909B2BB}"/>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Apigee Runtime</a:t>
              </a:r>
            </a:p>
          </p:txBody>
        </p:sp>
        <p:pic>
          <p:nvPicPr>
            <p:cNvPr id="23" name="Shape 1781">
              <a:extLst>
                <a:ext uri="{FF2B5EF4-FFF2-40B4-BE49-F238E27FC236}">
                  <a16:creationId xmlns:a16="http://schemas.microsoft.com/office/drawing/2014/main" id="{CDA22489-CE7B-8C57-E95D-C58A214E5D8E}"/>
                </a:ext>
              </a:extLst>
            </p:cNvPr>
            <p:cNvPicPr preferRelativeResize="0"/>
            <p:nvPr/>
          </p:nvPicPr>
          <p:blipFill rotWithShape="1">
            <a:blip r:embed="rId3"/>
            <a:srcRect t="6862" b="6862"/>
            <a:stretch/>
          </p:blipFill>
          <p:spPr>
            <a:xfrm>
              <a:off x="515552" y="3040183"/>
              <a:ext cx="210072" cy="229892"/>
            </a:xfrm>
            <a:prstGeom prst="rect">
              <a:avLst/>
            </a:prstGeom>
            <a:noFill/>
            <a:ln>
              <a:noFill/>
            </a:ln>
          </p:spPr>
        </p:pic>
      </p:grpSp>
      <p:grpSp>
        <p:nvGrpSpPr>
          <p:cNvPr id="24" name="Shape 1779">
            <a:extLst>
              <a:ext uri="{FF2B5EF4-FFF2-40B4-BE49-F238E27FC236}">
                <a16:creationId xmlns:a16="http://schemas.microsoft.com/office/drawing/2014/main" id="{A5F01E65-3D87-A845-B448-EBA681EFEED2}"/>
              </a:ext>
            </a:extLst>
          </p:cNvPr>
          <p:cNvGrpSpPr/>
          <p:nvPr/>
        </p:nvGrpSpPr>
        <p:grpSpPr>
          <a:xfrm>
            <a:off x="1894431" y="2305481"/>
            <a:ext cx="950213" cy="393192"/>
            <a:chOff x="469795" y="2972893"/>
            <a:chExt cx="880800" cy="382200"/>
          </a:xfrm>
        </p:grpSpPr>
        <p:sp>
          <p:nvSpPr>
            <p:cNvPr id="25" name="Shape 1780">
              <a:extLst>
                <a:ext uri="{FF2B5EF4-FFF2-40B4-BE49-F238E27FC236}">
                  <a16:creationId xmlns:a16="http://schemas.microsoft.com/office/drawing/2014/main" id="{19D3C6CA-771C-ECAF-C02C-07042348C99A}"/>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Endpoint Attachment</a:t>
              </a:r>
            </a:p>
          </p:txBody>
        </p:sp>
        <p:pic>
          <p:nvPicPr>
            <p:cNvPr id="26" name="Shape 1781">
              <a:extLst>
                <a:ext uri="{FF2B5EF4-FFF2-40B4-BE49-F238E27FC236}">
                  <a16:creationId xmlns:a16="http://schemas.microsoft.com/office/drawing/2014/main" id="{9A92B5A3-8DFF-1360-A459-622880E83275}"/>
                </a:ext>
              </a:extLst>
            </p:cNvPr>
            <p:cNvPicPr preferRelativeResize="0"/>
            <p:nvPr/>
          </p:nvPicPr>
          <p:blipFill rotWithShape="1">
            <a:blip r:embed="rId4"/>
            <a:srcRect l="4456" r="4456"/>
            <a:stretch/>
          </p:blipFill>
          <p:spPr>
            <a:xfrm>
              <a:off x="515553" y="3040183"/>
              <a:ext cx="235069" cy="247089"/>
            </a:xfrm>
            <a:prstGeom prst="rect">
              <a:avLst/>
            </a:prstGeom>
            <a:noFill/>
            <a:ln>
              <a:noFill/>
            </a:ln>
          </p:spPr>
        </p:pic>
      </p:grpSp>
      <p:cxnSp>
        <p:nvCxnSpPr>
          <p:cNvPr id="34" name="Shape 4409">
            <a:extLst>
              <a:ext uri="{FF2B5EF4-FFF2-40B4-BE49-F238E27FC236}">
                <a16:creationId xmlns:a16="http://schemas.microsoft.com/office/drawing/2014/main" id="{2EDCEAD5-6B88-7165-79EF-118BC68EE746}"/>
              </a:ext>
            </a:extLst>
          </p:cNvPr>
          <p:cNvCxnSpPr>
            <a:cxnSpLocks/>
            <a:stCxn id="22" idx="3"/>
            <a:endCxn id="25" idx="1"/>
          </p:cNvCxnSpPr>
          <p:nvPr/>
        </p:nvCxnSpPr>
        <p:spPr>
          <a:xfrm>
            <a:off x="1444352" y="2501462"/>
            <a:ext cx="450079" cy="615"/>
          </a:xfrm>
          <a:prstGeom prst="straightConnector1">
            <a:avLst/>
          </a:prstGeom>
          <a:noFill/>
          <a:ln w="9525" cap="flat" cmpd="sng">
            <a:solidFill>
              <a:srgbClr val="3A7DF0"/>
            </a:solidFill>
            <a:prstDash val="solid"/>
            <a:round/>
            <a:headEnd type="none" w="med" len="med"/>
            <a:tailEnd type="triangle" w="med" len="med"/>
          </a:ln>
        </p:spPr>
      </p:cxnSp>
      <p:sp>
        <p:nvSpPr>
          <p:cNvPr id="45" name="TextBox 44">
            <a:extLst>
              <a:ext uri="{FF2B5EF4-FFF2-40B4-BE49-F238E27FC236}">
                <a16:creationId xmlns:a16="http://schemas.microsoft.com/office/drawing/2014/main" id="{EB921625-BAE6-B6BD-C89A-C3BCE8B84E4C}"/>
              </a:ext>
            </a:extLst>
          </p:cNvPr>
          <p:cNvSpPr txBox="1"/>
          <p:nvPr/>
        </p:nvSpPr>
        <p:spPr>
          <a:xfrm>
            <a:off x="9756161" y="930235"/>
            <a:ext cx="2209619" cy="3231654"/>
          </a:xfrm>
          <a:prstGeom prst="rect">
            <a:avLst/>
          </a:prstGeom>
          <a:noFill/>
        </p:spPr>
        <p:txBody>
          <a:bodyPr wrap="square">
            <a:spAutoFit/>
          </a:bodyPr>
          <a:lstStyle/>
          <a:p>
            <a:r>
              <a:rPr lang="en-US" sz="1200" dirty="0">
                <a:effectLst/>
                <a:latin typeface="Helvetica" pitchFamily="2" charset="0"/>
              </a:rPr>
              <a:t>Key points</a:t>
            </a:r>
          </a:p>
          <a:p>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 Connection to on-premises Google project via Interconnect/VPN</a:t>
            </a:r>
          </a:p>
          <a:p>
            <a:pPr marL="171450" indent="-171450">
              <a:buFont typeface="Arial" panose="020B0604020202020204" pitchFamily="34" charset="0"/>
              <a:buChar char="•"/>
            </a:pPr>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 Client VPC does not need to be peered to the Google tenant VPC</a:t>
            </a:r>
          </a:p>
          <a:p>
            <a:pPr marL="171450" indent="-171450">
              <a:buFont typeface="Arial" panose="020B0604020202020204" pitchFamily="34" charset="0"/>
              <a:buChar char="•"/>
            </a:pPr>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 One Endpoint Attachment per Service Attachment.</a:t>
            </a:r>
          </a:p>
          <a:p>
            <a:pPr marL="171450" indent="-171450">
              <a:buFont typeface="Arial" panose="020B0604020202020204" pitchFamily="34" charset="0"/>
              <a:buChar char="•"/>
            </a:pPr>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Service attachment can attach to one of TCP (L4) or HTTPS (L7) LB.</a:t>
            </a:r>
          </a:p>
          <a:p>
            <a:pPr marL="171450" indent="-171450">
              <a:buFont typeface="Arial" panose="020B0604020202020204" pitchFamily="34" charset="0"/>
              <a:buChar char="•"/>
            </a:pPr>
            <a:endParaRPr lang="en-US" sz="1200" dirty="0">
              <a:effectLst/>
              <a:latin typeface="Helvetica" pitchFamily="2" charset="0"/>
            </a:endParaRPr>
          </a:p>
        </p:txBody>
      </p:sp>
      <p:grpSp>
        <p:nvGrpSpPr>
          <p:cNvPr id="18" name="Shape 4352">
            <a:extLst>
              <a:ext uri="{FF2B5EF4-FFF2-40B4-BE49-F238E27FC236}">
                <a16:creationId xmlns:a16="http://schemas.microsoft.com/office/drawing/2014/main" id="{D74FF8C3-57EF-14E0-3C7C-8F4359DB53C4}"/>
              </a:ext>
            </a:extLst>
          </p:cNvPr>
          <p:cNvGrpSpPr/>
          <p:nvPr/>
        </p:nvGrpSpPr>
        <p:grpSpPr>
          <a:xfrm>
            <a:off x="6637620" y="1457986"/>
            <a:ext cx="3010902" cy="3171169"/>
            <a:chOff x="2178035" y="1054763"/>
            <a:chExt cx="719633" cy="902930"/>
          </a:xfrm>
        </p:grpSpPr>
        <p:sp>
          <p:nvSpPr>
            <p:cNvPr id="27" name="Shape 4353">
              <a:extLst>
                <a:ext uri="{FF2B5EF4-FFF2-40B4-BE49-F238E27FC236}">
                  <a16:creationId xmlns:a16="http://schemas.microsoft.com/office/drawing/2014/main" id="{27BD9231-8AFA-5BC0-743E-2DB724FED477}"/>
                </a:ext>
              </a:extLst>
            </p:cNvPr>
            <p:cNvSpPr/>
            <p:nvPr/>
          </p:nvSpPr>
          <p:spPr>
            <a:xfrm>
              <a:off x="2178035" y="1054763"/>
              <a:ext cx="719633" cy="902930"/>
            </a:xfrm>
            <a:prstGeom prst="roundRect">
              <a:avLst>
                <a:gd name="adj" fmla="val 827"/>
              </a:avLst>
            </a:prstGeom>
            <a:solidFill>
              <a:srgbClr val="EFEBE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29" name="Shape 4354">
              <a:extLst>
                <a:ext uri="{FF2B5EF4-FFF2-40B4-BE49-F238E27FC236}">
                  <a16:creationId xmlns:a16="http://schemas.microsoft.com/office/drawing/2014/main" id="{6D87D37A-5A2E-BCCD-067E-DFAE2C020988}"/>
                </a:ext>
              </a:extLst>
            </p:cNvPr>
            <p:cNvSpPr txBox="1"/>
            <p:nvPr/>
          </p:nvSpPr>
          <p:spPr>
            <a:xfrm>
              <a:off x="2178036" y="1054763"/>
              <a:ext cx="673265" cy="116576"/>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On Premises</a:t>
              </a:r>
            </a:p>
          </p:txBody>
        </p:sp>
      </p:grpSp>
      <p:grpSp>
        <p:nvGrpSpPr>
          <p:cNvPr id="31" name="Shape 4355">
            <a:extLst>
              <a:ext uri="{FF2B5EF4-FFF2-40B4-BE49-F238E27FC236}">
                <a16:creationId xmlns:a16="http://schemas.microsoft.com/office/drawing/2014/main" id="{B0061B47-780B-C8C3-1329-534E937F42F8}"/>
              </a:ext>
            </a:extLst>
          </p:cNvPr>
          <p:cNvGrpSpPr/>
          <p:nvPr/>
        </p:nvGrpSpPr>
        <p:grpSpPr>
          <a:xfrm>
            <a:off x="8814505" y="2027522"/>
            <a:ext cx="502920" cy="621792"/>
            <a:chOff x="259264" y="3512557"/>
            <a:chExt cx="502920" cy="621792"/>
          </a:xfrm>
        </p:grpSpPr>
        <p:sp>
          <p:nvSpPr>
            <p:cNvPr id="32" name="Shape 4356">
              <a:extLst>
                <a:ext uri="{FF2B5EF4-FFF2-40B4-BE49-F238E27FC236}">
                  <a16:creationId xmlns:a16="http://schemas.microsoft.com/office/drawing/2014/main" id="{AF66D5C9-8668-BFEF-0556-2C42BC06A1BB}"/>
                </a:ext>
              </a:extLst>
            </p:cNvPr>
            <p:cNvSpPr/>
            <p:nvPr/>
          </p:nvSpPr>
          <p:spPr>
            <a:xfrm>
              <a:off x="259264" y="3512557"/>
              <a:ext cx="502920" cy="621792"/>
            </a:xfrm>
            <a:prstGeom prst="roundRect">
              <a:avLst>
                <a:gd name="adj" fmla="val 1674"/>
              </a:avLst>
            </a:prstGeom>
            <a:solidFill>
              <a:schemeClr val="lt1"/>
            </a:solidFill>
            <a:ln>
              <a:noFill/>
            </a:ln>
            <a:effectLst>
              <a:outerShdw blurRad="19050" dist="6350" dir="5400000" algn="ctr" rotWithShape="0">
                <a:schemeClr val="dk1">
                  <a:alpha val="44705"/>
                </a:schemeClr>
              </a:outerShdw>
            </a:effectLst>
          </p:spPr>
          <p:txBody>
            <a:bodyPr lIns="0" tIns="484625" rIns="0" bIns="45700" anchor="ctr" anchorCtr="0">
              <a:noAutofit/>
            </a:bodyPr>
            <a:lstStyle/>
            <a:p>
              <a:pPr marL="0" marR="0" lvl="0" indent="0" algn="ctr" rtl="0">
                <a:lnSpc>
                  <a:spcPct val="100000"/>
                </a:lnSpc>
                <a:spcBef>
                  <a:spcPts val="0"/>
                </a:spcBef>
                <a:spcAft>
                  <a:spcPts val="0"/>
                </a:spcAft>
                <a:buClr>
                  <a:srgbClr val="212121"/>
                </a:buClr>
                <a:buSzPct val="25000"/>
                <a:buFont typeface="Roboto"/>
                <a:buNone/>
              </a:pPr>
              <a:r>
                <a:rPr lang="en-US" sz="650" b="0" i="0" u="none" strike="noStrike" cap="none" dirty="0">
                  <a:solidFill>
                    <a:srgbClr val="212121"/>
                  </a:solidFill>
                  <a:latin typeface="Roboto"/>
                  <a:ea typeface="Roboto"/>
                  <a:cs typeface="Roboto"/>
                  <a:sym typeface="Roboto"/>
                </a:rPr>
                <a:t>Backend Service</a:t>
              </a:r>
            </a:p>
          </p:txBody>
        </p:sp>
        <p:pic>
          <p:nvPicPr>
            <p:cNvPr id="33" name="Shape 4357">
              <a:extLst>
                <a:ext uri="{FF2B5EF4-FFF2-40B4-BE49-F238E27FC236}">
                  <a16:creationId xmlns:a16="http://schemas.microsoft.com/office/drawing/2014/main" id="{5D2ABFED-0C1A-4A4E-28C1-70A3192FEA8F}"/>
                </a:ext>
              </a:extLst>
            </p:cNvPr>
            <p:cNvPicPr preferRelativeResize="0"/>
            <p:nvPr/>
          </p:nvPicPr>
          <p:blipFill rotWithShape="1">
            <a:blip r:embed="rId5">
              <a:alphaModFix/>
            </a:blip>
            <a:srcRect/>
            <a:stretch/>
          </p:blipFill>
          <p:spPr>
            <a:xfrm>
              <a:off x="295840" y="3549132"/>
              <a:ext cx="429767" cy="429767"/>
            </a:xfrm>
            <a:prstGeom prst="rect">
              <a:avLst/>
            </a:prstGeom>
            <a:noFill/>
            <a:ln>
              <a:noFill/>
            </a:ln>
          </p:spPr>
        </p:pic>
      </p:grpSp>
      <p:grpSp>
        <p:nvGrpSpPr>
          <p:cNvPr id="35" name="Shape 4358">
            <a:extLst>
              <a:ext uri="{FF2B5EF4-FFF2-40B4-BE49-F238E27FC236}">
                <a16:creationId xmlns:a16="http://schemas.microsoft.com/office/drawing/2014/main" id="{28AB009D-FF89-324A-3F82-E7EECF063C88}"/>
              </a:ext>
            </a:extLst>
          </p:cNvPr>
          <p:cNvGrpSpPr/>
          <p:nvPr/>
        </p:nvGrpSpPr>
        <p:grpSpPr>
          <a:xfrm>
            <a:off x="8814505" y="2740753"/>
            <a:ext cx="502920" cy="621792"/>
            <a:chOff x="259264" y="3512557"/>
            <a:chExt cx="502920" cy="621792"/>
          </a:xfrm>
        </p:grpSpPr>
        <p:sp>
          <p:nvSpPr>
            <p:cNvPr id="36" name="Shape 4359">
              <a:extLst>
                <a:ext uri="{FF2B5EF4-FFF2-40B4-BE49-F238E27FC236}">
                  <a16:creationId xmlns:a16="http://schemas.microsoft.com/office/drawing/2014/main" id="{EEE1E710-9E9B-21DE-E1B2-33E67082B87D}"/>
                </a:ext>
              </a:extLst>
            </p:cNvPr>
            <p:cNvSpPr/>
            <p:nvPr/>
          </p:nvSpPr>
          <p:spPr>
            <a:xfrm>
              <a:off x="259264" y="3512557"/>
              <a:ext cx="502920" cy="621792"/>
            </a:xfrm>
            <a:prstGeom prst="roundRect">
              <a:avLst>
                <a:gd name="adj" fmla="val 1674"/>
              </a:avLst>
            </a:prstGeom>
            <a:solidFill>
              <a:schemeClr val="lt1"/>
            </a:solidFill>
            <a:ln>
              <a:noFill/>
            </a:ln>
            <a:effectLst>
              <a:outerShdw blurRad="19050" dist="6350" dir="5400000" algn="ctr" rotWithShape="0">
                <a:schemeClr val="dk1">
                  <a:alpha val="44705"/>
                </a:schemeClr>
              </a:outerShdw>
            </a:effectLst>
          </p:spPr>
          <p:txBody>
            <a:bodyPr lIns="0" tIns="484625" rIns="0" bIns="45700" anchor="ctr" anchorCtr="0">
              <a:noAutofit/>
            </a:bodyPr>
            <a:lstStyle/>
            <a:p>
              <a:pPr marL="0" marR="0" lvl="0" indent="0" algn="ctr" rtl="0">
                <a:lnSpc>
                  <a:spcPct val="100000"/>
                </a:lnSpc>
                <a:spcBef>
                  <a:spcPts val="0"/>
                </a:spcBef>
                <a:spcAft>
                  <a:spcPts val="0"/>
                </a:spcAft>
                <a:buClr>
                  <a:srgbClr val="212121"/>
                </a:buClr>
                <a:buSzPct val="25000"/>
                <a:buFont typeface="Roboto"/>
                <a:buNone/>
              </a:pPr>
              <a:r>
                <a:rPr lang="en-US" sz="650" b="0" i="0" u="none" strike="noStrike" cap="none" dirty="0">
                  <a:solidFill>
                    <a:srgbClr val="212121"/>
                  </a:solidFill>
                  <a:latin typeface="Roboto"/>
                  <a:ea typeface="Roboto"/>
                  <a:cs typeface="Roboto"/>
                  <a:sym typeface="Roboto"/>
                </a:rPr>
                <a:t>Backend Service</a:t>
              </a:r>
            </a:p>
          </p:txBody>
        </p:sp>
        <p:pic>
          <p:nvPicPr>
            <p:cNvPr id="37" name="Shape 4360">
              <a:extLst>
                <a:ext uri="{FF2B5EF4-FFF2-40B4-BE49-F238E27FC236}">
                  <a16:creationId xmlns:a16="http://schemas.microsoft.com/office/drawing/2014/main" id="{27F10B56-BD23-A7A9-C401-D2E9C155AA0B}"/>
                </a:ext>
              </a:extLst>
            </p:cNvPr>
            <p:cNvPicPr preferRelativeResize="0"/>
            <p:nvPr/>
          </p:nvPicPr>
          <p:blipFill rotWithShape="1">
            <a:blip r:embed="rId5">
              <a:alphaModFix/>
            </a:blip>
            <a:srcRect/>
            <a:stretch/>
          </p:blipFill>
          <p:spPr>
            <a:xfrm>
              <a:off x="295840" y="3549132"/>
              <a:ext cx="429767" cy="429767"/>
            </a:xfrm>
            <a:prstGeom prst="rect">
              <a:avLst/>
            </a:prstGeom>
            <a:noFill/>
            <a:ln>
              <a:noFill/>
            </a:ln>
          </p:spPr>
        </p:pic>
      </p:grpSp>
      <p:grpSp>
        <p:nvGrpSpPr>
          <p:cNvPr id="38" name="Shape 4361">
            <a:extLst>
              <a:ext uri="{FF2B5EF4-FFF2-40B4-BE49-F238E27FC236}">
                <a16:creationId xmlns:a16="http://schemas.microsoft.com/office/drawing/2014/main" id="{5290F26A-CD88-A3C8-3482-419C6F56B886}"/>
              </a:ext>
            </a:extLst>
          </p:cNvPr>
          <p:cNvGrpSpPr/>
          <p:nvPr/>
        </p:nvGrpSpPr>
        <p:grpSpPr>
          <a:xfrm>
            <a:off x="8814505" y="3453986"/>
            <a:ext cx="502920" cy="621792"/>
            <a:chOff x="259264" y="3512557"/>
            <a:chExt cx="502920" cy="621792"/>
          </a:xfrm>
        </p:grpSpPr>
        <p:sp>
          <p:nvSpPr>
            <p:cNvPr id="39" name="Shape 4362">
              <a:extLst>
                <a:ext uri="{FF2B5EF4-FFF2-40B4-BE49-F238E27FC236}">
                  <a16:creationId xmlns:a16="http://schemas.microsoft.com/office/drawing/2014/main" id="{BC056EB1-7A01-8F71-76E3-0A0CDD0B7F01}"/>
                </a:ext>
              </a:extLst>
            </p:cNvPr>
            <p:cNvSpPr/>
            <p:nvPr/>
          </p:nvSpPr>
          <p:spPr>
            <a:xfrm>
              <a:off x="259264" y="3512557"/>
              <a:ext cx="502920" cy="621792"/>
            </a:xfrm>
            <a:prstGeom prst="roundRect">
              <a:avLst>
                <a:gd name="adj" fmla="val 1674"/>
              </a:avLst>
            </a:prstGeom>
            <a:solidFill>
              <a:schemeClr val="lt1"/>
            </a:solidFill>
            <a:ln>
              <a:noFill/>
            </a:ln>
            <a:effectLst>
              <a:outerShdw blurRad="19050" dist="6350" dir="5400000" algn="ctr" rotWithShape="0">
                <a:schemeClr val="dk1">
                  <a:alpha val="44705"/>
                </a:schemeClr>
              </a:outerShdw>
            </a:effectLst>
          </p:spPr>
          <p:txBody>
            <a:bodyPr lIns="0" tIns="484625" rIns="0" bIns="45700" anchor="ctr" anchorCtr="0">
              <a:noAutofit/>
            </a:bodyPr>
            <a:lstStyle/>
            <a:p>
              <a:pPr marL="0" marR="0" lvl="0" indent="0" algn="ctr" rtl="0">
                <a:lnSpc>
                  <a:spcPct val="100000"/>
                </a:lnSpc>
                <a:spcBef>
                  <a:spcPts val="0"/>
                </a:spcBef>
                <a:spcAft>
                  <a:spcPts val="0"/>
                </a:spcAft>
                <a:buClr>
                  <a:srgbClr val="212121"/>
                </a:buClr>
                <a:buSzPct val="25000"/>
                <a:buFont typeface="Roboto"/>
                <a:buNone/>
              </a:pPr>
              <a:r>
                <a:rPr lang="en-US" sz="650" b="0" i="0" u="none" strike="noStrike" cap="none" dirty="0">
                  <a:solidFill>
                    <a:srgbClr val="212121"/>
                  </a:solidFill>
                  <a:latin typeface="Roboto"/>
                  <a:ea typeface="Roboto"/>
                  <a:cs typeface="Roboto"/>
                  <a:sym typeface="Roboto"/>
                </a:rPr>
                <a:t>Backend Service</a:t>
              </a:r>
            </a:p>
          </p:txBody>
        </p:sp>
        <p:pic>
          <p:nvPicPr>
            <p:cNvPr id="40" name="Shape 4363">
              <a:extLst>
                <a:ext uri="{FF2B5EF4-FFF2-40B4-BE49-F238E27FC236}">
                  <a16:creationId xmlns:a16="http://schemas.microsoft.com/office/drawing/2014/main" id="{C277DB80-120F-DFB3-F40C-8DB30C084CFA}"/>
                </a:ext>
              </a:extLst>
            </p:cNvPr>
            <p:cNvPicPr preferRelativeResize="0"/>
            <p:nvPr/>
          </p:nvPicPr>
          <p:blipFill rotWithShape="1">
            <a:blip r:embed="rId5">
              <a:alphaModFix/>
            </a:blip>
            <a:srcRect/>
            <a:stretch/>
          </p:blipFill>
          <p:spPr>
            <a:xfrm>
              <a:off x="295840" y="3549132"/>
              <a:ext cx="429767" cy="429767"/>
            </a:xfrm>
            <a:prstGeom prst="rect">
              <a:avLst/>
            </a:prstGeom>
            <a:noFill/>
            <a:ln>
              <a:noFill/>
            </a:ln>
          </p:spPr>
        </p:pic>
      </p:grpSp>
      <p:cxnSp>
        <p:nvCxnSpPr>
          <p:cNvPr id="41" name="Shape 4368">
            <a:extLst>
              <a:ext uri="{FF2B5EF4-FFF2-40B4-BE49-F238E27FC236}">
                <a16:creationId xmlns:a16="http://schemas.microsoft.com/office/drawing/2014/main" id="{1BDC7DF7-00D0-6C49-62A0-38E739334AA5}"/>
              </a:ext>
            </a:extLst>
          </p:cNvPr>
          <p:cNvCxnSpPr>
            <a:cxnSpLocks/>
            <a:stCxn id="56" idx="3"/>
            <a:endCxn id="36" idx="1"/>
          </p:cNvCxnSpPr>
          <p:nvPr/>
        </p:nvCxnSpPr>
        <p:spPr>
          <a:xfrm flipV="1">
            <a:off x="8274013" y="3051649"/>
            <a:ext cx="540492" cy="7750"/>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2" name="Shape 4369">
            <a:extLst>
              <a:ext uri="{FF2B5EF4-FFF2-40B4-BE49-F238E27FC236}">
                <a16:creationId xmlns:a16="http://schemas.microsoft.com/office/drawing/2014/main" id="{97F80E3F-7CF4-B715-E526-5BD6BF19FD92}"/>
              </a:ext>
            </a:extLst>
          </p:cNvPr>
          <p:cNvCxnSpPr>
            <a:cxnSpLocks/>
            <a:stCxn id="56" idx="3"/>
            <a:endCxn id="32" idx="1"/>
          </p:cNvCxnSpPr>
          <p:nvPr/>
        </p:nvCxnSpPr>
        <p:spPr>
          <a:xfrm flipV="1">
            <a:off x="8274013" y="2338418"/>
            <a:ext cx="540492" cy="720981"/>
          </a:xfrm>
          <a:prstGeom prst="bentConnector3">
            <a:avLst>
              <a:gd name="adj1" fmla="val 50000"/>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3" name="Shape 4370">
            <a:extLst>
              <a:ext uri="{FF2B5EF4-FFF2-40B4-BE49-F238E27FC236}">
                <a16:creationId xmlns:a16="http://schemas.microsoft.com/office/drawing/2014/main" id="{449FBE15-A10D-D74A-94E3-8CEBA943625D}"/>
              </a:ext>
            </a:extLst>
          </p:cNvPr>
          <p:cNvCxnSpPr>
            <a:cxnSpLocks/>
            <a:stCxn id="56" idx="3"/>
            <a:endCxn id="39" idx="1"/>
          </p:cNvCxnSpPr>
          <p:nvPr/>
        </p:nvCxnSpPr>
        <p:spPr>
          <a:xfrm>
            <a:off x="8274013" y="3059399"/>
            <a:ext cx="540492" cy="705483"/>
          </a:xfrm>
          <a:prstGeom prst="bentConnector3">
            <a:avLst>
              <a:gd name="adj1" fmla="val 50000"/>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4" name="Shape 4353">
            <a:extLst>
              <a:ext uri="{FF2B5EF4-FFF2-40B4-BE49-F238E27FC236}">
                <a16:creationId xmlns:a16="http://schemas.microsoft.com/office/drawing/2014/main" id="{72E82B1E-53AF-B247-79CA-8A3D6A29F533}"/>
              </a:ext>
            </a:extLst>
          </p:cNvPr>
          <p:cNvSpPr/>
          <p:nvPr/>
        </p:nvSpPr>
        <p:spPr>
          <a:xfrm>
            <a:off x="6637620" y="5529367"/>
            <a:ext cx="3010902" cy="365602"/>
          </a:xfrm>
          <a:prstGeom prst="roundRect">
            <a:avLst>
              <a:gd name="adj" fmla="val 827"/>
            </a:avLst>
          </a:prstGeom>
          <a:solidFill>
            <a:srgbClr val="EFEBE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48" name="Shape 4354">
            <a:extLst>
              <a:ext uri="{FF2B5EF4-FFF2-40B4-BE49-F238E27FC236}">
                <a16:creationId xmlns:a16="http://schemas.microsoft.com/office/drawing/2014/main" id="{0053BA4B-3155-17F3-9F92-97D9255ADED4}"/>
              </a:ext>
            </a:extLst>
          </p:cNvPr>
          <p:cNvSpPr txBox="1"/>
          <p:nvPr/>
        </p:nvSpPr>
        <p:spPr>
          <a:xfrm>
            <a:off x="6659140" y="5600229"/>
            <a:ext cx="2816901" cy="209987"/>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750" i="0" u="none" strike="noStrike" cap="none" dirty="0">
                <a:solidFill>
                  <a:srgbClr val="9E9E9E"/>
                </a:solidFill>
                <a:latin typeface="Roboto"/>
                <a:ea typeface="Roboto"/>
                <a:cs typeface="Roboto"/>
                <a:sym typeface="Roboto"/>
              </a:rPr>
              <a:t>On Premises</a:t>
            </a:r>
          </a:p>
        </p:txBody>
      </p:sp>
      <p:grpSp>
        <p:nvGrpSpPr>
          <p:cNvPr id="49" name="Shape 1779">
            <a:extLst>
              <a:ext uri="{FF2B5EF4-FFF2-40B4-BE49-F238E27FC236}">
                <a16:creationId xmlns:a16="http://schemas.microsoft.com/office/drawing/2014/main" id="{D1788A29-A45C-E519-8635-2FC0A330D7C7}"/>
              </a:ext>
            </a:extLst>
          </p:cNvPr>
          <p:cNvGrpSpPr/>
          <p:nvPr/>
        </p:nvGrpSpPr>
        <p:grpSpPr>
          <a:xfrm>
            <a:off x="6015347" y="2863093"/>
            <a:ext cx="999600" cy="395544"/>
            <a:chOff x="469795" y="2972893"/>
            <a:chExt cx="926579" cy="382200"/>
          </a:xfrm>
        </p:grpSpPr>
        <p:sp>
          <p:nvSpPr>
            <p:cNvPr id="50" name="Shape 1780">
              <a:extLst>
                <a:ext uri="{FF2B5EF4-FFF2-40B4-BE49-F238E27FC236}">
                  <a16:creationId xmlns:a16="http://schemas.microsoft.com/office/drawing/2014/main" id="{22A0A2F4-AD1C-FC2E-EE75-BCBD060FCDB7}"/>
                </a:ext>
              </a:extLst>
            </p:cNvPr>
            <p:cNvSpPr/>
            <p:nvPr/>
          </p:nvSpPr>
          <p:spPr>
            <a:xfrm>
              <a:off x="469795" y="2972893"/>
              <a:ext cx="926579"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Cloud VPN/ Interconnect</a:t>
              </a:r>
            </a:p>
          </p:txBody>
        </p:sp>
        <p:pic>
          <p:nvPicPr>
            <p:cNvPr id="51" name="Shape 1781">
              <a:extLst>
                <a:ext uri="{FF2B5EF4-FFF2-40B4-BE49-F238E27FC236}">
                  <a16:creationId xmlns:a16="http://schemas.microsoft.com/office/drawing/2014/main" id="{AF8680AE-8EEB-44FD-59D2-F47692F43379}"/>
                </a:ext>
              </a:extLst>
            </p:cNvPr>
            <p:cNvPicPr preferRelativeResize="0"/>
            <p:nvPr/>
          </p:nvPicPr>
          <p:blipFill rotWithShape="1">
            <a:blip r:embed="rId6"/>
            <a:srcRect t="1186" b="1186"/>
            <a:stretch/>
          </p:blipFill>
          <p:spPr>
            <a:xfrm>
              <a:off x="515552" y="3040183"/>
              <a:ext cx="274200" cy="246600"/>
            </a:xfrm>
            <a:prstGeom prst="rect">
              <a:avLst/>
            </a:prstGeom>
            <a:noFill/>
            <a:ln>
              <a:noFill/>
            </a:ln>
          </p:spPr>
        </p:pic>
      </p:grpSp>
      <p:grpSp>
        <p:nvGrpSpPr>
          <p:cNvPr id="55" name="Shape 4412">
            <a:extLst>
              <a:ext uri="{FF2B5EF4-FFF2-40B4-BE49-F238E27FC236}">
                <a16:creationId xmlns:a16="http://schemas.microsoft.com/office/drawing/2014/main" id="{93EE7662-3726-645E-61AB-7C141FE06CA8}"/>
              </a:ext>
            </a:extLst>
          </p:cNvPr>
          <p:cNvGrpSpPr/>
          <p:nvPr/>
        </p:nvGrpSpPr>
        <p:grpSpPr>
          <a:xfrm>
            <a:off x="7220528" y="2868299"/>
            <a:ext cx="1053485" cy="382200"/>
            <a:chOff x="1706880" y="2719167"/>
            <a:chExt cx="1017631" cy="382200"/>
          </a:xfrm>
        </p:grpSpPr>
        <p:sp>
          <p:nvSpPr>
            <p:cNvPr id="56" name="Shape 4410">
              <a:extLst>
                <a:ext uri="{FF2B5EF4-FFF2-40B4-BE49-F238E27FC236}">
                  <a16:creationId xmlns:a16="http://schemas.microsoft.com/office/drawing/2014/main" id="{486B0323-E4D8-4C1B-C898-2178D5DC1AC1}"/>
                </a:ext>
              </a:extLst>
            </p:cNvPr>
            <p:cNvSpPr/>
            <p:nvPr/>
          </p:nvSpPr>
          <p:spPr>
            <a:xfrm>
              <a:off x="1706880" y="2719167"/>
              <a:ext cx="1017631"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573000" tIns="97533" rIns="60933" bIns="97533" anchor="ctr" anchorCtr="0">
              <a:noAutofit/>
            </a:bodyPr>
            <a:lstStyle/>
            <a:p>
              <a:pPr>
                <a:lnSpc>
                  <a:spcPct val="121428"/>
                </a:lnSpc>
                <a:spcBef>
                  <a:spcPts val="267"/>
                </a:spcBef>
                <a:buClr>
                  <a:srgbClr val="757575"/>
                </a:buClr>
                <a:buSzPct val="25000"/>
              </a:pPr>
              <a:r>
                <a:rPr lang="en-US" sz="700" dirty="0">
                  <a:solidFill>
                    <a:srgbClr val="757575"/>
                  </a:solidFill>
                  <a:latin typeface="Roboto"/>
                  <a:ea typeface="Roboto"/>
                  <a:cs typeface="Roboto"/>
                  <a:sym typeface="Roboto"/>
                </a:rPr>
                <a:t>Load Balancer</a:t>
              </a:r>
            </a:p>
          </p:txBody>
        </p:sp>
        <p:pic>
          <p:nvPicPr>
            <p:cNvPr id="57" name="Shape 4413" descr="Cloud-Load-Balancing.png">
              <a:extLst>
                <a:ext uri="{FF2B5EF4-FFF2-40B4-BE49-F238E27FC236}">
                  <a16:creationId xmlns:a16="http://schemas.microsoft.com/office/drawing/2014/main" id="{76807527-773B-6E4C-43F2-6C31A6EA2486}"/>
                </a:ext>
              </a:extLst>
            </p:cNvPr>
            <p:cNvPicPr preferRelativeResize="0"/>
            <p:nvPr/>
          </p:nvPicPr>
          <p:blipFill rotWithShape="1">
            <a:blip r:embed="rId7">
              <a:alphaModFix/>
              <a:grayscl/>
            </a:blip>
            <a:srcRect t="5036" b="5027"/>
            <a:stretch/>
          </p:blipFill>
          <p:spPr>
            <a:xfrm>
              <a:off x="1835316" y="2787521"/>
              <a:ext cx="218992" cy="246600"/>
            </a:xfrm>
            <a:prstGeom prst="rect">
              <a:avLst/>
            </a:prstGeom>
            <a:noFill/>
            <a:ln>
              <a:noFill/>
            </a:ln>
          </p:spPr>
        </p:pic>
      </p:grpSp>
      <p:cxnSp>
        <p:nvCxnSpPr>
          <p:cNvPr id="63" name="Shape 4368">
            <a:extLst>
              <a:ext uri="{FF2B5EF4-FFF2-40B4-BE49-F238E27FC236}">
                <a16:creationId xmlns:a16="http://schemas.microsoft.com/office/drawing/2014/main" id="{D97B925D-02F5-85C3-8502-528DDCC17D75}"/>
              </a:ext>
            </a:extLst>
          </p:cNvPr>
          <p:cNvCxnSpPr>
            <a:cxnSpLocks/>
            <a:stCxn id="50" idx="3"/>
            <a:endCxn id="56" idx="1"/>
          </p:cNvCxnSpPr>
          <p:nvPr/>
        </p:nvCxnSpPr>
        <p:spPr>
          <a:xfrm flipV="1">
            <a:off x="7014947" y="3059399"/>
            <a:ext cx="205581" cy="1466"/>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50" name="Shape 4409">
            <a:extLst>
              <a:ext uri="{FF2B5EF4-FFF2-40B4-BE49-F238E27FC236}">
                <a16:creationId xmlns:a16="http://schemas.microsoft.com/office/drawing/2014/main" id="{CA03E189-1196-7D61-718E-D0E56F05C3F1}"/>
              </a:ext>
            </a:extLst>
          </p:cNvPr>
          <p:cNvCxnSpPr>
            <a:cxnSpLocks/>
            <a:stCxn id="25" idx="3"/>
            <a:endCxn id="2055" idx="1"/>
          </p:cNvCxnSpPr>
          <p:nvPr/>
        </p:nvCxnSpPr>
        <p:spPr>
          <a:xfrm>
            <a:off x="2844644" y="2502077"/>
            <a:ext cx="723252" cy="0"/>
          </a:xfrm>
          <a:prstGeom prst="straightConnector1">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grpSp>
        <p:nvGrpSpPr>
          <p:cNvPr id="2054" name="Shape 1779">
            <a:extLst>
              <a:ext uri="{FF2B5EF4-FFF2-40B4-BE49-F238E27FC236}">
                <a16:creationId xmlns:a16="http://schemas.microsoft.com/office/drawing/2014/main" id="{CCDBC4CE-65D1-36D2-24B2-33E1F16FD29D}"/>
              </a:ext>
            </a:extLst>
          </p:cNvPr>
          <p:cNvGrpSpPr/>
          <p:nvPr/>
        </p:nvGrpSpPr>
        <p:grpSpPr>
          <a:xfrm>
            <a:off x="3567896" y="2305481"/>
            <a:ext cx="950213" cy="393192"/>
            <a:chOff x="469795" y="2972893"/>
            <a:chExt cx="880800" cy="382200"/>
          </a:xfrm>
        </p:grpSpPr>
        <p:sp>
          <p:nvSpPr>
            <p:cNvPr id="2055" name="Shape 1780">
              <a:extLst>
                <a:ext uri="{FF2B5EF4-FFF2-40B4-BE49-F238E27FC236}">
                  <a16:creationId xmlns:a16="http://schemas.microsoft.com/office/drawing/2014/main" id="{34F56404-1F39-23F6-0F62-89D2B611FEE1}"/>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Service Attachment</a:t>
              </a:r>
            </a:p>
          </p:txBody>
        </p:sp>
        <p:pic>
          <p:nvPicPr>
            <p:cNvPr id="2056" name="Shape 1781">
              <a:extLst>
                <a:ext uri="{FF2B5EF4-FFF2-40B4-BE49-F238E27FC236}">
                  <a16:creationId xmlns:a16="http://schemas.microsoft.com/office/drawing/2014/main" id="{2A67F7EA-0B31-6A0A-39EE-CFD149279B5E}"/>
                </a:ext>
              </a:extLst>
            </p:cNvPr>
            <p:cNvPicPr preferRelativeResize="0"/>
            <p:nvPr/>
          </p:nvPicPr>
          <p:blipFill rotWithShape="1">
            <a:blip r:embed="rId4"/>
            <a:srcRect l="4456" r="4456"/>
            <a:stretch/>
          </p:blipFill>
          <p:spPr>
            <a:xfrm>
              <a:off x="515553" y="3040183"/>
              <a:ext cx="235069" cy="247089"/>
            </a:xfrm>
            <a:prstGeom prst="rect">
              <a:avLst/>
            </a:prstGeom>
            <a:noFill/>
            <a:ln>
              <a:noFill/>
            </a:ln>
          </p:spPr>
        </p:pic>
      </p:grpSp>
      <p:sp>
        <p:nvSpPr>
          <p:cNvPr id="2069" name="Shape 438">
            <a:extLst>
              <a:ext uri="{FF2B5EF4-FFF2-40B4-BE49-F238E27FC236}">
                <a16:creationId xmlns:a16="http://schemas.microsoft.com/office/drawing/2014/main" id="{2A262AE3-B389-3FFE-5551-C87591BDDBA9}"/>
              </a:ext>
            </a:extLst>
          </p:cNvPr>
          <p:cNvSpPr txBox="1"/>
          <p:nvPr/>
        </p:nvSpPr>
        <p:spPr>
          <a:xfrm>
            <a:off x="2835778" y="2170592"/>
            <a:ext cx="760994" cy="167038"/>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700" b="1" dirty="0">
                <a:solidFill>
                  <a:srgbClr val="00B050"/>
                </a:solidFill>
                <a:latin typeface="Open Sans"/>
                <a:ea typeface="Open Sans"/>
                <a:cs typeface="Open Sans"/>
                <a:sym typeface="Open Sans"/>
              </a:rPr>
              <a:t>PSC (Southbound)</a:t>
            </a:r>
            <a:endParaRPr lang="en-US" sz="700" b="1" i="0" u="none" strike="noStrike" cap="none" dirty="0">
              <a:solidFill>
                <a:srgbClr val="00B050"/>
              </a:solidFill>
              <a:latin typeface="Open Sans"/>
              <a:ea typeface="Open Sans"/>
              <a:cs typeface="Open Sans"/>
              <a:sym typeface="Open Sans"/>
            </a:endParaRPr>
          </a:p>
        </p:txBody>
      </p:sp>
      <p:sp>
        <p:nvSpPr>
          <p:cNvPr id="2070" name="Shape 469">
            <a:extLst>
              <a:ext uri="{FF2B5EF4-FFF2-40B4-BE49-F238E27FC236}">
                <a16:creationId xmlns:a16="http://schemas.microsoft.com/office/drawing/2014/main" id="{5C4C0620-F5ED-805F-D7D7-7DFAFEE2E9FC}"/>
              </a:ext>
            </a:extLst>
          </p:cNvPr>
          <p:cNvSpPr/>
          <p:nvPr/>
        </p:nvSpPr>
        <p:spPr>
          <a:xfrm>
            <a:off x="339044" y="1977138"/>
            <a:ext cx="4294596" cy="1068866"/>
          </a:xfrm>
          <a:prstGeom prst="roundRect">
            <a:avLst>
              <a:gd name="adj" fmla="val 0"/>
            </a:avLst>
          </a:prstGeom>
          <a:noFill/>
          <a:ln>
            <a:solidFill>
              <a:schemeClr val="tx1"/>
            </a:solidFill>
            <a:prstDash val="dash"/>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2071" name="Shape 647">
            <a:extLst>
              <a:ext uri="{FF2B5EF4-FFF2-40B4-BE49-F238E27FC236}">
                <a16:creationId xmlns:a16="http://schemas.microsoft.com/office/drawing/2014/main" id="{35A969C6-0643-4364-83D9-0F0EED862CDB}"/>
              </a:ext>
            </a:extLst>
          </p:cNvPr>
          <p:cNvSpPr txBox="1"/>
          <p:nvPr/>
        </p:nvSpPr>
        <p:spPr>
          <a:xfrm>
            <a:off x="338065" y="2728041"/>
            <a:ext cx="1476056" cy="243955"/>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Apigee X Runtime</a:t>
            </a:r>
          </a:p>
          <a:p>
            <a:pPr marL="0" marR="0" lvl="0" indent="0" algn="l" rtl="0">
              <a:lnSpc>
                <a:spcPts val="1000"/>
              </a:lnSpc>
              <a:spcBef>
                <a:spcPts val="0"/>
              </a:spcBef>
              <a:spcAft>
                <a:spcPts val="0"/>
              </a:spcAft>
              <a:buClr>
                <a:srgbClr val="9E9E9E"/>
              </a:buClr>
              <a:buSzPct val="25000"/>
              <a:buFont typeface="Roboto"/>
              <a:buNone/>
            </a:pPr>
            <a:r>
              <a:rPr lang="en-US" sz="900" b="1" dirty="0">
                <a:solidFill>
                  <a:srgbClr val="9E9E9E"/>
                </a:solidFill>
                <a:latin typeface="Roboto"/>
                <a:ea typeface="Roboto"/>
                <a:cs typeface="Roboto"/>
                <a:sym typeface="Roboto"/>
              </a:rPr>
              <a:t>Instance</a:t>
            </a:r>
            <a:endParaRPr lang="en-US" sz="900" b="1" i="0" u="none" strike="noStrike" cap="none" dirty="0">
              <a:solidFill>
                <a:srgbClr val="9E9E9E"/>
              </a:solidFill>
              <a:latin typeface="Roboto"/>
              <a:ea typeface="Roboto"/>
              <a:cs typeface="Roboto"/>
              <a:sym typeface="Roboto"/>
            </a:endParaRPr>
          </a:p>
        </p:txBody>
      </p:sp>
      <p:grpSp>
        <p:nvGrpSpPr>
          <p:cNvPr id="2072" name="Shape 1779">
            <a:extLst>
              <a:ext uri="{FF2B5EF4-FFF2-40B4-BE49-F238E27FC236}">
                <a16:creationId xmlns:a16="http://schemas.microsoft.com/office/drawing/2014/main" id="{2413DA5C-8961-100D-DF40-CC139088A12E}"/>
              </a:ext>
            </a:extLst>
          </p:cNvPr>
          <p:cNvGrpSpPr/>
          <p:nvPr/>
        </p:nvGrpSpPr>
        <p:grpSpPr>
          <a:xfrm>
            <a:off x="494139" y="3605375"/>
            <a:ext cx="950213" cy="395544"/>
            <a:chOff x="469795" y="2972893"/>
            <a:chExt cx="880800" cy="382200"/>
          </a:xfrm>
        </p:grpSpPr>
        <p:sp>
          <p:nvSpPr>
            <p:cNvPr id="2073" name="Shape 1780">
              <a:extLst>
                <a:ext uri="{FF2B5EF4-FFF2-40B4-BE49-F238E27FC236}">
                  <a16:creationId xmlns:a16="http://schemas.microsoft.com/office/drawing/2014/main" id="{DB2CAC1B-71A6-E903-356C-963B09E4414F}"/>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Apigee Runtime</a:t>
              </a:r>
            </a:p>
          </p:txBody>
        </p:sp>
        <p:pic>
          <p:nvPicPr>
            <p:cNvPr id="2074" name="Shape 1781">
              <a:extLst>
                <a:ext uri="{FF2B5EF4-FFF2-40B4-BE49-F238E27FC236}">
                  <a16:creationId xmlns:a16="http://schemas.microsoft.com/office/drawing/2014/main" id="{DFCF2777-31BF-C33E-611C-022D511D2E61}"/>
                </a:ext>
              </a:extLst>
            </p:cNvPr>
            <p:cNvPicPr preferRelativeResize="0"/>
            <p:nvPr/>
          </p:nvPicPr>
          <p:blipFill rotWithShape="1">
            <a:blip r:embed="rId3"/>
            <a:srcRect t="6862" b="6862"/>
            <a:stretch/>
          </p:blipFill>
          <p:spPr>
            <a:xfrm>
              <a:off x="515552" y="3040183"/>
              <a:ext cx="210072" cy="229892"/>
            </a:xfrm>
            <a:prstGeom prst="rect">
              <a:avLst/>
            </a:prstGeom>
            <a:noFill/>
            <a:ln>
              <a:noFill/>
            </a:ln>
          </p:spPr>
        </p:pic>
      </p:grpSp>
      <p:grpSp>
        <p:nvGrpSpPr>
          <p:cNvPr id="2075" name="Shape 1779">
            <a:extLst>
              <a:ext uri="{FF2B5EF4-FFF2-40B4-BE49-F238E27FC236}">
                <a16:creationId xmlns:a16="http://schemas.microsoft.com/office/drawing/2014/main" id="{6E609527-8BBE-EEE0-829D-0535C9AA7BC8}"/>
              </a:ext>
            </a:extLst>
          </p:cNvPr>
          <p:cNvGrpSpPr/>
          <p:nvPr/>
        </p:nvGrpSpPr>
        <p:grpSpPr>
          <a:xfrm>
            <a:off x="1894431" y="3607166"/>
            <a:ext cx="950213" cy="393192"/>
            <a:chOff x="469795" y="2972893"/>
            <a:chExt cx="880800" cy="382200"/>
          </a:xfrm>
        </p:grpSpPr>
        <p:sp>
          <p:nvSpPr>
            <p:cNvPr id="2076" name="Shape 1780">
              <a:extLst>
                <a:ext uri="{FF2B5EF4-FFF2-40B4-BE49-F238E27FC236}">
                  <a16:creationId xmlns:a16="http://schemas.microsoft.com/office/drawing/2014/main" id="{54A117A3-2CDD-9BE5-1E1E-46E6C1CE3AE9}"/>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Endpoint Attachment</a:t>
              </a:r>
            </a:p>
          </p:txBody>
        </p:sp>
        <p:pic>
          <p:nvPicPr>
            <p:cNvPr id="2077" name="Shape 1781">
              <a:extLst>
                <a:ext uri="{FF2B5EF4-FFF2-40B4-BE49-F238E27FC236}">
                  <a16:creationId xmlns:a16="http://schemas.microsoft.com/office/drawing/2014/main" id="{AB4C168E-DB6D-D401-D0B2-8D07B0C9CF9B}"/>
                </a:ext>
              </a:extLst>
            </p:cNvPr>
            <p:cNvPicPr preferRelativeResize="0"/>
            <p:nvPr/>
          </p:nvPicPr>
          <p:blipFill rotWithShape="1">
            <a:blip r:embed="rId4"/>
            <a:srcRect l="4456" r="4456"/>
            <a:stretch/>
          </p:blipFill>
          <p:spPr>
            <a:xfrm>
              <a:off x="515553" y="3040183"/>
              <a:ext cx="235069" cy="247089"/>
            </a:xfrm>
            <a:prstGeom prst="rect">
              <a:avLst/>
            </a:prstGeom>
            <a:noFill/>
            <a:ln>
              <a:noFill/>
            </a:ln>
          </p:spPr>
        </p:pic>
      </p:grpSp>
      <p:cxnSp>
        <p:nvCxnSpPr>
          <p:cNvPr id="2080" name="Shape 4409">
            <a:extLst>
              <a:ext uri="{FF2B5EF4-FFF2-40B4-BE49-F238E27FC236}">
                <a16:creationId xmlns:a16="http://schemas.microsoft.com/office/drawing/2014/main" id="{D73FFDAE-ECE1-A20E-7FED-6D05AAD6D64F}"/>
              </a:ext>
            </a:extLst>
          </p:cNvPr>
          <p:cNvCxnSpPr>
            <a:cxnSpLocks/>
            <a:stCxn id="2073" idx="3"/>
            <a:endCxn id="2076" idx="1"/>
          </p:cNvCxnSpPr>
          <p:nvPr/>
        </p:nvCxnSpPr>
        <p:spPr>
          <a:xfrm>
            <a:off x="1444352" y="3803147"/>
            <a:ext cx="450079" cy="615"/>
          </a:xfrm>
          <a:prstGeom prst="straightConnector1">
            <a:avLst/>
          </a:prstGeom>
          <a:noFill/>
          <a:ln w="9525" cap="flat" cmpd="sng">
            <a:solidFill>
              <a:srgbClr val="3A7DF0"/>
            </a:solidFill>
            <a:prstDash val="solid"/>
            <a:round/>
            <a:headEnd type="none" w="med" len="med"/>
            <a:tailEnd type="triangle" w="med" len="med"/>
          </a:ln>
        </p:spPr>
      </p:cxnSp>
      <p:cxnSp>
        <p:nvCxnSpPr>
          <p:cNvPr id="2081" name="Shape 4409">
            <a:extLst>
              <a:ext uri="{FF2B5EF4-FFF2-40B4-BE49-F238E27FC236}">
                <a16:creationId xmlns:a16="http://schemas.microsoft.com/office/drawing/2014/main" id="{E2C10148-9B69-5C28-C71D-D0F0A4778BAB}"/>
              </a:ext>
            </a:extLst>
          </p:cNvPr>
          <p:cNvCxnSpPr>
            <a:cxnSpLocks/>
            <a:stCxn id="2076" idx="3"/>
            <a:endCxn id="2084" idx="1"/>
          </p:cNvCxnSpPr>
          <p:nvPr/>
        </p:nvCxnSpPr>
        <p:spPr>
          <a:xfrm>
            <a:off x="2844644" y="3803762"/>
            <a:ext cx="723252" cy="0"/>
          </a:xfrm>
          <a:prstGeom prst="straightConnector1">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grpSp>
        <p:nvGrpSpPr>
          <p:cNvPr id="2083" name="Shape 1779">
            <a:extLst>
              <a:ext uri="{FF2B5EF4-FFF2-40B4-BE49-F238E27FC236}">
                <a16:creationId xmlns:a16="http://schemas.microsoft.com/office/drawing/2014/main" id="{A4ED39CE-167E-5716-16F1-0A168E153999}"/>
              </a:ext>
            </a:extLst>
          </p:cNvPr>
          <p:cNvGrpSpPr/>
          <p:nvPr/>
        </p:nvGrpSpPr>
        <p:grpSpPr>
          <a:xfrm>
            <a:off x="3567896" y="3607166"/>
            <a:ext cx="950213" cy="393192"/>
            <a:chOff x="469795" y="2972893"/>
            <a:chExt cx="880800" cy="382200"/>
          </a:xfrm>
        </p:grpSpPr>
        <p:sp>
          <p:nvSpPr>
            <p:cNvPr id="2084" name="Shape 1780">
              <a:extLst>
                <a:ext uri="{FF2B5EF4-FFF2-40B4-BE49-F238E27FC236}">
                  <a16:creationId xmlns:a16="http://schemas.microsoft.com/office/drawing/2014/main" id="{537408FA-F21A-9D3D-EA02-275611640E3E}"/>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Service Attachment</a:t>
              </a:r>
            </a:p>
          </p:txBody>
        </p:sp>
        <p:pic>
          <p:nvPicPr>
            <p:cNvPr id="2085" name="Shape 1781">
              <a:extLst>
                <a:ext uri="{FF2B5EF4-FFF2-40B4-BE49-F238E27FC236}">
                  <a16:creationId xmlns:a16="http://schemas.microsoft.com/office/drawing/2014/main" id="{C88C8356-1D5D-42D3-083C-47907C1A1884}"/>
                </a:ext>
              </a:extLst>
            </p:cNvPr>
            <p:cNvPicPr preferRelativeResize="0"/>
            <p:nvPr/>
          </p:nvPicPr>
          <p:blipFill rotWithShape="1">
            <a:blip r:embed="rId4"/>
            <a:srcRect l="4456" r="4456"/>
            <a:stretch/>
          </p:blipFill>
          <p:spPr>
            <a:xfrm>
              <a:off x="515553" y="3040183"/>
              <a:ext cx="235069" cy="247089"/>
            </a:xfrm>
            <a:prstGeom prst="rect">
              <a:avLst/>
            </a:prstGeom>
            <a:noFill/>
            <a:ln>
              <a:noFill/>
            </a:ln>
          </p:spPr>
        </p:pic>
      </p:grpSp>
      <p:sp>
        <p:nvSpPr>
          <p:cNvPr id="2087" name="Shape 438">
            <a:extLst>
              <a:ext uri="{FF2B5EF4-FFF2-40B4-BE49-F238E27FC236}">
                <a16:creationId xmlns:a16="http://schemas.microsoft.com/office/drawing/2014/main" id="{4962081C-6086-0F43-291C-068BF449FAF3}"/>
              </a:ext>
            </a:extLst>
          </p:cNvPr>
          <p:cNvSpPr txBox="1"/>
          <p:nvPr/>
        </p:nvSpPr>
        <p:spPr>
          <a:xfrm>
            <a:off x="2835778" y="3472277"/>
            <a:ext cx="760994" cy="167038"/>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700" b="1" dirty="0">
                <a:solidFill>
                  <a:srgbClr val="00B050"/>
                </a:solidFill>
                <a:latin typeface="Open Sans"/>
                <a:ea typeface="Open Sans"/>
                <a:cs typeface="Open Sans"/>
                <a:sym typeface="Open Sans"/>
              </a:rPr>
              <a:t>PSC (Southbound)</a:t>
            </a:r>
            <a:endParaRPr lang="en-US" sz="700" b="1" i="0" u="none" strike="noStrike" cap="none" dirty="0">
              <a:solidFill>
                <a:srgbClr val="00B050"/>
              </a:solidFill>
              <a:latin typeface="Open Sans"/>
              <a:ea typeface="Open Sans"/>
              <a:cs typeface="Open Sans"/>
              <a:sym typeface="Open Sans"/>
            </a:endParaRPr>
          </a:p>
        </p:txBody>
      </p:sp>
      <p:sp>
        <p:nvSpPr>
          <p:cNvPr id="2088" name="Shape 469">
            <a:extLst>
              <a:ext uri="{FF2B5EF4-FFF2-40B4-BE49-F238E27FC236}">
                <a16:creationId xmlns:a16="http://schemas.microsoft.com/office/drawing/2014/main" id="{FFB93D75-8DA1-3697-7A5B-397C7DAD0D5F}"/>
              </a:ext>
            </a:extLst>
          </p:cNvPr>
          <p:cNvSpPr/>
          <p:nvPr/>
        </p:nvSpPr>
        <p:spPr>
          <a:xfrm>
            <a:off x="339044" y="3278823"/>
            <a:ext cx="4294596" cy="1068866"/>
          </a:xfrm>
          <a:prstGeom prst="roundRect">
            <a:avLst>
              <a:gd name="adj" fmla="val 0"/>
            </a:avLst>
          </a:prstGeom>
          <a:noFill/>
          <a:ln>
            <a:solidFill>
              <a:schemeClr val="tx1"/>
            </a:solidFill>
            <a:prstDash val="dash"/>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2089" name="Shape 647">
            <a:extLst>
              <a:ext uri="{FF2B5EF4-FFF2-40B4-BE49-F238E27FC236}">
                <a16:creationId xmlns:a16="http://schemas.microsoft.com/office/drawing/2014/main" id="{C3343051-A30F-D612-C232-39316A3C2EBA}"/>
              </a:ext>
            </a:extLst>
          </p:cNvPr>
          <p:cNvSpPr txBox="1"/>
          <p:nvPr/>
        </p:nvSpPr>
        <p:spPr>
          <a:xfrm>
            <a:off x="338065" y="4029726"/>
            <a:ext cx="1476056" cy="243955"/>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Apigee X Runtime</a:t>
            </a:r>
          </a:p>
          <a:p>
            <a:pPr marL="0" marR="0" lvl="0" indent="0" algn="l" rtl="0">
              <a:lnSpc>
                <a:spcPts val="1000"/>
              </a:lnSpc>
              <a:spcBef>
                <a:spcPts val="0"/>
              </a:spcBef>
              <a:spcAft>
                <a:spcPts val="0"/>
              </a:spcAft>
              <a:buClr>
                <a:srgbClr val="9E9E9E"/>
              </a:buClr>
              <a:buSzPct val="25000"/>
              <a:buFont typeface="Roboto"/>
              <a:buNone/>
            </a:pPr>
            <a:r>
              <a:rPr lang="en-US" sz="900" b="1" dirty="0">
                <a:solidFill>
                  <a:srgbClr val="9E9E9E"/>
                </a:solidFill>
                <a:latin typeface="Roboto"/>
                <a:ea typeface="Roboto"/>
                <a:cs typeface="Roboto"/>
                <a:sym typeface="Roboto"/>
              </a:rPr>
              <a:t>Instance</a:t>
            </a:r>
            <a:endParaRPr lang="en-US" sz="900" b="1" i="0" u="none" strike="noStrike" cap="none" dirty="0">
              <a:solidFill>
                <a:srgbClr val="9E9E9E"/>
              </a:solidFill>
              <a:latin typeface="Roboto"/>
              <a:ea typeface="Roboto"/>
              <a:cs typeface="Roboto"/>
              <a:sym typeface="Roboto"/>
            </a:endParaRPr>
          </a:p>
        </p:txBody>
      </p:sp>
      <p:sp>
        <p:nvSpPr>
          <p:cNvPr id="2092" name="Shape 647">
            <a:extLst>
              <a:ext uri="{FF2B5EF4-FFF2-40B4-BE49-F238E27FC236}">
                <a16:creationId xmlns:a16="http://schemas.microsoft.com/office/drawing/2014/main" id="{52553AEF-0F4C-6FEB-84AC-2481A6083F63}"/>
              </a:ext>
            </a:extLst>
          </p:cNvPr>
          <p:cNvSpPr txBox="1"/>
          <p:nvPr/>
        </p:nvSpPr>
        <p:spPr>
          <a:xfrm>
            <a:off x="3436262" y="2838315"/>
            <a:ext cx="1118144" cy="25069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Region 1</a:t>
            </a:r>
          </a:p>
        </p:txBody>
      </p:sp>
      <p:sp>
        <p:nvSpPr>
          <p:cNvPr id="2093" name="Shape 647">
            <a:extLst>
              <a:ext uri="{FF2B5EF4-FFF2-40B4-BE49-F238E27FC236}">
                <a16:creationId xmlns:a16="http://schemas.microsoft.com/office/drawing/2014/main" id="{EDC9F519-D490-B284-8144-1FCC6C334530}"/>
              </a:ext>
            </a:extLst>
          </p:cNvPr>
          <p:cNvSpPr txBox="1"/>
          <p:nvPr/>
        </p:nvSpPr>
        <p:spPr>
          <a:xfrm>
            <a:off x="3438052" y="4141791"/>
            <a:ext cx="1118144" cy="25069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Region 2</a:t>
            </a:r>
          </a:p>
        </p:txBody>
      </p:sp>
      <p:cxnSp>
        <p:nvCxnSpPr>
          <p:cNvPr id="2" name="Shape 4369">
            <a:extLst>
              <a:ext uri="{FF2B5EF4-FFF2-40B4-BE49-F238E27FC236}">
                <a16:creationId xmlns:a16="http://schemas.microsoft.com/office/drawing/2014/main" id="{C4ACFBF0-81E0-CA05-9F05-22433D7901C1}"/>
              </a:ext>
            </a:extLst>
          </p:cNvPr>
          <p:cNvCxnSpPr>
            <a:cxnSpLocks/>
            <a:stCxn id="50" idx="1"/>
            <a:endCxn id="2055" idx="3"/>
          </p:cNvCxnSpPr>
          <p:nvPr/>
        </p:nvCxnSpPr>
        <p:spPr>
          <a:xfrm rot="10800000">
            <a:off x="4518109" y="2502077"/>
            <a:ext cx="1497238" cy="558788"/>
          </a:xfrm>
          <a:prstGeom prst="bentConnector3">
            <a:avLst>
              <a:gd name="adj1" fmla="val 50000"/>
            </a:avLst>
          </a:prstGeom>
          <a:ln w="9525" cap="flat" cmpd="sng" algn="ctr">
            <a:solidFill>
              <a:schemeClr val="accent1"/>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cxnSp>
      <p:cxnSp>
        <p:nvCxnSpPr>
          <p:cNvPr id="3" name="Shape 4370">
            <a:extLst>
              <a:ext uri="{FF2B5EF4-FFF2-40B4-BE49-F238E27FC236}">
                <a16:creationId xmlns:a16="http://schemas.microsoft.com/office/drawing/2014/main" id="{8260B951-B054-50ED-1424-2C50885A2021}"/>
              </a:ext>
            </a:extLst>
          </p:cNvPr>
          <p:cNvCxnSpPr>
            <a:cxnSpLocks/>
            <a:stCxn id="50" idx="1"/>
            <a:endCxn id="2084" idx="3"/>
          </p:cNvCxnSpPr>
          <p:nvPr/>
        </p:nvCxnSpPr>
        <p:spPr>
          <a:xfrm rot="10800000" flipV="1">
            <a:off x="4518109" y="3060864"/>
            <a:ext cx="1497238" cy="742897"/>
          </a:xfrm>
          <a:prstGeom prst="bentConnector3">
            <a:avLst>
              <a:gd name="adj1" fmla="val 50000"/>
            </a:avLst>
          </a:prstGeom>
          <a:ln w="9525" cap="flat" cmpd="sng" algn="ctr">
            <a:solidFill>
              <a:schemeClr val="accent1"/>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1737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76"/>
        <p:cNvGrpSpPr/>
        <p:nvPr/>
      </p:nvGrpSpPr>
      <p:grpSpPr>
        <a:xfrm>
          <a:off x="0" y="0"/>
          <a:ext cx="0" cy="0"/>
          <a:chOff x="0" y="0"/>
          <a:chExt cx="0" cy="0"/>
        </a:xfrm>
      </p:grpSpPr>
      <p:sp>
        <p:nvSpPr>
          <p:cNvPr id="2078" name="Shape 2078"/>
          <p:cNvSpPr txBox="1">
            <a:spLocks noGrp="1"/>
          </p:cNvSpPr>
          <p:nvPr>
            <p:ph type="subTitle" idx="4294967295"/>
          </p:nvPr>
        </p:nvSpPr>
        <p:spPr>
          <a:xfrm>
            <a:off x="178501" y="0"/>
            <a:ext cx="11759599" cy="708400"/>
          </a:xfrm>
          <a:prstGeom prst="rect">
            <a:avLst/>
          </a:prstGeom>
          <a:noFill/>
          <a:ln>
            <a:noFill/>
          </a:ln>
        </p:spPr>
        <p:txBody>
          <a:bodyPr vert="horz" lIns="121900" tIns="121900" rIns="121900" bIns="121900" rtlCol="0" anchor="b" anchorCtr="0">
            <a:noAutofit/>
          </a:bodyPr>
          <a:lstStyle/>
          <a:p>
            <a:pPr marL="0" indent="0">
              <a:lnSpc>
                <a:spcPct val="115000"/>
              </a:lnSpc>
              <a:spcBef>
                <a:spcPts val="0"/>
              </a:spcBef>
              <a:buClr>
                <a:srgbClr val="75787A"/>
              </a:buClr>
              <a:buSzPct val="25000"/>
              <a:buNone/>
            </a:pPr>
            <a:r>
              <a:rPr lang="en-US" sz="1733" dirty="0"/>
              <a:t>Apigee X: Platform Architecture with PSC (Southbound)</a:t>
            </a:r>
          </a:p>
        </p:txBody>
      </p:sp>
      <p:sp>
        <p:nvSpPr>
          <p:cNvPr id="2079" name="Shape 2079"/>
          <p:cNvSpPr/>
          <p:nvPr/>
        </p:nvSpPr>
        <p:spPr>
          <a:xfrm>
            <a:off x="296012" y="6025583"/>
            <a:ext cx="9364532" cy="182800"/>
          </a:xfrm>
          <a:prstGeom prst="rect">
            <a:avLst/>
          </a:prstGeom>
          <a:solidFill>
            <a:srgbClr val="E0E0E0"/>
          </a:solidFill>
          <a:ln>
            <a:noFill/>
          </a:ln>
        </p:spPr>
        <p:txBody>
          <a:bodyPr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2082" name="Shape 2082"/>
          <p:cNvSpPr/>
          <p:nvPr/>
        </p:nvSpPr>
        <p:spPr>
          <a:xfrm>
            <a:off x="3440818" y="1460275"/>
            <a:ext cx="4953548" cy="3168880"/>
          </a:xfrm>
          <a:prstGeom prst="roundRect">
            <a:avLst>
              <a:gd name="adj" fmla="val 399"/>
            </a:avLst>
          </a:prstGeom>
          <a:solidFill>
            <a:srgbClr val="F6F6F6"/>
          </a:solidFill>
          <a:ln>
            <a:noFill/>
          </a:ln>
        </p:spPr>
        <p:txBody>
          <a:bodyPr lIns="121900" tIns="121900" rIns="121900" bIns="121900" anchor="ctr" anchorCtr="0">
            <a:noAutofit/>
          </a:bodyPr>
          <a:lstStyle/>
          <a:p>
            <a:pPr>
              <a:buClr>
                <a:srgbClr val="000000"/>
              </a:buClr>
            </a:pPr>
            <a:endParaRPr sz="1867">
              <a:solidFill>
                <a:srgbClr val="000000"/>
              </a:solidFill>
              <a:latin typeface="Arial"/>
              <a:ea typeface="Arial"/>
              <a:cs typeface="Arial"/>
              <a:sym typeface="Arial"/>
            </a:endParaRPr>
          </a:p>
        </p:txBody>
      </p:sp>
      <p:sp>
        <p:nvSpPr>
          <p:cNvPr id="2109" name="Shape 2109"/>
          <p:cNvSpPr/>
          <p:nvPr/>
        </p:nvSpPr>
        <p:spPr>
          <a:xfrm>
            <a:off x="296012" y="930235"/>
            <a:ext cx="9364532" cy="365600"/>
          </a:xfrm>
          <a:prstGeom prst="roundRect">
            <a:avLst>
              <a:gd name="adj" fmla="val 1674"/>
            </a:avLst>
          </a:prstGeom>
          <a:solidFill>
            <a:srgbClr val="519BF7"/>
          </a:solidFill>
          <a:ln>
            <a:noFill/>
          </a:ln>
          <a:effectLst>
            <a:outerShdw blurRad="38100" dist="38100" dir="5400000" sx="99000" sy="99000" algn="ctr" rotWithShape="0">
              <a:srgbClr val="000000">
                <a:alpha val="15690"/>
              </a:srgbClr>
            </a:outerShdw>
          </a:effectLst>
        </p:spPr>
        <p:txBody>
          <a:bodyPr lIns="609600" tIns="85344" rIns="0" bIns="0" anchor="t" anchorCtr="0">
            <a:noAutofit/>
          </a:bodyPr>
          <a:lstStyle/>
          <a:p>
            <a:r>
              <a:rPr lang="en-US" sz="1133" dirty="0">
                <a:solidFill>
                  <a:srgbClr val="FFFFFF"/>
                </a:solidFill>
                <a:latin typeface="Roboto"/>
                <a:ea typeface="Roboto"/>
                <a:cs typeface="Roboto"/>
              </a:rPr>
              <a:t>Apigee X (HTTPS) </a:t>
            </a:r>
            <a:r>
              <a:rPr lang="en-US" sz="1133" dirty="0">
                <a:solidFill>
                  <a:srgbClr val="FFFFFF"/>
                </a:solidFill>
                <a:latin typeface="Roboto"/>
                <a:ea typeface="Roboto"/>
                <a:cs typeface="Roboto"/>
                <a:sym typeface="Roboto"/>
              </a:rPr>
              <a:t>-&gt; Service Attachment </a:t>
            </a:r>
            <a:r>
              <a:rPr lang="en-US" sz="1133" dirty="0">
                <a:solidFill>
                  <a:srgbClr val="FFFFFF"/>
                </a:solidFill>
                <a:latin typeface="Roboto"/>
                <a:ea typeface="Roboto"/>
                <a:cs typeface="Roboto"/>
              </a:rPr>
              <a:t>-&gt; Load Balancer -&gt; GCP Backend Service (HTTPS) </a:t>
            </a:r>
          </a:p>
        </p:txBody>
      </p:sp>
      <p:sp>
        <p:nvSpPr>
          <p:cNvPr id="9" name="Shape 646">
            <a:extLst>
              <a:ext uri="{FF2B5EF4-FFF2-40B4-BE49-F238E27FC236}">
                <a16:creationId xmlns:a16="http://schemas.microsoft.com/office/drawing/2014/main" id="{D23EA455-2E64-92CC-41B1-6C566E5117AB}"/>
              </a:ext>
            </a:extLst>
          </p:cNvPr>
          <p:cNvSpPr/>
          <p:nvPr/>
        </p:nvSpPr>
        <p:spPr>
          <a:xfrm>
            <a:off x="296012" y="1466419"/>
            <a:ext cx="2871534" cy="3168881"/>
          </a:xfrm>
          <a:prstGeom prst="roundRect">
            <a:avLst>
              <a:gd name="adj" fmla="val 827"/>
            </a:avLst>
          </a:prstGeom>
          <a:solidFill>
            <a:srgbClr val="FFEBEE"/>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10" name="Shape 647">
            <a:extLst>
              <a:ext uri="{FF2B5EF4-FFF2-40B4-BE49-F238E27FC236}">
                <a16:creationId xmlns:a16="http://schemas.microsoft.com/office/drawing/2014/main" id="{E58E9D7A-366C-4E51-EA98-81F54A8BDF8A}"/>
              </a:ext>
            </a:extLst>
          </p:cNvPr>
          <p:cNvSpPr txBox="1"/>
          <p:nvPr/>
        </p:nvSpPr>
        <p:spPr>
          <a:xfrm>
            <a:off x="338609" y="1455870"/>
            <a:ext cx="2871534"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Apigee X</a:t>
            </a:r>
            <a:r>
              <a:rPr lang="en-US" sz="900" b="1" dirty="0">
                <a:solidFill>
                  <a:srgbClr val="9E9E9E"/>
                </a:solidFill>
                <a:latin typeface="Roboto"/>
                <a:ea typeface="Roboto"/>
                <a:cs typeface="Roboto"/>
                <a:sym typeface="Roboto"/>
              </a:rPr>
              <a:t> Google Project</a:t>
            </a:r>
            <a:endParaRPr lang="en-US" sz="900" b="1" i="0" u="none" strike="noStrike" cap="none" dirty="0">
              <a:solidFill>
                <a:srgbClr val="9E9E9E"/>
              </a:solidFill>
              <a:latin typeface="Roboto"/>
              <a:ea typeface="Roboto"/>
              <a:cs typeface="Roboto"/>
              <a:sym typeface="Roboto"/>
            </a:endParaRPr>
          </a:p>
        </p:txBody>
      </p:sp>
      <p:sp>
        <p:nvSpPr>
          <p:cNvPr id="11" name="Shape 2082">
            <a:extLst>
              <a:ext uri="{FF2B5EF4-FFF2-40B4-BE49-F238E27FC236}">
                <a16:creationId xmlns:a16="http://schemas.microsoft.com/office/drawing/2014/main" id="{5D01BB02-6BCA-ECB8-9905-2BA6B55BE0F7}"/>
              </a:ext>
            </a:extLst>
          </p:cNvPr>
          <p:cNvSpPr/>
          <p:nvPr/>
        </p:nvSpPr>
        <p:spPr>
          <a:xfrm>
            <a:off x="3436261" y="5533966"/>
            <a:ext cx="4953547" cy="365601"/>
          </a:xfrm>
          <a:prstGeom prst="roundRect">
            <a:avLst>
              <a:gd name="adj" fmla="val 399"/>
            </a:avLst>
          </a:prstGeom>
          <a:solidFill>
            <a:srgbClr val="F6F6F6"/>
          </a:solidFill>
          <a:ln>
            <a:noFill/>
          </a:ln>
        </p:spPr>
        <p:txBody>
          <a:bodyPr lIns="121900" tIns="121900" rIns="121900" bIns="121900" anchor="ctr" anchorCtr="0">
            <a:noAutofit/>
          </a:bodyPr>
          <a:lstStyle/>
          <a:p>
            <a:pPr>
              <a:buClr>
                <a:srgbClr val="000000"/>
              </a:buClr>
            </a:pPr>
            <a:endParaRPr sz="1867">
              <a:solidFill>
                <a:srgbClr val="000000"/>
              </a:solidFill>
              <a:latin typeface="Arial"/>
              <a:ea typeface="Arial"/>
              <a:cs typeface="Arial"/>
              <a:sym typeface="Arial"/>
            </a:endParaRPr>
          </a:p>
        </p:txBody>
      </p:sp>
      <p:sp>
        <p:nvSpPr>
          <p:cNvPr id="12" name="Shape 646">
            <a:extLst>
              <a:ext uri="{FF2B5EF4-FFF2-40B4-BE49-F238E27FC236}">
                <a16:creationId xmlns:a16="http://schemas.microsoft.com/office/drawing/2014/main" id="{3E1563A9-0200-C84E-7F45-65F4BFAB73E0}"/>
              </a:ext>
            </a:extLst>
          </p:cNvPr>
          <p:cNvSpPr/>
          <p:nvPr/>
        </p:nvSpPr>
        <p:spPr>
          <a:xfrm>
            <a:off x="296012" y="5533965"/>
            <a:ext cx="2871534" cy="365602"/>
          </a:xfrm>
          <a:prstGeom prst="roundRect">
            <a:avLst>
              <a:gd name="adj" fmla="val 827"/>
            </a:avLst>
          </a:prstGeom>
          <a:solidFill>
            <a:srgbClr val="FFEBEE"/>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13" name="Shape 647">
            <a:extLst>
              <a:ext uri="{FF2B5EF4-FFF2-40B4-BE49-F238E27FC236}">
                <a16:creationId xmlns:a16="http://schemas.microsoft.com/office/drawing/2014/main" id="{5E9801B1-2624-0CC5-97BA-0B92B5812FFC}"/>
              </a:ext>
            </a:extLst>
          </p:cNvPr>
          <p:cNvSpPr txBox="1"/>
          <p:nvPr/>
        </p:nvSpPr>
        <p:spPr>
          <a:xfrm>
            <a:off x="348013" y="5566447"/>
            <a:ext cx="2871534" cy="232028"/>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750" b="0" i="0" u="none" strike="noStrike" cap="none" dirty="0">
                <a:solidFill>
                  <a:srgbClr val="9E9E9E"/>
                </a:solidFill>
                <a:latin typeface="Roboto"/>
                <a:ea typeface="Roboto"/>
                <a:cs typeface="Roboto"/>
                <a:sym typeface="Roboto"/>
              </a:rPr>
              <a:t>Google VPC</a:t>
            </a:r>
            <a:endParaRPr lang="en-US" sz="600" b="0" i="0" u="none" strike="noStrike" cap="none" dirty="0">
              <a:solidFill>
                <a:srgbClr val="9E9E9E"/>
              </a:solidFill>
              <a:latin typeface="Roboto"/>
              <a:ea typeface="Roboto"/>
              <a:cs typeface="Roboto"/>
              <a:sym typeface="Roboto"/>
            </a:endParaRPr>
          </a:p>
        </p:txBody>
      </p:sp>
      <p:sp>
        <p:nvSpPr>
          <p:cNvPr id="14" name="Shape 647">
            <a:extLst>
              <a:ext uri="{FF2B5EF4-FFF2-40B4-BE49-F238E27FC236}">
                <a16:creationId xmlns:a16="http://schemas.microsoft.com/office/drawing/2014/main" id="{EF23E183-D366-B875-5FF1-5F39A5959E7E}"/>
              </a:ext>
            </a:extLst>
          </p:cNvPr>
          <p:cNvSpPr txBox="1"/>
          <p:nvPr/>
        </p:nvSpPr>
        <p:spPr>
          <a:xfrm>
            <a:off x="3497816" y="5604827"/>
            <a:ext cx="2871534" cy="209987"/>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750" b="0" i="0" u="none" strike="noStrike" cap="none" dirty="0">
                <a:solidFill>
                  <a:srgbClr val="9E9E9E"/>
                </a:solidFill>
                <a:latin typeface="Roboto"/>
                <a:ea typeface="Roboto"/>
                <a:cs typeface="Roboto"/>
                <a:sym typeface="Roboto"/>
              </a:rPr>
              <a:t>Client VPC</a:t>
            </a:r>
            <a:endParaRPr lang="en-US" sz="600" b="0" i="0" u="none" strike="noStrike" cap="none" dirty="0">
              <a:solidFill>
                <a:srgbClr val="9E9E9E"/>
              </a:solidFill>
              <a:latin typeface="Roboto"/>
              <a:ea typeface="Roboto"/>
              <a:cs typeface="Roboto"/>
              <a:sym typeface="Roboto"/>
            </a:endParaRPr>
          </a:p>
        </p:txBody>
      </p:sp>
      <p:sp>
        <p:nvSpPr>
          <p:cNvPr id="15" name="Shape 647">
            <a:extLst>
              <a:ext uri="{FF2B5EF4-FFF2-40B4-BE49-F238E27FC236}">
                <a16:creationId xmlns:a16="http://schemas.microsoft.com/office/drawing/2014/main" id="{99CEDC6B-2B50-F328-1217-0F7730642F18}"/>
              </a:ext>
            </a:extLst>
          </p:cNvPr>
          <p:cNvSpPr txBox="1"/>
          <p:nvPr/>
        </p:nvSpPr>
        <p:spPr>
          <a:xfrm>
            <a:off x="3536435" y="1457986"/>
            <a:ext cx="2871534" cy="44934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Client Google Project</a:t>
            </a:r>
          </a:p>
          <a:p>
            <a:pPr>
              <a:lnSpc>
                <a:spcPts val="1000"/>
              </a:lnSpc>
              <a:buClr>
                <a:srgbClr val="9E9E9E"/>
              </a:buClr>
              <a:buSzPct val="25000"/>
            </a:pPr>
            <a:r>
              <a:rPr lang="en-US" sz="900" b="1" dirty="0">
                <a:solidFill>
                  <a:srgbClr val="9E9E9E"/>
                </a:solidFill>
                <a:latin typeface="Roboto"/>
                <a:ea typeface="Roboto"/>
                <a:cs typeface="Roboto"/>
                <a:sym typeface="Roboto"/>
              </a:rPr>
              <a:t>(Non-peered)</a:t>
            </a:r>
            <a:endParaRPr lang="en-US" sz="900" b="1" i="0" u="none" strike="noStrike" cap="none" dirty="0">
              <a:solidFill>
                <a:srgbClr val="9E9E9E"/>
              </a:solidFill>
              <a:latin typeface="Roboto"/>
              <a:ea typeface="Roboto"/>
              <a:cs typeface="Roboto"/>
              <a:sym typeface="Roboto"/>
            </a:endParaRPr>
          </a:p>
          <a:p>
            <a:pPr marL="0" marR="0" lvl="0" indent="0" algn="l" rtl="0">
              <a:lnSpc>
                <a:spcPts val="1000"/>
              </a:lnSpc>
              <a:spcBef>
                <a:spcPts val="0"/>
              </a:spcBef>
              <a:spcAft>
                <a:spcPts val="0"/>
              </a:spcAft>
              <a:buClr>
                <a:srgbClr val="9E9E9E"/>
              </a:buClr>
              <a:buSzPct val="25000"/>
              <a:buFont typeface="Roboto"/>
              <a:buNone/>
            </a:pPr>
            <a:endParaRPr lang="en-US" sz="900" b="1" i="0" u="none" strike="noStrike" cap="none" dirty="0">
              <a:solidFill>
                <a:srgbClr val="9E9E9E"/>
              </a:solidFill>
              <a:latin typeface="Roboto"/>
              <a:ea typeface="Roboto"/>
              <a:cs typeface="Roboto"/>
              <a:sym typeface="Roboto"/>
            </a:endParaRPr>
          </a:p>
          <a:p>
            <a:pPr marL="0" marR="0" lvl="0" indent="0" algn="l" rtl="0">
              <a:lnSpc>
                <a:spcPts val="1000"/>
              </a:lnSpc>
              <a:spcBef>
                <a:spcPts val="0"/>
              </a:spcBef>
              <a:spcAft>
                <a:spcPts val="0"/>
              </a:spcAft>
              <a:buClr>
                <a:srgbClr val="9E9E9E"/>
              </a:buClr>
              <a:buSzPct val="25000"/>
              <a:buFont typeface="Roboto"/>
              <a:buNone/>
            </a:pPr>
            <a:endParaRPr lang="en-US" sz="900" b="1" i="0" u="none" strike="noStrike" cap="none" dirty="0">
              <a:solidFill>
                <a:srgbClr val="9E9E9E"/>
              </a:solidFill>
              <a:latin typeface="Roboto"/>
              <a:ea typeface="Roboto"/>
              <a:cs typeface="Roboto"/>
              <a:sym typeface="Roboto"/>
            </a:endParaRPr>
          </a:p>
        </p:txBody>
      </p:sp>
      <p:grpSp>
        <p:nvGrpSpPr>
          <p:cNvPr id="21" name="Shape 1779">
            <a:extLst>
              <a:ext uri="{FF2B5EF4-FFF2-40B4-BE49-F238E27FC236}">
                <a16:creationId xmlns:a16="http://schemas.microsoft.com/office/drawing/2014/main" id="{FEFB31B3-8EDC-0463-D153-8A2B48E66EB0}"/>
              </a:ext>
            </a:extLst>
          </p:cNvPr>
          <p:cNvGrpSpPr/>
          <p:nvPr/>
        </p:nvGrpSpPr>
        <p:grpSpPr>
          <a:xfrm>
            <a:off x="494139" y="2303690"/>
            <a:ext cx="950213" cy="395544"/>
            <a:chOff x="469795" y="2972893"/>
            <a:chExt cx="880800" cy="382200"/>
          </a:xfrm>
        </p:grpSpPr>
        <p:sp>
          <p:nvSpPr>
            <p:cNvPr id="22" name="Shape 1780">
              <a:extLst>
                <a:ext uri="{FF2B5EF4-FFF2-40B4-BE49-F238E27FC236}">
                  <a16:creationId xmlns:a16="http://schemas.microsoft.com/office/drawing/2014/main" id="{7EB9EBB4-1240-7AFE-E796-EB53B909B2BB}"/>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Apigee Runtime</a:t>
              </a:r>
            </a:p>
          </p:txBody>
        </p:sp>
        <p:pic>
          <p:nvPicPr>
            <p:cNvPr id="23" name="Shape 1781">
              <a:extLst>
                <a:ext uri="{FF2B5EF4-FFF2-40B4-BE49-F238E27FC236}">
                  <a16:creationId xmlns:a16="http://schemas.microsoft.com/office/drawing/2014/main" id="{CDA22489-CE7B-8C57-E95D-C58A214E5D8E}"/>
                </a:ext>
              </a:extLst>
            </p:cNvPr>
            <p:cNvPicPr preferRelativeResize="0"/>
            <p:nvPr/>
          </p:nvPicPr>
          <p:blipFill rotWithShape="1">
            <a:blip r:embed="rId3"/>
            <a:srcRect t="6862" b="6862"/>
            <a:stretch/>
          </p:blipFill>
          <p:spPr>
            <a:xfrm>
              <a:off x="515552" y="3040183"/>
              <a:ext cx="210072" cy="229892"/>
            </a:xfrm>
            <a:prstGeom prst="rect">
              <a:avLst/>
            </a:prstGeom>
            <a:noFill/>
            <a:ln>
              <a:noFill/>
            </a:ln>
          </p:spPr>
        </p:pic>
      </p:grpSp>
      <p:grpSp>
        <p:nvGrpSpPr>
          <p:cNvPr id="24" name="Shape 1779">
            <a:extLst>
              <a:ext uri="{FF2B5EF4-FFF2-40B4-BE49-F238E27FC236}">
                <a16:creationId xmlns:a16="http://schemas.microsoft.com/office/drawing/2014/main" id="{A5F01E65-3D87-A845-B448-EBA681EFEED2}"/>
              </a:ext>
            </a:extLst>
          </p:cNvPr>
          <p:cNvGrpSpPr/>
          <p:nvPr/>
        </p:nvGrpSpPr>
        <p:grpSpPr>
          <a:xfrm>
            <a:off x="1894431" y="2305481"/>
            <a:ext cx="950213" cy="393192"/>
            <a:chOff x="469795" y="2972893"/>
            <a:chExt cx="880800" cy="382200"/>
          </a:xfrm>
        </p:grpSpPr>
        <p:sp>
          <p:nvSpPr>
            <p:cNvPr id="25" name="Shape 1780">
              <a:extLst>
                <a:ext uri="{FF2B5EF4-FFF2-40B4-BE49-F238E27FC236}">
                  <a16:creationId xmlns:a16="http://schemas.microsoft.com/office/drawing/2014/main" id="{19D3C6CA-771C-ECAF-C02C-07042348C99A}"/>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Endpoint Attachment</a:t>
              </a:r>
            </a:p>
          </p:txBody>
        </p:sp>
        <p:pic>
          <p:nvPicPr>
            <p:cNvPr id="26" name="Shape 1781">
              <a:extLst>
                <a:ext uri="{FF2B5EF4-FFF2-40B4-BE49-F238E27FC236}">
                  <a16:creationId xmlns:a16="http://schemas.microsoft.com/office/drawing/2014/main" id="{9A92B5A3-8DFF-1360-A459-622880E83275}"/>
                </a:ext>
              </a:extLst>
            </p:cNvPr>
            <p:cNvPicPr preferRelativeResize="0"/>
            <p:nvPr/>
          </p:nvPicPr>
          <p:blipFill rotWithShape="1">
            <a:blip r:embed="rId4"/>
            <a:srcRect l="4456" r="4456"/>
            <a:stretch/>
          </p:blipFill>
          <p:spPr>
            <a:xfrm>
              <a:off x="515553" y="3040183"/>
              <a:ext cx="235069" cy="247089"/>
            </a:xfrm>
            <a:prstGeom prst="rect">
              <a:avLst/>
            </a:prstGeom>
            <a:noFill/>
            <a:ln>
              <a:noFill/>
            </a:ln>
          </p:spPr>
        </p:pic>
      </p:grpSp>
      <p:cxnSp>
        <p:nvCxnSpPr>
          <p:cNvPr id="34" name="Shape 4409">
            <a:extLst>
              <a:ext uri="{FF2B5EF4-FFF2-40B4-BE49-F238E27FC236}">
                <a16:creationId xmlns:a16="http://schemas.microsoft.com/office/drawing/2014/main" id="{2EDCEAD5-6B88-7165-79EF-118BC68EE746}"/>
              </a:ext>
            </a:extLst>
          </p:cNvPr>
          <p:cNvCxnSpPr>
            <a:cxnSpLocks/>
            <a:stCxn id="22" idx="3"/>
            <a:endCxn id="25" idx="1"/>
          </p:cNvCxnSpPr>
          <p:nvPr/>
        </p:nvCxnSpPr>
        <p:spPr>
          <a:xfrm>
            <a:off x="1444352" y="2501462"/>
            <a:ext cx="450079" cy="615"/>
          </a:xfrm>
          <a:prstGeom prst="straightConnector1">
            <a:avLst/>
          </a:prstGeom>
          <a:noFill/>
          <a:ln w="9525" cap="flat" cmpd="sng">
            <a:solidFill>
              <a:srgbClr val="3A7DF0"/>
            </a:solidFill>
            <a:prstDash val="solid"/>
            <a:round/>
            <a:headEnd type="none" w="med" len="med"/>
            <a:tailEnd type="triangle" w="med" len="med"/>
          </a:ln>
        </p:spPr>
      </p:cxnSp>
      <p:sp>
        <p:nvSpPr>
          <p:cNvPr id="45" name="TextBox 44">
            <a:extLst>
              <a:ext uri="{FF2B5EF4-FFF2-40B4-BE49-F238E27FC236}">
                <a16:creationId xmlns:a16="http://schemas.microsoft.com/office/drawing/2014/main" id="{EB921625-BAE6-B6BD-C89A-C3BCE8B84E4C}"/>
              </a:ext>
            </a:extLst>
          </p:cNvPr>
          <p:cNvSpPr txBox="1"/>
          <p:nvPr/>
        </p:nvSpPr>
        <p:spPr>
          <a:xfrm>
            <a:off x="9787622" y="930235"/>
            <a:ext cx="2209619" cy="3600986"/>
          </a:xfrm>
          <a:prstGeom prst="rect">
            <a:avLst/>
          </a:prstGeom>
          <a:noFill/>
        </p:spPr>
        <p:txBody>
          <a:bodyPr wrap="square">
            <a:spAutoFit/>
          </a:bodyPr>
          <a:lstStyle/>
          <a:p>
            <a:r>
              <a:rPr lang="en-US" sz="1200" dirty="0">
                <a:effectLst/>
                <a:latin typeface="Helvetica" pitchFamily="2" charset="0"/>
              </a:rPr>
              <a:t>Key points</a:t>
            </a:r>
          </a:p>
          <a:p>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 Client VPC does not need to be peered to the Google VPC</a:t>
            </a:r>
          </a:p>
          <a:p>
            <a:pPr marL="171450" indent="-171450">
              <a:buFont typeface="Arial" panose="020B0604020202020204" pitchFamily="34" charset="0"/>
              <a:buChar char="•"/>
            </a:pPr>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 One Endpoint Attachment per Service Attachment.</a:t>
            </a:r>
          </a:p>
          <a:p>
            <a:pPr marL="171450" indent="-171450">
              <a:buFont typeface="Arial" panose="020B0604020202020204" pitchFamily="34" charset="0"/>
              <a:buChar char="•"/>
            </a:pPr>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PSC service attachment in the VPC network where the target services are deployed.</a:t>
            </a:r>
          </a:p>
          <a:p>
            <a:pPr marL="171450" indent="-171450">
              <a:buFont typeface="Arial" panose="020B0604020202020204" pitchFamily="34" charset="0"/>
              <a:buChar char="•"/>
            </a:pPr>
            <a:endParaRPr lang="en-US" sz="1200" dirty="0">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NAT is handled by PSC.</a:t>
            </a:r>
          </a:p>
          <a:p>
            <a:pPr marL="171450" indent="-171450">
              <a:buFont typeface="Arial" panose="020B0604020202020204" pitchFamily="34" charset="0"/>
              <a:buChar char="•"/>
            </a:pPr>
            <a:endParaRPr lang="en-US" sz="1200" dirty="0">
              <a:effectLst/>
              <a:latin typeface="Helvetica" pitchFamily="2" charset="0"/>
            </a:endParaRPr>
          </a:p>
          <a:p>
            <a:pPr marL="171450" indent="-171450">
              <a:buFont typeface="Arial" panose="020B0604020202020204" pitchFamily="34" charset="0"/>
              <a:buChar char="•"/>
            </a:pPr>
            <a:r>
              <a:rPr lang="en-US" sz="1200" dirty="0">
                <a:effectLst/>
                <a:latin typeface="Helvetica" pitchFamily="2" charset="0"/>
              </a:rPr>
              <a:t>Service attachment can attach to one of TCP (L4) or HTTPS (L7) LB.</a:t>
            </a:r>
          </a:p>
        </p:txBody>
      </p:sp>
      <p:cxnSp>
        <p:nvCxnSpPr>
          <p:cNvPr id="2050" name="Shape 4409">
            <a:extLst>
              <a:ext uri="{FF2B5EF4-FFF2-40B4-BE49-F238E27FC236}">
                <a16:creationId xmlns:a16="http://schemas.microsoft.com/office/drawing/2014/main" id="{CA03E189-1196-7D61-718E-D0E56F05C3F1}"/>
              </a:ext>
            </a:extLst>
          </p:cNvPr>
          <p:cNvCxnSpPr>
            <a:cxnSpLocks/>
            <a:stCxn id="25" idx="3"/>
            <a:endCxn id="2055" idx="1"/>
          </p:cNvCxnSpPr>
          <p:nvPr/>
        </p:nvCxnSpPr>
        <p:spPr>
          <a:xfrm>
            <a:off x="2844644" y="2502077"/>
            <a:ext cx="723252" cy="0"/>
          </a:xfrm>
          <a:prstGeom prst="straightConnector1">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grpSp>
        <p:nvGrpSpPr>
          <p:cNvPr id="2054" name="Shape 1779">
            <a:extLst>
              <a:ext uri="{FF2B5EF4-FFF2-40B4-BE49-F238E27FC236}">
                <a16:creationId xmlns:a16="http://schemas.microsoft.com/office/drawing/2014/main" id="{CCDBC4CE-65D1-36D2-24B2-33E1F16FD29D}"/>
              </a:ext>
            </a:extLst>
          </p:cNvPr>
          <p:cNvGrpSpPr/>
          <p:nvPr/>
        </p:nvGrpSpPr>
        <p:grpSpPr>
          <a:xfrm>
            <a:off x="3567896" y="2305481"/>
            <a:ext cx="950213" cy="393192"/>
            <a:chOff x="469795" y="2972893"/>
            <a:chExt cx="880800" cy="382200"/>
          </a:xfrm>
        </p:grpSpPr>
        <p:sp>
          <p:nvSpPr>
            <p:cNvPr id="2055" name="Shape 1780">
              <a:extLst>
                <a:ext uri="{FF2B5EF4-FFF2-40B4-BE49-F238E27FC236}">
                  <a16:creationId xmlns:a16="http://schemas.microsoft.com/office/drawing/2014/main" id="{34F56404-1F39-23F6-0F62-89D2B611FEE1}"/>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Service Attachment</a:t>
              </a:r>
            </a:p>
          </p:txBody>
        </p:sp>
        <p:pic>
          <p:nvPicPr>
            <p:cNvPr id="2056" name="Shape 1781">
              <a:extLst>
                <a:ext uri="{FF2B5EF4-FFF2-40B4-BE49-F238E27FC236}">
                  <a16:creationId xmlns:a16="http://schemas.microsoft.com/office/drawing/2014/main" id="{2A67F7EA-0B31-6A0A-39EE-CFD149279B5E}"/>
                </a:ext>
              </a:extLst>
            </p:cNvPr>
            <p:cNvPicPr preferRelativeResize="0"/>
            <p:nvPr/>
          </p:nvPicPr>
          <p:blipFill rotWithShape="1">
            <a:blip r:embed="rId4"/>
            <a:srcRect l="4456" r="4456"/>
            <a:stretch/>
          </p:blipFill>
          <p:spPr>
            <a:xfrm>
              <a:off x="515553" y="3040183"/>
              <a:ext cx="235069" cy="247089"/>
            </a:xfrm>
            <a:prstGeom prst="rect">
              <a:avLst/>
            </a:prstGeom>
            <a:noFill/>
            <a:ln>
              <a:noFill/>
            </a:ln>
          </p:spPr>
        </p:pic>
      </p:grpSp>
      <p:grpSp>
        <p:nvGrpSpPr>
          <p:cNvPr id="2057" name="Shape 4412">
            <a:extLst>
              <a:ext uri="{FF2B5EF4-FFF2-40B4-BE49-F238E27FC236}">
                <a16:creationId xmlns:a16="http://schemas.microsoft.com/office/drawing/2014/main" id="{98680BAC-F0BD-1A5E-7E40-0187D76CA8C1}"/>
              </a:ext>
            </a:extLst>
          </p:cNvPr>
          <p:cNvGrpSpPr/>
          <p:nvPr/>
        </p:nvGrpSpPr>
        <p:grpSpPr>
          <a:xfrm>
            <a:off x="5084267" y="2946722"/>
            <a:ext cx="999600" cy="382200"/>
            <a:chOff x="1790611" y="2719167"/>
            <a:chExt cx="934061" cy="382200"/>
          </a:xfrm>
        </p:grpSpPr>
        <p:sp>
          <p:nvSpPr>
            <p:cNvPr id="2058" name="Shape 4410">
              <a:extLst>
                <a:ext uri="{FF2B5EF4-FFF2-40B4-BE49-F238E27FC236}">
                  <a16:creationId xmlns:a16="http://schemas.microsoft.com/office/drawing/2014/main" id="{07E7C901-0403-7887-6B2D-E305C3A0B007}"/>
                </a:ext>
              </a:extLst>
            </p:cNvPr>
            <p:cNvSpPr/>
            <p:nvPr/>
          </p:nvSpPr>
          <p:spPr>
            <a:xfrm>
              <a:off x="1790611" y="2719167"/>
              <a:ext cx="934061"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573000" tIns="97533" rIns="60933" bIns="97533" anchor="ctr" anchorCtr="0">
              <a:noAutofit/>
            </a:bodyPr>
            <a:lstStyle/>
            <a:p>
              <a:pPr>
                <a:lnSpc>
                  <a:spcPct val="121428"/>
                </a:lnSpc>
                <a:spcBef>
                  <a:spcPts val="267"/>
                </a:spcBef>
                <a:buClr>
                  <a:srgbClr val="757575"/>
                </a:buClr>
                <a:buSzPct val="25000"/>
              </a:pPr>
              <a:r>
                <a:rPr lang="en-US" sz="700" dirty="0">
                  <a:solidFill>
                    <a:srgbClr val="757575"/>
                  </a:solidFill>
                  <a:latin typeface="Roboto"/>
                  <a:ea typeface="Roboto"/>
                  <a:cs typeface="Roboto"/>
                  <a:sym typeface="Roboto"/>
                </a:rPr>
                <a:t>Load balancer</a:t>
              </a:r>
            </a:p>
          </p:txBody>
        </p:sp>
        <p:pic>
          <p:nvPicPr>
            <p:cNvPr id="2059" name="Shape 4413" descr="Cloud-Load-Balancing.png">
              <a:extLst>
                <a:ext uri="{FF2B5EF4-FFF2-40B4-BE49-F238E27FC236}">
                  <a16:creationId xmlns:a16="http://schemas.microsoft.com/office/drawing/2014/main" id="{6594EA4A-3B1D-255B-A66D-B8E75A0EA72E}"/>
                </a:ext>
              </a:extLst>
            </p:cNvPr>
            <p:cNvPicPr preferRelativeResize="0"/>
            <p:nvPr/>
          </p:nvPicPr>
          <p:blipFill rotWithShape="1">
            <a:blip r:embed="rId5">
              <a:alphaModFix/>
            </a:blip>
            <a:srcRect t="5036" b="5027"/>
            <a:stretch/>
          </p:blipFill>
          <p:spPr>
            <a:xfrm>
              <a:off x="1835316" y="2787521"/>
              <a:ext cx="218992" cy="246600"/>
            </a:xfrm>
            <a:prstGeom prst="rect">
              <a:avLst/>
            </a:prstGeom>
            <a:noFill/>
            <a:ln>
              <a:noFill/>
            </a:ln>
          </p:spPr>
        </p:pic>
      </p:grpSp>
      <p:cxnSp>
        <p:nvCxnSpPr>
          <p:cNvPr id="2064" name="Shape 4409">
            <a:extLst>
              <a:ext uri="{FF2B5EF4-FFF2-40B4-BE49-F238E27FC236}">
                <a16:creationId xmlns:a16="http://schemas.microsoft.com/office/drawing/2014/main" id="{F000A85E-494A-B697-4D9F-3170DB833619}"/>
              </a:ext>
            </a:extLst>
          </p:cNvPr>
          <p:cNvCxnSpPr>
            <a:cxnSpLocks/>
            <a:stCxn id="2055" idx="3"/>
            <a:endCxn id="2058" idx="1"/>
          </p:cNvCxnSpPr>
          <p:nvPr/>
        </p:nvCxnSpPr>
        <p:spPr>
          <a:xfrm>
            <a:off x="4518109" y="2502077"/>
            <a:ext cx="566158" cy="635745"/>
          </a:xfrm>
          <a:prstGeom prst="straightConnector1">
            <a:avLst/>
          </a:prstGeom>
          <a:noFill/>
          <a:ln w="9525" cap="flat" cmpd="sng">
            <a:solidFill>
              <a:srgbClr val="3A7DF0"/>
            </a:solidFill>
            <a:prstDash val="solid"/>
            <a:round/>
            <a:headEnd type="none" w="med" len="med"/>
            <a:tailEnd type="triangle" w="med" len="med"/>
          </a:ln>
        </p:spPr>
      </p:cxnSp>
      <p:sp>
        <p:nvSpPr>
          <p:cNvPr id="2069" name="Shape 438">
            <a:extLst>
              <a:ext uri="{FF2B5EF4-FFF2-40B4-BE49-F238E27FC236}">
                <a16:creationId xmlns:a16="http://schemas.microsoft.com/office/drawing/2014/main" id="{2A262AE3-B389-3FFE-5551-C87591BDDBA9}"/>
              </a:ext>
            </a:extLst>
          </p:cNvPr>
          <p:cNvSpPr txBox="1"/>
          <p:nvPr/>
        </p:nvSpPr>
        <p:spPr>
          <a:xfrm>
            <a:off x="2835778" y="2170592"/>
            <a:ext cx="760994" cy="167038"/>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700" b="1" dirty="0">
                <a:solidFill>
                  <a:srgbClr val="00B050"/>
                </a:solidFill>
                <a:latin typeface="Open Sans"/>
                <a:ea typeface="Open Sans"/>
                <a:cs typeface="Open Sans"/>
                <a:sym typeface="Open Sans"/>
              </a:rPr>
              <a:t>PSC (Southbound)</a:t>
            </a:r>
            <a:endParaRPr lang="en-US" sz="700" b="1" i="0" u="none" strike="noStrike" cap="none" dirty="0">
              <a:solidFill>
                <a:srgbClr val="00B050"/>
              </a:solidFill>
              <a:latin typeface="Open Sans"/>
              <a:ea typeface="Open Sans"/>
              <a:cs typeface="Open Sans"/>
              <a:sym typeface="Open Sans"/>
            </a:endParaRPr>
          </a:p>
        </p:txBody>
      </p:sp>
      <p:sp>
        <p:nvSpPr>
          <p:cNvPr id="2070" name="Shape 469">
            <a:extLst>
              <a:ext uri="{FF2B5EF4-FFF2-40B4-BE49-F238E27FC236}">
                <a16:creationId xmlns:a16="http://schemas.microsoft.com/office/drawing/2014/main" id="{5C4C0620-F5ED-805F-D7D7-7DFAFEE2E9FC}"/>
              </a:ext>
            </a:extLst>
          </p:cNvPr>
          <p:cNvSpPr/>
          <p:nvPr/>
        </p:nvSpPr>
        <p:spPr>
          <a:xfrm>
            <a:off x="339044" y="1977138"/>
            <a:ext cx="4294596" cy="1068866"/>
          </a:xfrm>
          <a:prstGeom prst="roundRect">
            <a:avLst>
              <a:gd name="adj" fmla="val 0"/>
            </a:avLst>
          </a:prstGeom>
          <a:noFill/>
          <a:ln>
            <a:solidFill>
              <a:schemeClr val="tx1"/>
            </a:solidFill>
            <a:prstDash val="dash"/>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2071" name="Shape 647">
            <a:extLst>
              <a:ext uri="{FF2B5EF4-FFF2-40B4-BE49-F238E27FC236}">
                <a16:creationId xmlns:a16="http://schemas.microsoft.com/office/drawing/2014/main" id="{35A969C6-0643-4364-83D9-0F0EED862CDB}"/>
              </a:ext>
            </a:extLst>
          </p:cNvPr>
          <p:cNvSpPr txBox="1"/>
          <p:nvPr/>
        </p:nvSpPr>
        <p:spPr>
          <a:xfrm>
            <a:off x="338065" y="2728041"/>
            <a:ext cx="1476056" cy="243955"/>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Apigee X Runtime</a:t>
            </a:r>
          </a:p>
          <a:p>
            <a:pPr marL="0" marR="0" lvl="0" indent="0" algn="l" rtl="0">
              <a:lnSpc>
                <a:spcPts val="1000"/>
              </a:lnSpc>
              <a:spcBef>
                <a:spcPts val="0"/>
              </a:spcBef>
              <a:spcAft>
                <a:spcPts val="0"/>
              </a:spcAft>
              <a:buClr>
                <a:srgbClr val="9E9E9E"/>
              </a:buClr>
              <a:buSzPct val="25000"/>
              <a:buFont typeface="Roboto"/>
              <a:buNone/>
            </a:pPr>
            <a:r>
              <a:rPr lang="en-US" sz="900" b="1" dirty="0">
                <a:solidFill>
                  <a:srgbClr val="9E9E9E"/>
                </a:solidFill>
                <a:latin typeface="Roboto"/>
                <a:ea typeface="Roboto"/>
                <a:cs typeface="Roboto"/>
                <a:sym typeface="Roboto"/>
              </a:rPr>
              <a:t>Instance</a:t>
            </a:r>
            <a:endParaRPr lang="en-US" sz="900" b="1" i="0" u="none" strike="noStrike" cap="none" dirty="0">
              <a:solidFill>
                <a:srgbClr val="9E9E9E"/>
              </a:solidFill>
              <a:latin typeface="Roboto"/>
              <a:ea typeface="Roboto"/>
              <a:cs typeface="Roboto"/>
              <a:sym typeface="Roboto"/>
            </a:endParaRPr>
          </a:p>
        </p:txBody>
      </p:sp>
      <p:grpSp>
        <p:nvGrpSpPr>
          <p:cNvPr id="2072" name="Shape 1779">
            <a:extLst>
              <a:ext uri="{FF2B5EF4-FFF2-40B4-BE49-F238E27FC236}">
                <a16:creationId xmlns:a16="http://schemas.microsoft.com/office/drawing/2014/main" id="{2413DA5C-8961-100D-DF40-CC139088A12E}"/>
              </a:ext>
            </a:extLst>
          </p:cNvPr>
          <p:cNvGrpSpPr/>
          <p:nvPr/>
        </p:nvGrpSpPr>
        <p:grpSpPr>
          <a:xfrm>
            <a:off x="494139" y="3605375"/>
            <a:ext cx="950213" cy="395544"/>
            <a:chOff x="469795" y="2972893"/>
            <a:chExt cx="880800" cy="382200"/>
          </a:xfrm>
        </p:grpSpPr>
        <p:sp>
          <p:nvSpPr>
            <p:cNvPr id="2073" name="Shape 1780">
              <a:extLst>
                <a:ext uri="{FF2B5EF4-FFF2-40B4-BE49-F238E27FC236}">
                  <a16:creationId xmlns:a16="http://schemas.microsoft.com/office/drawing/2014/main" id="{DB2CAC1B-71A6-E903-356C-963B09E4414F}"/>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Apigee Runtime</a:t>
              </a:r>
            </a:p>
          </p:txBody>
        </p:sp>
        <p:pic>
          <p:nvPicPr>
            <p:cNvPr id="2074" name="Shape 1781">
              <a:extLst>
                <a:ext uri="{FF2B5EF4-FFF2-40B4-BE49-F238E27FC236}">
                  <a16:creationId xmlns:a16="http://schemas.microsoft.com/office/drawing/2014/main" id="{DFCF2777-31BF-C33E-611C-022D511D2E61}"/>
                </a:ext>
              </a:extLst>
            </p:cNvPr>
            <p:cNvPicPr preferRelativeResize="0"/>
            <p:nvPr/>
          </p:nvPicPr>
          <p:blipFill rotWithShape="1">
            <a:blip r:embed="rId3"/>
            <a:srcRect t="6862" b="6862"/>
            <a:stretch/>
          </p:blipFill>
          <p:spPr>
            <a:xfrm>
              <a:off x="515552" y="3040183"/>
              <a:ext cx="210072" cy="229892"/>
            </a:xfrm>
            <a:prstGeom prst="rect">
              <a:avLst/>
            </a:prstGeom>
            <a:noFill/>
            <a:ln>
              <a:noFill/>
            </a:ln>
          </p:spPr>
        </p:pic>
      </p:grpSp>
      <p:grpSp>
        <p:nvGrpSpPr>
          <p:cNvPr id="2075" name="Shape 1779">
            <a:extLst>
              <a:ext uri="{FF2B5EF4-FFF2-40B4-BE49-F238E27FC236}">
                <a16:creationId xmlns:a16="http://schemas.microsoft.com/office/drawing/2014/main" id="{6E609527-8BBE-EEE0-829D-0535C9AA7BC8}"/>
              </a:ext>
            </a:extLst>
          </p:cNvPr>
          <p:cNvGrpSpPr/>
          <p:nvPr/>
        </p:nvGrpSpPr>
        <p:grpSpPr>
          <a:xfrm>
            <a:off x="1894431" y="3607166"/>
            <a:ext cx="950213" cy="393192"/>
            <a:chOff x="469795" y="2972893"/>
            <a:chExt cx="880800" cy="382200"/>
          </a:xfrm>
        </p:grpSpPr>
        <p:sp>
          <p:nvSpPr>
            <p:cNvPr id="2076" name="Shape 1780">
              <a:extLst>
                <a:ext uri="{FF2B5EF4-FFF2-40B4-BE49-F238E27FC236}">
                  <a16:creationId xmlns:a16="http://schemas.microsoft.com/office/drawing/2014/main" id="{54A117A3-2CDD-9BE5-1E1E-46E6C1CE3AE9}"/>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Endpoint Attachment</a:t>
              </a:r>
            </a:p>
          </p:txBody>
        </p:sp>
        <p:pic>
          <p:nvPicPr>
            <p:cNvPr id="2077" name="Shape 1781">
              <a:extLst>
                <a:ext uri="{FF2B5EF4-FFF2-40B4-BE49-F238E27FC236}">
                  <a16:creationId xmlns:a16="http://schemas.microsoft.com/office/drawing/2014/main" id="{AB4C168E-DB6D-D401-D0B2-8D07B0C9CF9B}"/>
                </a:ext>
              </a:extLst>
            </p:cNvPr>
            <p:cNvPicPr preferRelativeResize="0"/>
            <p:nvPr/>
          </p:nvPicPr>
          <p:blipFill rotWithShape="1">
            <a:blip r:embed="rId4"/>
            <a:srcRect l="4456" r="4456"/>
            <a:stretch/>
          </p:blipFill>
          <p:spPr>
            <a:xfrm>
              <a:off x="515553" y="3040183"/>
              <a:ext cx="235069" cy="247089"/>
            </a:xfrm>
            <a:prstGeom prst="rect">
              <a:avLst/>
            </a:prstGeom>
            <a:noFill/>
            <a:ln>
              <a:noFill/>
            </a:ln>
          </p:spPr>
        </p:pic>
      </p:grpSp>
      <p:cxnSp>
        <p:nvCxnSpPr>
          <p:cNvPr id="2080" name="Shape 4409">
            <a:extLst>
              <a:ext uri="{FF2B5EF4-FFF2-40B4-BE49-F238E27FC236}">
                <a16:creationId xmlns:a16="http://schemas.microsoft.com/office/drawing/2014/main" id="{D73FFDAE-ECE1-A20E-7FED-6D05AAD6D64F}"/>
              </a:ext>
            </a:extLst>
          </p:cNvPr>
          <p:cNvCxnSpPr>
            <a:cxnSpLocks/>
            <a:stCxn id="2073" idx="3"/>
            <a:endCxn id="2076" idx="1"/>
          </p:cNvCxnSpPr>
          <p:nvPr/>
        </p:nvCxnSpPr>
        <p:spPr>
          <a:xfrm>
            <a:off x="1444352" y="3803147"/>
            <a:ext cx="450079" cy="615"/>
          </a:xfrm>
          <a:prstGeom prst="straightConnector1">
            <a:avLst/>
          </a:prstGeom>
          <a:noFill/>
          <a:ln w="9525" cap="flat" cmpd="sng">
            <a:solidFill>
              <a:srgbClr val="3A7DF0"/>
            </a:solidFill>
            <a:prstDash val="solid"/>
            <a:round/>
            <a:headEnd type="none" w="med" len="med"/>
            <a:tailEnd type="triangle" w="med" len="med"/>
          </a:ln>
        </p:spPr>
      </p:cxnSp>
      <p:cxnSp>
        <p:nvCxnSpPr>
          <p:cNvPr id="2081" name="Shape 4409">
            <a:extLst>
              <a:ext uri="{FF2B5EF4-FFF2-40B4-BE49-F238E27FC236}">
                <a16:creationId xmlns:a16="http://schemas.microsoft.com/office/drawing/2014/main" id="{E2C10148-9B69-5C28-C71D-D0F0A4778BAB}"/>
              </a:ext>
            </a:extLst>
          </p:cNvPr>
          <p:cNvCxnSpPr>
            <a:cxnSpLocks/>
            <a:stCxn id="2076" idx="3"/>
            <a:endCxn id="2084" idx="1"/>
          </p:cNvCxnSpPr>
          <p:nvPr/>
        </p:nvCxnSpPr>
        <p:spPr>
          <a:xfrm>
            <a:off x="2844644" y="3803762"/>
            <a:ext cx="723252" cy="0"/>
          </a:xfrm>
          <a:prstGeom prst="straightConnector1">
            <a:avLst/>
          </a:pr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cxnSp>
      <p:grpSp>
        <p:nvGrpSpPr>
          <p:cNvPr id="2083" name="Shape 1779">
            <a:extLst>
              <a:ext uri="{FF2B5EF4-FFF2-40B4-BE49-F238E27FC236}">
                <a16:creationId xmlns:a16="http://schemas.microsoft.com/office/drawing/2014/main" id="{A4ED39CE-167E-5716-16F1-0A168E153999}"/>
              </a:ext>
            </a:extLst>
          </p:cNvPr>
          <p:cNvGrpSpPr/>
          <p:nvPr/>
        </p:nvGrpSpPr>
        <p:grpSpPr>
          <a:xfrm>
            <a:off x="3567896" y="3607166"/>
            <a:ext cx="950213" cy="393192"/>
            <a:chOff x="469795" y="2972893"/>
            <a:chExt cx="880800" cy="382200"/>
          </a:xfrm>
        </p:grpSpPr>
        <p:sp>
          <p:nvSpPr>
            <p:cNvPr id="2084" name="Shape 1780">
              <a:extLst>
                <a:ext uri="{FF2B5EF4-FFF2-40B4-BE49-F238E27FC236}">
                  <a16:creationId xmlns:a16="http://schemas.microsoft.com/office/drawing/2014/main" id="{537408FA-F21A-9D3D-EA02-275611640E3E}"/>
                </a:ext>
              </a:extLst>
            </p:cNvPr>
            <p:cNvSpPr/>
            <p:nvPr/>
          </p:nvSpPr>
          <p:spPr>
            <a:xfrm>
              <a:off x="469795" y="2972893"/>
              <a:ext cx="880800" cy="3822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429750" tIns="73150" rIns="45700" bIns="73150" anchor="ctr" anchorCtr="0">
              <a:noAutofit/>
            </a:bodyPr>
            <a:lstStyle/>
            <a:p>
              <a:pPr marL="0" marR="0" lvl="0" indent="0" algn="l" rtl="0">
                <a:lnSpc>
                  <a:spcPct val="121428"/>
                </a:lnSpc>
                <a:spcBef>
                  <a:spcPts val="200"/>
                </a:spcBef>
                <a:spcAft>
                  <a:spcPts val="0"/>
                </a:spcAft>
                <a:buClr>
                  <a:srgbClr val="757575"/>
                </a:buClr>
                <a:buSzPct val="25000"/>
                <a:buFont typeface="Roboto"/>
                <a:buNone/>
              </a:pPr>
              <a:r>
                <a:rPr lang="en-US" sz="700" b="0" i="0" u="none" strike="noStrike" cap="none" dirty="0">
                  <a:solidFill>
                    <a:srgbClr val="757575"/>
                  </a:solidFill>
                  <a:latin typeface="Roboto"/>
                  <a:ea typeface="Roboto"/>
                  <a:cs typeface="Roboto"/>
                  <a:sym typeface="Roboto"/>
                </a:rPr>
                <a:t>Service Attachment</a:t>
              </a:r>
            </a:p>
          </p:txBody>
        </p:sp>
        <p:pic>
          <p:nvPicPr>
            <p:cNvPr id="2085" name="Shape 1781">
              <a:extLst>
                <a:ext uri="{FF2B5EF4-FFF2-40B4-BE49-F238E27FC236}">
                  <a16:creationId xmlns:a16="http://schemas.microsoft.com/office/drawing/2014/main" id="{C88C8356-1D5D-42D3-083C-47907C1A1884}"/>
                </a:ext>
              </a:extLst>
            </p:cNvPr>
            <p:cNvPicPr preferRelativeResize="0"/>
            <p:nvPr/>
          </p:nvPicPr>
          <p:blipFill rotWithShape="1">
            <a:blip r:embed="rId4"/>
            <a:srcRect l="4456" r="4456"/>
            <a:stretch/>
          </p:blipFill>
          <p:spPr>
            <a:xfrm>
              <a:off x="515553" y="3040183"/>
              <a:ext cx="235069" cy="247089"/>
            </a:xfrm>
            <a:prstGeom prst="rect">
              <a:avLst/>
            </a:prstGeom>
            <a:noFill/>
            <a:ln>
              <a:noFill/>
            </a:ln>
          </p:spPr>
        </p:pic>
      </p:grpSp>
      <p:cxnSp>
        <p:nvCxnSpPr>
          <p:cNvPr id="2086" name="Shape 4409">
            <a:extLst>
              <a:ext uri="{FF2B5EF4-FFF2-40B4-BE49-F238E27FC236}">
                <a16:creationId xmlns:a16="http://schemas.microsoft.com/office/drawing/2014/main" id="{CF6B4F17-8294-2782-F61C-AD4B1A07D92C}"/>
              </a:ext>
            </a:extLst>
          </p:cNvPr>
          <p:cNvCxnSpPr>
            <a:cxnSpLocks/>
            <a:stCxn id="2084" idx="3"/>
            <a:endCxn id="2058" idx="1"/>
          </p:cNvCxnSpPr>
          <p:nvPr/>
        </p:nvCxnSpPr>
        <p:spPr>
          <a:xfrm flipV="1">
            <a:off x="4518109" y="3137822"/>
            <a:ext cx="566158" cy="665940"/>
          </a:xfrm>
          <a:prstGeom prst="straightConnector1">
            <a:avLst/>
          </a:prstGeom>
          <a:noFill/>
          <a:ln w="9525" cap="flat" cmpd="sng">
            <a:solidFill>
              <a:srgbClr val="3A7DF0"/>
            </a:solidFill>
            <a:prstDash val="solid"/>
            <a:round/>
            <a:headEnd type="none" w="med" len="med"/>
            <a:tailEnd type="triangle" w="med" len="med"/>
          </a:ln>
        </p:spPr>
      </p:cxnSp>
      <p:sp>
        <p:nvSpPr>
          <p:cNvPr id="2087" name="Shape 438">
            <a:extLst>
              <a:ext uri="{FF2B5EF4-FFF2-40B4-BE49-F238E27FC236}">
                <a16:creationId xmlns:a16="http://schemas.microsoft.com/office/drawing/2014/main" id="{4962081C-6086-0F43-291C-068BF449FAF3}"/>
              </a:ext>
            </a:extLst>
          </p:cNvPr>
          <p:cNvSpPr txBox="1"/>
          <p:nvPr/>
        </p:nvSpPr>
        <p:spPr>
          <a:xfrm>
            <a:off x="2835778" y="3472277"/>
            <a:ext cx="760994" cy="167038"/>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700" b="1" dirty="0">
                <a:solidFill>
                  <a:srgbClr val="00B050"/>
                </a:solidFill>
                <a:latin typeface="Open Sans"/>
                <a:ea typeface="Open Sans"/>
                <a:cs typeface="Open Sans"/>
                <a:sym typeface="Open Sans"/>
              </a:rPr>
              <a:t>PSC (Southbound)</a:t>
            </a:r>
            <a:endParaRPr lang="en-US" sz="700" b="1" i="0" u="none" strike="noStrike" cap="none" dirty="0">
              <a:solidFill>
                <a:srgbClr val="00B050"/>
              </a:solidFill>
              <a:latin typeface="Open Sans"/>
              <a:ea typeface="Open Sans"/>
              <a:cs typeface="Open Sans"/>
              <a:sym typeface="Open Sans"/>
            </a:endParaRPr>
          </a:p>
        </p:txBody>
      </p:sp>
      <p:sp>
        <p:nvSpPr>
          <p:cNvPr id="2088" name="Shape 469">
            <a:extLst>
              <a:ext uri="{FF2B5EF4-FFF2-40B4-BE49-F238E27FC236}">
                <a16:creationId xmlns:a16="http://schemas.microsoft.com/office/drawing/2014/main" id="{FFB93D75-8DA1-3697-7A5B-397C7DAD0D5F}"/>
              </a:ext>
            </a:extLst>
          </p:cNvPr>
          <p:cNvSpPr/>
          <p:nvPr/>
        </p:nvSpPr>
        <p:spPr>
          <a:xfrm>
            <a:off x="339044" y="3278823"/>
            <a:ext cx="4294596" cy="1068866"/>
          </a:xfrm>
          <a:prstGeom prst="roundRect">
            <a:avLst>
              <a:gd name="adj" fmla="val 0"/>
            </a:avLst>
          </a:prstGeom>
          <a:noFill/>
          <a:ln>
            <a:solidFill>
              <a:schemeClr val="tx1"/>
            </a:solidFill>
            <a:prstDash val="dash"/>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2089" name="Shape 647">
            <a:extLst>
              <a:ext uri="{FF2B5EF4-FFF2-40B4-BE49-F238E27FC236}">
                <a16:creationId xmlns:a16="http://schemas.microsoft.com/office/drawing/2014/main" id="{C3343051-A30F-D612-C232-39316A3C2EBA}"/>
              </a:ext>
            </a:extLst>
          </p:cNvPr>
          <p:cNvSpPr txBox="1"/>
          <p:nvPr/>
        </p:nvSpPr>
        <p:spPr>
          <a:xfrm>
            <a:off x="338065" y="4029726"/>
            <a:ext cx="1476056" cy="243955"/>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Apigee X Runtime</a:t>
            </a:r>
          </a:p>
          <a:p>
            <a:pPr marL="0" marR="0" lvl="0" indent="0" algn="l" rtl="0">
              <a:lnSpc>
                <a:spcPts val="1000"/>
              </a:lnSpc>
              <a:spcBef>
                <a:spcPts val="0"/>
              </a:spcBef>
              <a:spcAft>
                <a:spcPts val="0"/>
              </a:spcAft>
              <a:buClr>
                <a:srgbClr val="9E9E9E"/>
              </a:buClr>
              <a:buSzPct val="25000"/>
              <a:buFont typeface="Roboto"/>
              <a:buNone/>
            </a:pPr>
            <a:r>
              <a:rPr lang="en-US" sz="900" b="1" dirty="0">
                <a:solidFill>
                  <a:srgbClr val="9E9E9E"/>
                </a:solidFill>
                <a:latin typeface="Roboto"/>
                <a:ea typeface="Roboto"/>
                <a:cs typeface="Roboto"/>
                <a:sym typeface="Roboto"/>
              </a:rPr>
              <a:t>Instance</a:t>
            </a:r>
            <a:endParaRPr lang="en-US" sz="900" b="1" i="0" u="none" strike="noStrike" cap="none" dirty="0">
              <a:solidFill>
                <a:srgbClr val="9E9E9E"/>
              </a:solidFill>
              <a:latin typeface="Roboto"/>
              <a:ea typeface="Roboto"/>
              <a:cs typeface="Roboto"/>
              <a:sym typeface="Roboto"/>
            </a:endParaRPr>
          </a:p>
        </p:txBody>
      </p:sp>
      <p:sp>
        <p:nvSpPr>
          <p:cNvPr id="2092" name="Shape 647">
            <a:extLst>
              <a:ext uri="{FF2B5EF4-FFF2-40B4-BE49-F238E27FC236}">
                <a16:creationId xmlns:a16="http://schemas.microsoft.com/office/drawing/2014/main" id="{52553AEF-0F4C-6FEB-84AC-2481A6083F63}"/>
              </a:ext>
            </a:extLst>
          </p:cNvPr>
          <p:cNvSpPr txBox="1"/>
          <p:nvPr/>
        </p:nvSpPr>
        <p:spPr>
          <a:xfrm>
            <a:off x="3436262" y="2838315"/>
            <a:ext cx="1118144" cy="25069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Region 1</a:t>
            </a:r>
          </a:p>
        </p:txBody>
      </p:sp>
      <p:sp>
        <p:nvSpPr>
          <p:cNvPr id="2093" name="Shape 647">
            <a:extLst>
              <a:ext uri="{FF2B5EF4-FFF2-40B4-BE49-F238E27FC236}">
                <a16:creationId xmlns:a16="http://schemas.microsoft.com/office/drawing/2014/main" id="{EDC9F519-D490-B284-8144-1FCC6C334530}"/>
              </a:ext>
            </a:extLst>
          </p:cNvPr>
          <p:cNvSpPr txBox="1"/>
          <p:nvPr/>
        </p:nvSpPr>
        <p:spPr>
          <a:xfrm>
            <a:off x="3438052" y="4141791"/>
            <a:ext cx="1118144" cy="250693"/>
          </a:xfrm>
          <a:prstGeom prst="rect">
            <a:avLst/>
          </a:prstGeom>
          <a:noFill/>
          <a:ln>
            <a:noFill/>
          </a:ln>
        </p:spPr>
        <p:txBody>
          <a:bodyPr lIns="91425" tIns="64000" rIns="0" bIns="0" anchor="t" anchorCtr="0">
            <a:noAutofit/>
          </a:bodyPr>
          <a:lstStyle/>
          <a:p>
            <a:pPr marL="0" marR="0" lvl="0" indent="0" algn="l" rtl="0">
              <a:lnSpc>
                <a:spcPts val="1000"/>
              </a:lnSpc>
              <a:spcBef>
                <a:spcPts val="0"/>
              </a:spcBef>
              <a:spcAft>
                <a:spcPts val="0"/>
              </a:spcAft>
              <a:buClr>
                <a:srgbClr val="9E9E9E"/>
              </a:buClr>
              <a:buSzPct val="25000"/>
              <a:buFont typeface="Roboto"/>
              <a:buNone/>
            </a:pPr>
            <a:r>
              <a:rPr lang="en-US" sz="900" b="1" i="0" u="none" strike="noStrike" cap="none" dirty="0">
                <a:solidFill>
                  <a:srgbClr val="9E9E9E"/>
                </a:solidFill>
                <a:latin typeface="Roboto"/>
                <a:ea typeface="Roboto"/>
                <a:cs typeface="Roboto"/>
                <a:sym typeface="Roboto"/>
              </a:rPr>
              <a:t>Region 2</a:t>
            </a:r>
          </a:p>
        </p:txBody>
      </p:sp>
      <p:grpSp>
        <p:nvGrpSpPr>
          <p:cNvPr id="5" name="Shape 459">
            <a:extLst>
              <a:ext uri="{FF2B5EF4-FFF2-40B4-BE49-F238E27FC236}">
                <a16:creationId xmlns:a16="http://schemas.microsoft.com/office/drawing/2014/main" id="{99BABFB5-9A63-51E7-036F-502DABCAC8EA}"/>
              </a:ext>
            </a:extLst>
          </p:cNvPr>
          <p:cNvGrpSpPr/>
          <p:nvPr/>
        </p:nvGrpSpPr>
        <p:grpSpPr>
          <a:xfrm>
            <a:off x="6538008" y="2669463"/>
            <a:ext cx="1462880" cy="923739"/>
            <a:chOff x="2178033" y="1054763"/>
            <a:chExt cx="841800" cy="415500"/>
          </a:xfrm>
        </p:grpSpPr>
        <p:sp>
          <p:nvSpPr>
            <p:cNvPr id="6" name="Shape 460">
              <a:extLst>
                <a:ext uri="{FF2B5EF4-FFF2-40B4-BE49-F238E27FC236}">
                  <a16:creationId xmlns:a16="http://schemas.microsoft.com/office/drawing/2014/main" id="{970BE1CF-9645-39AB-BDB0-17DF93289B03}"/>
                </a:ext>
              </a:extLst>
            </p:cNvPr>
            <p:cNvSpPr/>
            <p:nvPr/>
          </p:nvSpPr>
          <p:spPr>
            <a:xfrm>
              <a:off x="2178033" y="1054763"/>
              <a:ext cx="841800" cy="415500"/>
            </a:xfrm>
            <a:prstGeom prst="roundRect">
              <a:avLst>
                <a:gd name="adj" fmla="val 827"/>
              </a:avLst>
            </a:prstGeom>
            <a:solidFill>
              <a:srgbClr val="E3F2FD"/>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9E9E9E"/>
                </a:solidFill>
                <a:latin typeface="Arial"/>
                <a:ea typeface="Arial"/>
                <a:cs typeface="Arial"/>
                <a:sym typeface="Arial"/>
              </a:endParaRPr>
            </a:p>
          </p:txBody>
        </p:sp>
        <p:sp>
          <p:nvSpPr>
            <p:cNvPr id="7" name="Shape 461">
              <a:extLst>
                <a:ext uri="{FF2B5EF4-FFF2-40B4-BE49-F238E27FC236}">
                  <a16:creationId xmlns:a16="http://schemas.microsoft.com/office/drawing/2014/main" id="{824313CD-352F-F221-0697-FF21EBEDE38C}"/>
                </a:ext>
              </a:extLst>
            </p:cNvPr>
            <p:cNvSpPr txBox="1"/>
            <p:nvPr/>
          </p:nvSpPr>
          <p:spPr>
            <a:xfrm>
              <a:off x="2178036" y="1054763"/>
              <a:ext cx="428700" cy="83100"/>
            </a:xfrm>
            <a:prstGeom prst="rect">
              <a:avLst/>
            </a:prstGeom>
            <a:noFill/>
            <a:ln>
              <a:noFill/>
            </a:ln>
          </p:spPr>
          <p:txBody>
            <a:bodyPr lIns="91425" tIns="64000" rIns="0" bIns="0" anchor="t" anchorCtr="0">
              <a:noAutofit/>
            </a:bodyPr>
            <a:lstStyle/>
            <a:p>
              <a:pPr marL="0" marR="0" lvl="0" indent="0" algn="l" rtl="0">
                <a:lnSpc>
                  <a:spcPct val="133333"/>
                </a:lnSpc>
                <a:spcBef>
                  <a:spcPts val="0"/>
                </a:spcBef>
                <a:spcAft>
                  <a:spcPts val="0"/>
                </a:spcAft>
                <a:buClr>
                  <a:srgbClr val="9E9E9E"/>
                </a:buClr>
                <a:buSzPct val="25000"/>
                <a:buFont typeface="Roboto"/>
                <a:buNone/>
              </a:pPr>
              <a:r>
                <a:rPr lang="en-US" sz="750" b="0" i="0" u="none" strike="noStrike" cap="none" dirty="0">
                  <a:solidFill>
                    <a:srgbClr val="9E9E9E"/>
                  </a:solidFill>
                  <a:latin typeface="Roboto"/>
                  <a:ea typeface="Roboto"/>
                  <a:cs typeface="Roboto"/>
                  <a:sym typeface="Roboto"/>
                </a:rPr>
                <a:t>Instance Group</a:t>
              </a:r>
            </a:p>
          </p:txBody>
        </p:sp>
      </p:grpSp>
      <p:grpSp>
        <p:nvGrpSpPr>
          <p:cNvPr id="8" name="Shape 462">
            <a:extLst>
              <a:ext uri="{FF2B5EF4-FFF2-40B4-BE49-F238E27FC236}">
                <a16:creationId xmlns:a16="http://schemas.microsoft.com/office/drawing/2014/main" id="{EDC09302-EF42-FCD0-7679-C729B763FCDD}"/>
              </a:ext>
            </a:extLst>
          </p:cNvPr>
          <p:cNvGrpSpPr/>
          <p:nvPr/>
        </p:nvGrpSpPr>
        <p:grpSpPr>
          <a:xfrm>
            <a:off x="6630423" y="2884389"/>
            <a:ext cx="1282555" cy="618114"/>
            <a:chOff x="5855872" y="2206655"/>
            <a:chExt cx="1282555" cy="618114"/>
          </a:xfrm>
        </p:grpSpPr>
        <p:sp>
          <p:nvSpPr>
            <p:cNvPr id="16" name="Shape 463">
              <a:extLst>
                <a:ext uri="{FF2B5EF4-FFF2-40B4-BE49-F238E27FC236}">
                  <a16:creationId xmlns:a16="http://schemas.microsoft.com/office/drawing/2014/main" id="{872E6767-65F2-02B3-F6A7-8332F84CCD8B}"/>
                </a:ext>
              </a:extLst>
            </p:cNvPr>
            <p:cNvSpPr/>
            <p:nvPr/>
          </p:nvSpPr>
          <p:spPr>
            <a:xfrm>
              <a:off x="5903927" y="2257469"/>
              <a:ext cx="1234500" cy="567300"/>
            </a:xfrm>
            <a:prstGeom prst="roundRect">
              <a:avLst>
                <a:gd name="adj" fmla="val 1674"/>
              </a:avLst>
            </a:prstGeom>
            <a:solidFill>
              <a:schemeClr val="lt1"/>
            </a:solidFill>
            <a:ln>
              <a:noFill/>
            </a:ln>
            <a:effectLst>
              <a:outerShdw blurRad="19050" dist="6350" dir="5400000" algn="ctr" rotWithShape="0">
                <a:schemeClr val="dk1">
                  <a:alpha val="44710"/>
                </a:schemeClr>
              </a:outerShdw>
            </a:effectLst>
          </p:spPr>
          <p:txBody>
            <a:bodyPr lIns="0" tIns="0" rIns="0" bIns="0" anchor="t" anchorCtr="0">
              <a:noAutofit/>
            </a:bodyPr>
            <a:lstStyle/>
            <a:p>
              <a:pPr marL="0" marR="0" lvl="0" indent="0" algn="l" rtl="0">
                <a:lnSpc>
                  <a:spcPct val="121428"/>
                </a:lnSpc>
                <a:spcBef>
                  <a:spcPts val="0"/>
                </a:spcBef>
                <a:spcAft>
                  <a:spcPts val="0"/>
                </a:spcAft>
                <a:buClr>
                  <a:srgbClr val="000000"/>
                </a:buClr>
                <a:buFont typeface="Arial"/>
                <a:buNone/>
              </a:pPr>
              <a:endParaRPr sz="700" b="0" i="0" u="none" strike="noStrike" cap="none">
                <a:solidFill>
                  <a:schemeClr val="dk1"/>
                </a:solidFill>
                <a:latin typeface="Roboto"/>
                <a:ea typeface="Roboto"/>
                <a:cs typeface="Roboto"/>
                <a:sym typeface="Roboto"/>
              </a:endParaRPr>
            </a:p>
          </p:txBody>
        </p:sp>
        <p:sp>
          <p:nvSpPr>
            <p:cNvPr id="17" name="Shape 464">
              <a:extLst>
                <a:ext uri="{FF2B5EF4-FFF2-40B4-BE49-F238E27FC236}">
                  <a16:creationId xmlns:a16="http://schemas.microsoft.com/office/drawing/2014/main" id="{27F10D72-8252-D393-4628-1F6383B3B978}"/>
                </a:ext>
              </a:extLst>
            </p:cNvPr>
            <p:cNvSpPr/>
            <p:nvPr/>
          </p:nvSpPr>
          <p:spPr>
            <a:xfrm>
              <a:off x="5855872" y="2206655"/>
              <a:ext cx="1234499" cy="568800"/>
            </a:xfrm>
            <a:prstGeom prst="roundRect">
              <a:avLst>
                <a:gd name="adj" fmla="val 1674"/>
              </a:avLst>
            </a:prstGeom>
            <a:solidFill>
              <a:schemeClr val="lt1"/>
            </a:solidFill>
            <a:ln>
              <a:noFill/>
            </a:ln>
            <a:effectLst>
              <a:outerShdw blurRad="38100" dist="12700" dir="5400000" algn="ctr" rotWithShape="0">
                <a:schemeClr val="dk1">
                  <a:alpha val="44710"/>
                </a:schemeClr>
              </a:outerShdw>
            </a:effectLst>
          </p:spPr>
          <p:txBody>
            <a:bodyPr lIns="429750" tIns="73150" rIns="45700" bIns="256025" anchor="t" anchorCtr="0">
              <a:noAutofit/>
            </a:bodyPr>
            <a:lstStyle/>
            <a:p>
              <a:pPr marL="0" marR="0" lvl="0" indent="0" algn="l" rtl="0">
                <a:lnSpc>
                  <a:spcPct val="113333"/>
                </a:lnSpc>
                <a:spcBef>
                  <a:spcPts val="0"/>
                </a:spcBef>
                <a:spcAft>
                  <a:spcPts val="0"/>
                </a:spcAft>
                <a:buClr>
                  <a:srgbClr val="212121"/>
                </a:buClr>
                <a:buSzPct val="25000"/>
                <a:buFont typeface="Roboto"/>
                <a:buNone/>
              </a:pPr>
              <a:r>
                <a:rPr lang="en-US" sz="750" b="0" i="0" u="none" strike="noStrike" cap="none">
                  <a:solidFill>
                    <a:srgbClr val="212121"/>
                  </a:solidFill>
                  <a:latin typeface="Roboto"/>
                  <a:ea typeface="Roboto"/>
                  <a:cs typeface="Roboto"/>
                  <a:sym typeface="Roboto"/>
                </a:rPr>
                <a:t>Serving Instance</a:t>
              </a:r>
              <a:br>
                <a:rPr lang="en-US" sz="700" b="0" i="0" u="none" strike="noStrike" cap="none">
                  <a:solidFill>
                    <a:srgbClr val="212121"/>
                  </a:solidFill>
                  <a:latin typeface="Roboto"/>
                  <a:ea typeface="Roboto"/>
                  <a:cs typeface="Roboto"/>
                  <a:sym typeface="Roboto"/>
                </a:rPr>
              </a:br>
              <a:r>
                <a:rPr lang="en-US" sz="700" b="0" i="0" u="none" strike="noStrike" cap="none">
                  <a:solidFill>
                    <a:srgbClr val="757575"/>
                  </a:solidFill>
                  <a:latin typeface="Roboto"/>
                  <a:ea typeface="Roboto"/>
                  <a:cs typeface="Roboto"/>
                  <a:sym typeface="Roboto"/>
                </a:rPr>
                <a:t>Compute Engine</a:t>
              </a:r>
            </a:p>
          </p:txBody>
        </p:sp>
        <p:pic>
          <p:nvPicPr>
            <p:cNvPr id="19" name="Shape 465" descr="Compute-Engine_256px.png">
              <a:extLst>
                <a:ext uri="{FF2B5EF4-FFF2-40B4-BE49-F238E27FC236}">
                  <a16:creationId xmlns:a16="http://schemas.microsoft.com/office/drawing/2014/main" id="{C2244A4E-8E76-0443-0425-27FD82E7A8BC}"/>
                </a:ext>
              </a:extLst>
            </p:cNvPr>
            <p:cNvPicPr preferRelativeResize="0"/>
            <p:nvPr/>
          </p:nvPicPr>
          <p:blipFill rotWithShape="1">
            <a:blip r:embed="rId6">
              <a:alphaModFix/>
            </a:blip>
            <a:srcRect t="5036" b="5027"/>
            <a:stretch/>
          </p:blipFill>
          <p:spPr>
            <a:xfrm>
              <a:off x="5900578" y="2274539"/>
              <a:ext cx="274200" cy="246600"/>
            </a:xfrm>
            <a:prstGeom prst="rect">
              <a:avLst/>
            </a:prstGeom>
            <a:noFill/>
            <a:ln>
              <a:noFill/>
            </a:ln>
          </p:spPr>
        </p:pic>
        <p:sp>
          <p:nvSpPr>
            <p:cNvPr id="20" name="Shape 466">
              <a:extLst>
                <a:ext uri="{FF2B5EF4-FFF2-40B4-BE49-F238E27FC236}">
                  <a16:creationId xmlns:a16="http://schemas.microsoft.com/office/drawing/2014/main" id="{E921AE2D-7E7E-9D25-1D89-4FFED1FC596C}"/>
                </a:ext>
              </a:extLst>
            </p:cNvPr>
            <p:cNvSpPr txBox="1"/>
            <p:nvPr/>
          </p:nvSpPr>
          <p:spPr>
            <a:xfrm>
              <a:off x="6281464" y="2603745"/>
              <a:ext cx="688500" cy="99900"/>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9E9E9E"/>
                </a:buClr>
                <a:buSzPct val="25000"/>
                <a:buFont typeface="Roboto"/>
                <a:buNone/>
              </a:pPr>
              <a:r>
                <a:rPr lang="en-US" sz="650" b="0" i="0" u="none" strike="noStrike" cap="none">
                  <a:solidFill>
                    <a:srgbClr val="9E9E9E"/>
                  </a:solidFill>
                  <a:latin typeface="Roboto"/>
                  <a:ea typeface="Roboto"/>
                  <a:cs typeface="Roboto"/>
                  <a:sym typeface="Roboto"/>
                </a:rPr>
                <a:t>Multiple Instances</a:t>
              </a:r>
            </a:p>
          </p:txBody>
        </p:sp>
        <p:cxnSp>
          <p:nvCxnSpPr>
            <p:cNvPr id="28" name="Shape 467">
              <a:extLst>
                <a:ext uri="{FF2B5EF4-FFF2-40B4-BE49-F238E27FC236}">
                  <a16:creationId xmlns:a16="http://schemas.microsoft.com/office/drawing/2014/main" id="{089F63EC-C5AC-57FC-9061-E0FCB8455DF3}"/>
                </a:ext>
              </a:extLst>
            </p:cNvPr>
            <p:cNvCxnSpPr/>
            <p:nvPr/>
          </p:nvCxnSpPr>
          <p:spPr>
            <a:xfrm>
              <a:off x="6276244" y="2565933"/>
              <a:ext cx="813900" cy="0"/>
            </a:xfrm>
            <a:prstGeom prst="straightConnector1">
              <a:avLst/>
            </a:prstGeom>
            <a:noFill/>
            <a:ln w="9525" cap="flat" cmpd="sng">
              <a:solidFill>
                <a:srgbClr val="E0E0E0"/>
              </a:solidFill>
              <a:prstDash val="solid"/>
              <a:round/>
              <a:headEnd type="none" w="med" len="med"/>
              <a:tailEnd type="none" w="med" len="med"/>
            </a:ln>
          </p:spPr>
        </p:cxnSp>
      </p:grpSp>
      <p:cxnSp>
        <p:nvCxnSpPr>
          <p:cNvPr id="30" name="Shape 480">
            <a:extLst>
              <a:ext uri="{FF2B5EF4-FFF2-40B4-BE49-F238E27FC236}">
                <a16:creationId xmlns:a16="http://schemas.microsoft.com/office/drawing/2014/main" id="{2CA91764-F2F4-67B8-8D9D-AD897A9C7114}"/>
              </a:ext>
            </a:extLst>
          </p:cNvPr>
          <p:cNvCxnSpPr>
            <a:cxnSpLocks/>
            <a:stCxn id="2058" idx="3"/>
            <a:endCxn id="6" idx="1"/>
          </p:cNvCxnSpPr>
          <p:nvPr/>
        </p:nvCxnSpPr>
        <p:spPr>
          <a:xfrm flipV="1">
            <a:off x="6083867" y="3131333"/>
            <a:ext cx="454141" cy="6489"/>
          </a:xfrm>
          <a:prstGeom prst="straightConnector1">
            <a:avLst/>
          </a:prstGeom>
          <a:noFill/>
          <a:ln w="9525" cap="flat" cmpd="sng">
            <a:solidFill>
              <a:srgbClr val="3A7DF0"/>
            </a:solidFill>
            <a:prstDash val="solid"/>
            <a:round/>
            <a:headEnd type="none" w="med" len="med"/>
            <a:tailEnd type="triangle" w="med" len="med"/>
          </a:ln>
        </p:spPr>
      </p:cxnSp>
    </p:spTree>
    <p:extLst>
      <p:ext uri="{BB962C8B-B14F-4D97-AF65-F5344CB8AC3E}">
        <p14:creationId xmlns:p14="http://schemas.microsoft.com/office/powerpoint/2010/main" val="2796038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76"/>
        <p:cNvGrpSpPr/>
        <p:nvPr/>
      </p:nvGrpSpPr>
      <p:grpSpPr>
        <a:xfrm>
          <a:off x="0" y="0"/>
          <a:ext cx="0" cy="0"/>
          <a:chOff x="0" y="0"/>
          <a:chExt cx="0" cy="0"/>
        </a:xfrm>
      </p:grpSpPr>
      <p:sp>
        <p:nvSpPr>
          <p:cNvPr id="2078" name="Shape 2078"/>
          <p:cNvSpPr txBox="1">
            <a:spLocks noGrp="1"/>
          </p:cNvSpPr>
          <p:nvPr>
            <p:ph type="subTitle" idx="4294967295"/>
          </p:nvPr>
        </p:nvSpPr>
        <p:spPr>
          <a:xfrm>
            <a:off x="178501" y="0"/>
            <a:ext cx="11759599" cy="708400"/>
          </a:xfrm>
          <a:prstGeom prst="rect">
            <a:avLst/>
          </a:prstGeom>
          <a:noFill/>
          <a:ln>
            <a:noFill/>
          </a:ln>
        </p:spPr>
        <p:txBody>
          <a:bodyPr vert="horz" lIns="121900" tIns="121900" rIns="121900" bIns="121900" rtlCol="0" anchor="b" anchorCtr="0">
            <a:noAutofit/>
          </a:bodyPr>
          <a:lstStyle/>
          <a:p>
            <a:pPr marL="0" indent="0">
              <a:lnSpc>
                <a:spcPct val="115000"/>
              </a:lnSpc>
              <a:spcBef>
                <a:spcPts val="0"/>
              </a:spcBef>
              <a:buClr>
                <a:srgbClr val="75787A"/>
              </a:buClr>
              <a:buSzPct val="25000"/>
              <a:buNone/>
            </a:pPr>
            <a:r>
              <a:rPr lang="en-US" sz="1733" dirty="0"/>
              <a:t>Apigee X: Platform Architecture with PSC (Northbound internal load balancer)</a:t>
            </a:r>
          </a:p>
        </p:txBody>
      </p:sp>
      <p:sp>
        <p:nvSpPr>
          <p:cNvPr id="2" name="AutoShape 2" descr="Regional internal Application Load Balancer components.">
            <a:extLst>
              <a:ext uri="{FF2B5EF4-FFF2-40B4-BE49-F238E27FC236}">
                <a16:creationId xmlns:a16="http://schemas.microsoft.com/office/drawing/2014/main" id="{F5F78C29-41C9-7937-CAEE-7A274C75860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F19A0F44-9B00-F491-E7BD-5FC63DE0E1AA}"/>
              </a:ext>
            </a:extLst>
          </p:cNvPr>
          <p:cNvPicPr>
            <a:picLocks noChangeAspect="1"/>
          </p:cNvPicPr>
          <p:nvPr/>
        </p:nvPicPr>
        <p:blipFill>
          <a:blip r:embed="rId3"/>
          <a:stretch>
            <a:fillRect/>
          </a:stretch>
        </p:blipFill>
        <p:spPr>
          <a:xfrm>
            <a:off x="430427" y="1765300"/>
            <a:ext cx="10466173" cy="3073400"/>
          </a:xfrm>
          <a:prstGeom prst="rect">
            <a:avLst/>
          </a:prstGeom>
        </p:spPr>
      </p:pic>
    </p:spTree>
    <p:extLst>
      <p:ext uri="{BB962C8B-B14F-4D97-AF65-F5344CB8AC3E}">
        <p14:creationId xmlns:p14="http://schemas.microsoft.com/office/powerpoint/2010/main" val="1764988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48125-8F24-4910-99B6-3C600DD6AF20}"/>
              </a:ext>
            </a:extLst>
          </p:cNvPr>
          <p:cNvSpPr>
            <a:spLocks noGrp="1"/>
          </p:cNvSpPr>
          <p:nvPr>
            <p:ph type="title"/>
          </p:nvPr>
        </p:nvSpPr>
        <p:spPr/>
        <p:txBody>
          <a:bodyPr/>
          <a:lstStyle/>
          <a:p>
            <a:r>
              <a:rPr lang="en-US" sz="2800" b="1" dirty="0">
                <a:solidFill>
                  <a:schemeClr val="bg2"/>
                </a:solidFill>
                <a:latin typeface="Graphik" panose="020B0503030202060203" pitchFamily="34" charset="77"/>
                <a:cs typeface="Times New Roman" panose="02020603050405020304" pitchFamily="18" charset="0"/>
              </a:rPr>
              <a:t>Private Service Connect (PSC)</a:t>
            </a:r>
          </a:p>
        </p:txBody>
      </p:sp>
      <p:sp>
        <p:nvSpPr>
          <p:cNvPr id="3" name="Text Placeholder 2">
            <a:extLst>
              <a:ext uri="{FF2B5EF4-FFF2-40B4-BE49-F238E27FC236}">
                <a16:creationId xmlns:a16="http://schemas.microsoft.com/office/drawing/2014/main" id="{68DC1F24-E4B8-441F-874C-C974987E5548}"/>
              </a:ext>
            </a:extLst>
          </p:cNvPr>
          <p:cNvSpPr>
            <a:spLocks noGrp="1"/>
          </p:cNvSpPr>
          <p:nvPr>
            <p:ph type="body" idx="1"/>
          </p:nvPr>
        </p:nvSpPr>
        <p:spPr>
          <a:xfrm>
            <a:off x="609600" y="1170818"/>
            <a:ext cx="10972800" cy="4541688"/>
          </a:xfrm>
        </p:spPr>
        <p:txBody>
          <a:bodyPr/>
          <a:lstStyle/>
          <a:p>
            <a:r>
              <a:rPr lang="en-US" sz="2400" dirty="0">
                <a:solidFill>
                  <a:schemeClr val="bg2"/>
                </a:solidFill>
              </a:rPr>
              <a:t>Fully managed simplified solutions which empowers to publish services within dedicated VPC networks.</a:t>
            </a:r>
          </a:p>
          <a:p>
            <a:r>
              <a:rPr lang="en-US" sz="2400" dirty="0">
                <a:solidFill>
                  <a:schemeClr val="bg2"/>
                </a:solidFill>
              </a:rPr>
              <a:t>Published services are then accessed privately and securely from the consumer’s VPC network.</a:t>
            </a:r>
          </a:p>
          <a:p>
            <a:r>
              <a:rPr lang="en-US" sz="2400" dirty="0">
                <a:solidFill>
                  <a:schemeClr val="bg2"/>
                </a:solidFill>
              </a:rPr>
              <a:t>Eliminates the need for tasks like VPC peering, routing table modifications, IP address configurations, and NAT rule implementations.</a:t>
            </a:r>
          </a:p>
          <a:p>
            <a:r>
              <a:rPr lang="en-US" sz="2400" dirty="0">
                <a:solidFill>
                  <a:schemeClr val="bg2"/>
                </a:solidFill>
              </a:rPr>
              <a:t>Service-oriented connectivity (Vs network-oriented connectivity).</a:t>
            </a:r>
          </a:p>
          <a:p>
            <a:r>
              <a:rPr lang="en-US" sz="2400" dirty="0">
                <a:solidFill>
                  <a:schemeClr val="bg2"/>
                </a:solidFill>
              </a:rPr>
              <a:t>keeps all traffic confined within Google’s backbone.</a:t>
            </a:r>
          </a:p>
          <a:p>
            <a:endParaRPr lang="en-US" dirty="0">
              <a:solidFill>
                <a:schemeClr val="bg2"/>
              </a:solidFill>
            </a:endParaRPr>
          </a:p>
          <a:p>
            <a:endParaRPr lang="en-US" dirty="0">
              <a:solidFill>
                <a:schemeClr val="bg2"/>
              </a:solidFill>
            </a:endParaRPr>
          </a:p>
          <a:p>
            <a:endParaRPr lang="en-US" dirty="0">
              <a:solidFill>
                <a:schemeClr val="bg2"/>
              </a:solidFill>
            </a:endParaRPr>
          </a:p>
          <a:p>
            <a:endParaRPr lang="en-US" dirty="0">
              <a:solidFill>
                <a:schemeClr val="bg2"/>
              </a:solidFill>
            </a:endParaRPr>
          </a:p>
          <a:p>
            <a:endParaRPr lang="en-US" dirty="0">
              <a:solidFill>
                <a:schemeClr val="bg2"/>
              </a:solidFill>
            </a:endParaRPr>
          </a:p>
          <a:p>
            <a:endParaRPr lang="en-US" dirty="0">
              <a:solidFill>
                <a:schemeClr val="bg2"/>
              </a:solidFill>
            </a:endParaRPr>
          </a:p>
        </p:txBody>
      </p:sp>
      <p:sp>
        <p:nvSpPr>
          <p:cNvPr id="4" name="Footer Placeholder 1">
            <a:extLst>
              <a:ext uri="{FF2B5EF4-FFF2-40B4-BE49-F238E27FC236}">
                <a16:creationId xmlns:a16="http://schemas.microsoft.com/office/drawing/2014/main" id="{E4FA4519-8EE3-7118-2488-2F10E7FDADB0}"/>
              </a:ext>
            </a:extLst>
          </p:cNvPr>
          <p:cNvSpPr txBox="1">
            <a:spLocks/>
          </p:cNvSpPr>
          <p:nvPr/>
        </p:nvSpPr>
        <p:spPr>
          <a:xfrm>
            <a:off x="381001" y="6373813"/>
            <a:ext cx="5714999" cy="20637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lumMod val="65000"/>
                  </a:prstClr>
                </a:solidFill>
                <a:effectLst/>
                <a:uLnTx/>
                <a:uFillTx/>
                <a:latin typeface="Graphik"/>
                <a:ea typeface="+mn-ea"/>
                <a:cs typeface="+mn-cs"/>
              </a:rPr>
              <a:t>.</a:t>
            </a:r>
          </a:p>
        </p:txBody>
      </p:sp>
    </p:spTree>
    <p:extLst>
      <p:ext uri="{BB962C8B-B14F-4D97-AF65-F5344CB8AC3E}">
        <p14:creationId xmlns:p14="http://schemas.microsoft.com/office/powerpoint/2010/main" val="6139945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49</TotalTime>
  <Words>1247</Words>
  <Application>Microsoft Office PowerPoint</Application>
  <PresentationFormat>Widescreen</PresentationFormat>
  <Paragraphs>212</Paragraphs>
  <Slides>9</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vt:i4>
      </vt:variant>
    </vt:vector>
  </HeadingPairs>
  <TitlesOfParts>
    <vt:vector size="20" baseType="lpstr">
      <vt:lpstr>Arial</vt:lpstr>
      <vt:lpstr>Calibri</vt:lpstr>
      <vt:lpstr>Century Gothic</vt:lpstr>
      <vt:lpstr>Graphik</vt:lpstr>
      <vt:lpstr>Helvetica</vt:lpstr>
      <vt:lpstr>Open Sans</vt:lpstr>
      <vt:lpstr>OpenSans</vt:lpstr>
      <vt:lpstr>Roboto</vt:lpstr>
      <vt:lpstr>Wingdings</vt:lpstr>
      <vt:lpstr>Wingdings 3</vt:lpstr>
      <vt:lpstr>Ion</vt:lpstr>
      <vt:lpstr>Apigee Platform setup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Private Service Connect (PSC)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Apigee Platform setup</dc:title>
  <dc:creator>Bhuyan, Biren Kumar</dc:creator>
  <cp:lastModifiedBy>Bhuyan, Biren Kumar</cp:lastModifiedBy>
  <cp:revision>3</cp:revision>
  <dcterms:created xsi:type="dcterms:W3CDTF">2024-02-06T13:36:43Z</dcterms:created>
  <dcterms:modified xsi:type="dcterms:W3CDTF">2024-02-06T14:26:04Z</dcterms:modified>
</cp:coreProperties>
</file>